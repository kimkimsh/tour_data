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5d9136e2cd64e51" /><Relationship Type="http://schemas.openxmlformats.org/officeDocument/2006/relationships/extended-properties" Target="/docProps/app.xml" Id="Rc6163bf893654237" /><Relationship Type="http://schemas.openxmlformats.org/officeDocument/2006/relationships/officeDocument" Target="/ppt/presentation.xml" Id="R1727334c755b499e" /></Relationships>
</file>

<file path=ppt/presentation.xml><?xml version="1.0" encoding="utf-8"?>
<p:presentation xmlns:p="http://schemas.openxmlformats.org/presentationml/2006/main">
  <p:sldMasterIdLst>
    <p:sldMasterId xmlns:r="http://schemas.openxmlformats.org/officeDocument/2006/relationships" id="2147483648" r:id="Rbb391054035e4777"/>
  </p:sldMasterIdLst>
  <p:notesMasterIdLst>
    <p:notesMasterId xmlns:r="http://schemas.openxmlformats.org/officeDocument/2006/relationships" r:id="Rdaf27cbd08e64737"/>
  </p:notesMasterIdLst>
  <p:sldIdLst>
    <p:sldId xmlns:r="http://schemas.openxmlformats.org/officeDocument/2006/relationships" id="256" r:id="R89d986b5080b4540"/>
    <p:sldId xmlns:r="http://schemas.openxmlformats.org/officeDocument/2006/relationships" id="257" r:id="R7f1dde3fb406458b"/>
    <p:sldId xmlns:r="http://schemas.openxmlformats.org/officeDocument/2006/relationships" id="258" r:id="R398d6eb1bf814996"/>
    <p:sldId xmlns:r="http://schemas.openxmlformats.org/officeDocument/2006/relationships" id="259" r:id="R81a95958760d4557"/>
    <p:sldId xmlns:r="http://schemas.openxmlformats.org/officeDocument/2006/relationships" id="260" r:id="R27a278e315794795"/>
    <p:sldId xmlns:r="http://schemas.openxmlformats.org/officeDocument/2006/relationships" id="261" r:id="R620c950f1a8d4e84"/>
    <p:sldId xmlns:r="http://schemas.openxmlformats.org/officeDocument/2006/relationships" id="262" r:id="Rfa2668b6da394fa0"/>
    <p:sldId xmlns:r="http://schemas.openxmlformats.org/officeDocument/2006/relationships" id="263" r:id="R12cff111f4ce4082"/>
    <p:sldId xmlns:r="http://schemas.openxmlformats.org/officeDocument/2006/relationships" id="264" r:id="R5505c52529b54789"/>
    <p:sldId xmlns:r="http://schemas.openxmlformats.org/officeDocument/2006/relationships" id="265" r:id="R3d958748586e4aef"/>
    <p:sldId xmlns:r="http://schemas.openxmlformats.org/officeDocument/2006/relationships" id="266" r:id="R08b3361eb2624b58"/>
    <p:sldId xmlns:r="http://schemas.openxmlformats.org/officeDocument/2006/relationships" id="267" r:id="Rc377ea45b67143d9"/>
    <p:sldId xmlns:r="http://schemas.openxmlformats.org/officeDocument/2006/relationships" id="268" r:id="Re929c062b75c40a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6bb0c28493b24887" /><Relationship Type="http://schemas.openxmlformats.org/officeDocument/2006/relationships/slideMaster" Target="/ppt/slideMasters/slideMaster1.xml" Id="Rbb391054035e4777" /><Relationship Type="http://schemas.openxmlformats.org/officeDocument/2006/relationships/notesMaster" Target="/ppt/notesMasters/notesMaster1.xml" Id="Rdaf27cbd08e64737" /><Relationship Type="http://schemas.openxmlformats.org/officeDocument/2006/relationships/presProps" Target="/ppt/presProps.xml" Id="R0b1ed0fe235d45cb" /><Relationship Type="http://schemas.openxmlformats.org/officeDocument/2006/relationships/viewProps" Target="/ppt/viewProps.xml" Id="R3ddd404549a84d38" /><Relationship Type="http://schemas.openxmlformats.org/officeDocument/2006/relationships/tableStyles" Target="/ppt/tableStyles.xml" Id="R4ddc1c793be1499d" /><Relationship Type="http://schemas.openxmlformats.org/officeDocument/2006/relationships/slide" Target="/ppt/slides/slide1.xml" Id="R89d986b5080b4540" /><Relationship Type="http://schemas.openxmlformats.org/officeDocument/2006/relationships/slide" Target="/ppt/slides/slide2.xml" Id="R7f1dde3fb406458b" /><Relationship Type="http://schemas.openxmlformats.org/officeDocument/2006/relationships/slide" Target="/ppt/slides/slide3.xml" Id="R398d6eb1bf814996" /><Relationship Type="http://schemas.openxmlformats.org/officeDocument/2006/relationships/slide" Target="/ppt/slides/slide4.xml" Id="R81a95958760d4557" /><Relationship Type="http://schemas.openxmlformats.org/officeDocument/2006/relationships/slide" Target="/ppt/slides/slide5.xml" Id="R27a278e315794795" /><Relationship Type="http://schemas.openxmlformats.org/officeDocument/2006/relationships/slide" Target="/ppt/slides/slide6.xml" Id="R620c950f1a8d4e84" /><Relationship Type="http://schemas.openxmlformats.org/officeDocument/2006/relationships/slide" Target="/ppt/slides/slide7.xml" Id="Rfa2668b6da394fa0" /><Relationship Type="http://schemas.openxmlformats.org/officeDocument/2006/relationships/slide" Target="/ppt/slides/slide8.xml" Id="R12cff111f4ce4082" /><Relationship Type="http://schemas.openxmlformats.org/officeDocument/2006/relationships/slide" Target="/ppt/slides/slide9.xml" Id="R5505c52529b54789" /><Relationship Type="http://schemas.openxmlformats.org/officeDocument/2006/relationships/slide" Target="/ppt/slides/slide10.xml" Id="R3d958748586e4aef" /><Relationship Type="http://schemas.openxmlformats.org/officeDocument/2006/relationships/slide" Target="/ppt/slides/slide11.xml" Id="R08b3361eb2624b58" /><Relationship Type="http://schemas.openxmlformats.org/officeDocument/2006/relationships/slide" Target="/ppt/slides/slide12.xml" Id="Rc377ea45b67143d9" /><Relationship Type="http://schemas.openxmlformats.org/officeDocument/2006/relationships/slide" Target="/ppt/slides/slide13.xml" Id="Re929c062b75c40a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225554fb99c44e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446d1384f7e4c77" /><Relationship Type="http://schemas.openxmlformats.org/officeDocument/2006/relationships/notesMaster" Target="/ppt/notesMasters/notesMaster1.xml" Id="Rd800e4951ccf4083" /></Relationships>
</file>

<file path=ppt/notesSlides/_rels/notesSlide2.xml.rels>&#65279;<?xml version="1.0" encoding="utf-8"?><Relationships xmlns="http://schemas.openxmlformats.org/package/2006/relationships"><Relationship Type="http://schemas.openxmlformats.org/officeDocument/2006/relationships/slide" Target="/ppt/slides/slide2.xml" Id="Ra07b3bd48815409f" /><Relationship Type="http://schemas.openxmlformats.org/officeDocument/2006/relationships/notesMaster" Target="/ppt/notesMasters/notesMaster1.xml" Id="R292b65b89f984ff0" /></Relationships>
</file>

<file path=ppt/notesSlides/_rels/notesSlide3.xml.rels>&#65279;<?xml version="1.0" encoding="utf-8"?><Relationships xmlns="http://schemas.openxmlformats.org/package/2006/relationships"><Relationship Type="http://schemas.openxmlformats.org/officeDocument/2006/relationships/slide" Target="/ppt/slides/slide3.xml" Id="R30c8774629da4915" /><Relationship Type="http://schemas.openxmlformats.org/officeDocument/2006/relationships/notesMaster" Target="/ppt/notesMasters/notesMaster1.xml" Id="R0942125cb60842f1" /></Relationships>
</file>

<file path=ppt/notesSlides/_rels/notesSlide4.xml.rels>&#65279;<?xml version="1.0" encoding="utf-8"?><Relationships xmlns="http://schemas.openxmlformats.org/package/2006/relationships"><Relationship Type="http://schemas.openxmlformats.org/officeDocument/2006/relationships/slide" Target="/ppt/slides/slide4.xml" Id="R4a9d06f881904844" /><Relationship Type="http://schemas.openxmlformats.org/officeDocument/2006/relationships/notesMaster" Target="/ppt/notesMasters/notesMaster1.xml" Id="R75ff099c7bff4bb0" /></Relationships>
</file>

<file path=ppt/notesSlides/_rels/notesSlide5.xml.rels>&#65279;<?xml version="1.0" encoding="utf-8"?><Relationships xmlns="http://schemas.openxmlformats.org/package/2006/relationships"><Relationship Type="http://schemas.openxmlformats.org/officeDocument/2006/relationships/slide" Target="/ppt/slides/slide5.xml" Id="R50f8c65349f84776" /><Relationship Type="http://schemas.openxmlformats.org/officeDocument/2006/relationships/notesMaster" Target="/ppt/notesMasters/notesMaster1.xml" Id="Rde15a7b72427490b" /></Relationships>
</file>

<file path=ppt/notesSlides/_rels/notesSlide6.xml.rels>&#65279;<?xml version="1.0" encoding="utf-8"?><Relationships xmlns="http://schemas.openxmlformats.org/package/2006/relationships"><Relationship Type="http://schemas.openxmlformats.org/officeDocument/2006/relationships/slide" Target="/ppt/slides/slide6.xml" Id="Rfdb8b968aa104770" /><Relationship Type="http://schemas.openxmlformats.org/officeDocument/2006/relationships/notesMaster" Target="/ppt/notesMasters/notesMaster1.xml" Id="R7f251b893e7d4895" /></Relationships>
</file>

<file path=ppt/notesSlides/_rels/notesSlide7.xml.rels>&#65279;<?xml version="1.0" encoding="utf-8"?><Relationships xmlns="http://schemas.openxmlformats.org/package/2006/relationships"><Relationship Type="http://schemas.openxmlformats.org/officeDocument/2006/relationships/slide" Target="/ppt/slides/slide7.xml" Id="R061ce1e912914a47" /><Relationship Type="http://schemas.openxmlformats.org/officeDocument/2006/relationships/notesMaster" Target="/ppt/notesMasters/notesMaster1.xml" Id="R0bc68b18cfe74f2f" /></Relationships>
</file>

<file path=ppt/notesSlides/_rels/notesSlide8.xml.rels>&#65279;<?xml version="1.0" encoding="utf-8"?><Relationships xmlns="http://schemas.openxmlformats.org/package/2006/relationships"><Relationship Type="http://schemas.openxmlformats.org/officeDocument/2006/relationships/slide" Target="/ppt/slides/slide8.xml" Id="R8cb2be388177445d" /><Relationship Type="http://schemas.openxmlformats.org/officeDocument/2006/relationships/notesMaster" Target="/ppt/notesMasters/notesMaster1.xml" Id="Rbda3fb6e0ddd4934" /></Relationships>
</file>

<file path=ppt/notesSlides/_rels/notesSlide9.xml.rels>&#65279;<?xml version="1.0" encoding="utf-8"?><Relationships xmlns="http://schemas.openxmlformats.org/package/2006/relationships"><Relationship Type="http://schemas.openxmlformats.org/officeDocument/2006/relationships/slide" Target="/ppt/slides/slide9.xml" Id="R1596b192f2f84669" /><Relationship Type="http://schemas.openxmlformats.org/officeDocument/2006/relationships/notesMaster" Target="/ppt/notesMasters/notesMaster1.xml" Id="Rb279344618644d2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ee6e6b061cc4e78" /><Relationship Type="http://schemas.openxmlformats.org/officeDocument/2006/relationships/notesMaster" Target="/ppt/notesMasters/notesMaster1.xml" Id="R2d640f9fd7544ee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4f0ea90f2d64a51" /><Relationship Type="http://schemas.openxmlformats.org/officeDocument/2006/relationships/notesMaster" Target="/ppt/notesMasters/notesMaster1.xml" Id="R27b6b39f4dae4db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983b4169f384237" /><Relationship Type="http://schemas.openxmlformats.org/officeDocument/2006/relationships/notesMaster" Target="/ppt/notesMasters/notesMaster1.xml" Id="Rdc51998bf2534c1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11ce4330b5948e8" /><Relationship Type="http://schemas.openxmlformats.org/officeDocument/2006/relationships/notesMaster" Target="/ppt/notesMasters/notesMaster1.xml" Id="R13af0baf0f74484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서비스: https://www.modubaekje.com</a:t>
            </a:r>
          </a:p>
          <a:p xmlns:a="http://schemas.openxmlformats.org/drawingml/2006/main">
            <a:r>
              <a:t>원본 공모전 기능설명서의 표지와 서식을 유지했습니다.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공산성 출입통로 원문과 관람 동선 자료를 검토해 정리한 문제의식입니다. 특정 개인의 실제 이용 후기나 관광약자 인터뷰를 인용한 문장이 아닙니다.</a:t>
            </a:r>
          </a:p>
          <a:p xmlns:a="http://schemas.openxmlformats.org/drawingml/2006/main">
            <a:r>
              <a:t>사례는 휠체어 이용 단독 선택 기준입니다. 공산성은 출입통로와 관람 동선에 조건이 있고, 같은 조건의 국립공주박물관은 방문 가능으로 표시됩니다. 귀가 잘 안 들림을 함께 선택하면 공산성의 전체 결과는 정보 없음이지만 휠체어의 주의 필요와 청각 조건의 미확인 항목을 각각 확인할 수 있습니다. 구드래조각공원은 휠체어 기준 4개 중 3개가 미확인입니다. 판정은 수집 자료와 자체 규칙에 따른 안내이며 무장애 인증이나 안전 보장은 아닙니다.</a:t>
            </a:r>
          </a:p>
          <a:p xmlns:a="http://schemas.openxmlformats.org/drawingml/2006/main">
            <a:r>
              <a:t>화면: https://www.modubaekje.com/ko/places/gongsanseong</a:t>
            </a:r>
          </a:p>
          <a:p xmlns:a="http://schemas.openxmlformats.org/drawingml/2006/main">
            <a:r>
              <a:t>원문: https://access.visitkorea.or.kr/ms/detail.do?cotId=e9a2d704-24ee-429d-bf0f-4964f9f372de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한국어·영어 인터페이스를 제공하며, 주요 기능에 키보드 조작과 스크린리더 안내를 적용했습니다.</a:t>
            </a:r>
          </a:p>
          <a:p xmlns:a="http://schemas.openxmlformats.org/drawingml/2006/main">
            <a:r>
              <a:t>한국어·영어는 인터페이스의 제공 범위입니다. 오디 원문 전체의 영어 번역, 수어, 점자 지원을 뜻하지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2026-09-20 실제 운영 서비스의 밝은 화면을 캡처했습니다. 조건 선택과 판정은 휠체어 이용 단독 기준입니다. 이미지는 내용 합성 없이 화면의 관련 영역을 자른 것입니다.</a:t>
            </a:r>
          </a:p>
          <a:p xmlns:a="http://schemas.openxmlformats.org/drawingml/2006/main">
            <a:r>
              <a:t>https://www.modubaekje.com/ko</a:t>
            </a:r>
          </a:p>
          <a:p xmlns:a="http://schemas.openxmlformats.org/drawingml/2006/main">
            <a:r>
              <a:t>https://www.modubaekje.com/ko/places/gongsanseong</a:t>
            </a:r>
          </a:p>
          <a:p xmlns:a="http://schemas.openxmlformats.org/drawingml/2006/main">
            <a:r>
              <a:t>https://www.modubaekje.com/ko/gap-report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13곳은 공주 4곳·부여 9곳이며 13곳 모두가 세계유산 구성유산은 아닙니다. 박물관·주변 관광지를 포함합니다. 세계유산 해당 표시는 관광지별 메타데이터에 따릅니다.</a:t>
            </a:r>
          </a:p>
          <a:p xmlns:a="http://schemas.openxmlformats.org/drawingml/2006/main">
            <a:r>
              <a:t>사례는 휠체어 이용 단독 선택 기준입니다. 공산성은 출입통로와 관람 동선에 조건이 있고, 같은 조건의 국립공주박물관은 방문 가능으로 표시됩니다. 귀가 잘 안 들림을 함께 선택하면 공산성의 전체 결과는 정보 없음이지만 휠체어의 주의 필요와 청각 조건의 미확인 항목을 각각 확인할 수 있습니다. 구드래조각공원은 휠체어 기준 4개 중 3개가 미확인입니다. 판정은 수집 자료와 자체 규칙에 따른 안내이며 무장애 인증이나 안전 보장은 아닙니다.</a:t>
            </a:r>
          </a:p>
          <a:p xmlns:a="http://schemas.openxmlformats.org/drawingml/2006/main">
            <a:r>
              <a:t>화면: https://www.modubaekje.com/ko/places/gongsanseong</a:t>
            </a:r>
          </a:p>
          <a:p xmlns:a="http://schemas.openxmlformats.org/drawingml/2006/main">
            <a:r>
              <a:t>원문: https://access.visitkorea.or.kr/ms/detail.do?cotId=e9a2d704-24ee-429d-bf0f-4964f9f372de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사례는 휠체어 이용 단독 선택 기준입니다. 공산성은 출입통로와 관람 동선에 조건이 있고, 같은 조건의 국립공주박물관은 방문 가능으로 표시됩니다. 귀가 잘 안 들림을 함께 선택하면 공산성의 전체 결과는 정보 없음이지만 휠체어의 주의 필요와 청각 조건의 미확인 항목을 각각 확인할 수 있습니다. 구드래조각공원은 휠체어 기준 4개 중 3개가 미확인입니다. 판정은 수집 자료와 자체 규칙에 따른 안내이며 무장애 인증이나 안전 보장은 아닙니다.</a:t>
            </a:r>
          </a:p>
          <a:p xmlns:a="http://schemas.openxmlformats.org/drawingml/2006/main">
            <a:r>
              <a:t>화면: https://www.modubaekje.com/ko/places/gongsanseong</a:t>
            </a:r>
          </a:p>
          <a:p xmlns:a="http://schemas.openxmlformats.org/drawingml/2006/main">
            <a:r>
              <a:t>원문: https://access.visitkorea.or.kr/ms/detail.do?cotId=e9a2d704-24ee-429d-bf0f-4964f9f372de</a:t>
            </a:r>
          </a:p>
          <a:p xmlns:a="http://schemas.openxmlformats.org/drawingml/2006/main">
            <a:r>
              <a:t>캡처: 2026-09-20, 밝은 화면.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코스는 사전 작성한 3개 템플릿입니다. 선택한 조건에 맞춰 체류 시간을 보정하고 이동 부담을 안내합니다. 표시 시간은 체류·이동 예상치로, 추가 휴식 시간은 포함하지 않습니다. 공산성·부소산성 각 5단계 안내는 공개 자료 기반이며 현장 실측 경로나 실시간 길찾기가 아닙니다.</a:t>
            </a:r>
          </a:p>
          <a:p xmlns:a="http://schemas.openxmlformats.org/drawingml/2006/main">
            <a:r>
              <a:t>화면: https://www.modubaekje.com/ko/courses</a:t>
            </a:r>
          </a:p>
          <a:p xmlns:a="http://schemas.openxmlformats.org/drawingml/2006/main">
            <a:r>
              <a:t>화면: https://www.modubaekje.com/ko/places/gongsanseong/route-guide</a:t>
            </a:r>
          </a:p>
          <a:p xmlns:a="http://schemas.openxmlformats.org/drawingml/2006/main">
            <a:r>
              <a:t>캡처: 2026-09-20, 밝은 화면.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오디 원음이 없거나 재생에 실패하면 기기 음성 합성을 사용할 수 있습니다. 대본은 재생 없이도 읽을 수 있습니다. PDF는 브라우저 인쇄의 저장 기능을 사용합니다. GPX는 저장된 장소 좌표를 내보내며 방문자의 GPS 이동 궤적을 기록하지 않습니다. 화면의 메모는 시연용이며 방문 완료 체크는 해제했습니다. 텍스트·GPX 변환 요청은 서버로 전송되지만 저장하지 않습니다.</a:t>
            </a:r>
          </a:p>
          <a:p xmlns:a="http://schemas.openxmlformats.org/drawingml/2006/main">
            <a:r>
              <a:t>화면: https://www.modubaekje.com/ko/places/gongsanseong/docent</a:t>
            </a:r>
          </a:p>
          <a:p xmlns:a="http://schemas.openxmlformats.org/drawingml/2006/main">
            <a:r>
              <a:t>화면: https://www.modubaekje.com/ko/diary</a:t>
            </a:r>
          </a:p>
          <a:p xmlns:a="http://schemas.openxmlformats.org/drawingml/2006/main">
            <a:r>
              <a:t>화면: https://www.modubaekje.com/ko/diary/print</a:t>
            </a:r>
          </a:p>
          <a:p xmlns:a="http://schemas.openxmlformats.org/drawingml/2006/main">
            <a:r>
              <a:t>해설·사진 출처: 한국관광공사 TourAPI, Odii</a:t>
            </a:r>
          </a:p>
          <a:p xmlns:a="http://schemas.openxmlformats.org/drawingml/2006/main">
            <a:r>
              <a:t>캡처: 2026-09-20, 밝은 화면.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제보는 사전 검수 없이 공개되며 확인된 무장애 정보와 별도 영역에서 보여줍니다. 운영자는 신고 내용을 숨기거나 복원할 수 있고, 정식 안내 반영에는 별도 출처 확인이 필요합니다. 캡처는 입력 양식과 공개 방식 안내입니다. 허구의 상황을 운영 서비스에 등록하지 않았습니다.</a:t>
            </a:r>
          </a:p>
          <a:p xmlns:a="http://schemas.openxmlformats.org/drawingml/2006/main">
            <a:r>
              <a:t>화면: https://www.modubaekje.com/ko/report?poi=gongsanseong</a:t>
            </a:r>
          </a:p>
          <a:p xmlns:a="http://schemas.openxmlformats.org/drawingml/2006/main">
            <a:r>
              <a:t>화면: https://www.modubaekje.com/ko/places/gongsanseong#visitor-reports</a:t>
            </a:r>
          </a:p>
          <a:p xmlns:a="http://schemas.openxmlformats.org/drawingml/2006/main">
            <a:r>
              <a:t>캡처: 2026-09-20, 밝은 화면.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리포트의 대상은 수록한 13곳입니다. 한국관광공사 항목 중 해당 없음인 객실 2개를 제외해 관광지당 21개, 전체 273칸을 집계합니다. 현재 저장본은 한국관광공사 확인 46, 별도 공개자료 확인 67, 미확인 160입니다. 별도 자료 확인 수는 지자체의 정보 개선 실적이 아닙니다. CSV 168행은 미확인 160행과 이용 불가 8행을 함께 담아 상태로 구분합니다. 자막 영상 안내 13/13곳 미확인은 시설이 없다는 의미가 아닙니다. 기관과의 정기 전달·정보 수정 협의는 향후 계획입니다.</a:t>
            </a:r>
          </a:p>
          <a:p xmlns:a="http://schemas.openxmlformats.org/drawingml/2006/main">
            <a:r>
              <a:t>화면: https://www.modubaekje.com/ko/gap-report</a:t>
            </a:r>
          </a:p>
          <a:p xmlns:a="http://schemas.openxmlformats.org/drawingml/2006/main">
            <a:r>
              <a:t>CSV: https://www.modubaekje.com/api/gap-report/csv?locale=ko</a:t>
            </a:r>
          </a:p>
          <a:p xmlns:a="http://schemas.openxmlformats.org/drawingml/2006/main">
            <a:r>
              <a:t>캡처: 2026-09-20, 밝은 화면.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관광정보는 정기 수집한 스냅샷을 읽습니다. API별 연결 근거는 src/lib/kto/services.ts와 scripts/ingest.ts입니다.</a:t>
            </a:r>
          </a:p>
          <a:p xmlns:a="http://schemas.openxmlformats.org/drawingml/2006/main">
            <a:r>
              <a:t>KorWithService2 → 접근성 원문·판정·갭 리포트</a:t>
            </a:r>
          </a:p>
          <a:p xmlns:a="http://schemas.openxmlformats.org/drawingml/2006/main">
            <a:r>
              <a:t>KorService2 / PhotoGalleryService1 → 관광지 기본정보·사진</a:t>
            </a:r>
          </a:p>
          <a:p xmlns:a="http://schemas.openxmlformats.org/drawingml/2006/main">
            <a:r>
              <a:t>Odii → 오디오·대본</a:t>
            </a:r>
          </a:p>
          <a:p xmlns:a="http://schemas.openxmlformats.org/drawingml/2006/main">
            <a:r>
              <a:t>TatsCnctrRateService / DataLabService → 예측 혼잡·방문자 일평균</a:t>
            </a:r>
          </a:p>
          <a:p xmlns:a="http://schemas.openxmlformats.org/drawingml/2006/main">
            <a:r>
              <a:t>TarRlteTarService1 → 연관관광지 이름 목록</a:t>
            </a:r>
          </a:p>
          <a:p xmlns:a="http://schemas.openxmlformats.org/drawingml/2006/main">
            <a:r>
              <a:t>출처: https://api.visitkorea.or.kr/</a:t>
            </a:r>
          </a:p>
          <a:p xmlns:a="http://schemas.openxmlformats.org/drawingml/2006/main">
            <a:r>
              <a:t>영문 조회는 현재 소개 데이터가 비어 있어 활용 실적에서 제외했습니다.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기상청 단기예보·특보 API: https://www.data.go.kr/</a:t>
            </a:r>
          </a:p>
          <a:p xmlns:a="http://schemas.openxmlformats.org/drawingml/2006/main">
            <a:r>
              <a:t>네이버 지도 JavaScript API: https://www.ncloud.com/product/applicationService/maps</a:t>
            </a:r>
          </a:p>
          <a:p xmlns:a="http://schemas.openxmlformats.org/drawingml/2006/main">
            <a:r>
              <a:t>지역 공식 자료의 개별 URL과 확인일은 서비스 상세의 원문 출처와 content/curated-facts.json에 보존했습니다. 공식 문서 큐레이션은 별도 API로 표시하지 않았습니다.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차별성은 현재 제공하는 기능 구조를 설명하며 최초·유일성을 주장하지 않습니다. 발전계획의 관광약자·전문가 현장 검토, 기관 담당자·갱신 방식 협의, 충남 확대는 향후 과제입니다. 현재 협약이나 실사용 효과를 이미 달성했다고 주장하지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7b48621571e43e2" /><Relationship Type="http://schemas.openxmlformats.org/officeDocument/2006/relationships/image" Target="/ppt/media/image.png" Id="R5d26e144c2274da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bfcb559c63a44f2" /><Relationship Type="http://schemas.openxmlformats.org/officeDocument/2006/relationships/image" Target="/ppt/media/image2.png" Id="R43c5cab95c31457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a31506336214f74" /><Relationship Type="http://schemas.openxmlformats.org/officeDocument/2006/relationships/image" Target="/ppt/media/image3.png" Id="R865b29ea01454b2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1379278f62349df" /><Relationship Type="http://schemas.openxmlformats.org/officeDocument/2006/relationships/image" Target="/ppt/media/image4.png" Id="R2d9df3999be64c8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1e0dd7c53e5420f" /><Relationship Type="http://schemas.openxmlformats.org/officeDocument/2006/relationships/image" Target="/ppt/media/image5.png" Id="R36f4a56a6a4c46a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2267492e3d549a5" /><Relationship Type="http://schemas.openxmlformats.org/officeDocument/2006/relationships/image" Target="/ppt/media/image6.png" Id="R628b544147f24baf"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7c34c25cda9b4ed7" /><Relationship Type="http://schemas.openxmlformats.org/officeDocument/2006/relationships/image" Target="/ppt/media/image7.png" Id="R2ae13add000e4a00"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da37a5cf9982495f" /></Relationships>
</file>

<file path=ppt/slideLayouts/slideLayout1.xml><?xml version="1.0" encoding="utf-8"?>
<p:sldLayout xmlns:p="http://schemas.openxmlformats.org/presentationml/2006/main" preserve="1" userDrawn="1">
  <p:cSld name="표지">
    <p:spTree>
      <p:nvGrpSpPr>
        <p:cNvPr id="1" name=""/>
        <p:cNvGrpSpPr/>
        <p:nvPr/>
      </p:nvGrpSpPr>
      <p:grpSpPr>
        <a:xfrm xmlns:a="http://schemas.openxmlformats.org/drawingml/2006/main"/>
      </p:grpSpPr>
      <p:pic>
        <p:nvPicPr>
          <p:cNvPr id="2" name="그림 1"/>
          <p:cNvPicPr>
            <a:picLocks xmlns:a="http://schemas.openxmlformats.org/drawingml/2006/main" noChangeAspect="1"/>
          </p:cNvPicPr>
          <p:nvPr/>
        </p:nvPicPr>
        <p:blipFill>
          <a:blip xmlns:r="http://schemas.openxmlformats.org/officeDocument/2006/relationships" xmlns:a="http://schemas.openxmlformats.org/drawingml/2006/main" r:embed="R5d26e144c2274da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Tree>
  </p:cSld>
</p:sldLayout>
</file>

<file path=ppt/slideLayouts/slideLayout2.xml><?xml version="1.0" encoding="utf-8"?>
<p:sldLayout xmlns:p="http://schemas.openxmlformats.org/presentationml/2006/main" type="blank" preserve="1">
  <p:cSld name="서비스 소개">
    <p:spTree>
      <p:nvGrpSpPr>
        <p:cNvPr id="1" name=""/>
        <p:cNvGrpSpPr/>
        <p:nvPr/>
      </p:nvGrpSpPr>
      <p:grpSpPr>
        <a:xfrm xmlns:a="http://schemas.openxmlformats.org/drawingml/2006/main"/>
      </p:grpSpPr>
      <p:pic>
        <p:nvPicPr>
          <p:cNvPr id="2" name="그림 4"/>
          <p:cNvPicPr>
            <a:picLocks xmlns:a="http://schemas.openxmlformats.org/drawingml/2006/main" noChangeAspect="1"/>
          </p:cNvPicPr>
          <p:nvPr/>
        </p:nvPicPr>
        <p:blipFill>
          <a:blip xmlns:r="http://schemas.openxmlformats.org/officeDocument/2006/relationships" xmlns:a="http://schemas.openxmlformats.org/drawingml/2006/main" r:embed="R43c5cab95c314576"/>
          <a:stretch xmlns:a="http://schemas.openxmlformats.org/drawingml/2006/main">
            <a:fillRect l="0" t="0" r="0" b="0"/>
          </a:stretch>
        </p:blipFill>
        <p:spPr>
          <a:xfrm xmlns:a="http://schemas.openxmlformats.org/drawingml/2006/main">
            <a:off x="0" y="0"/>
            <a:ext cx="12192000" cy="6857999"/>
          </a:xfrm>
          <a:prstGeom xmlns:a="http://schemas.openxmlformats.org/drawingml/2006/main" prst="rect">
            <a:avLst/>
          </a:prstGeom>
        </p:spPr>
      </p:pic>
    </p:spTree>
  </p:cSld>
</p:sldLayout>
</file>

<file path=ppt/slideLayouts/slideLayout3.xml><?xml version="1.0" encoding="utf-8"?>
<p:sldLayout xmlns:p="http://schemas.openxmlformats.org/presentationml/2006/main" type="blank" preserve="1">
  <p:cSld name="지역 특화 서비스 구현 세부내용">
    <p:spTree>
      <p:nvGrpSpPr>
        <p:cNvPr id="1" name=""/>
        <p:cNvGrpSpPr/>
        <p:nvPr/>
      </p:nvGrpSpPr>
      <p:grpSpPr>
        <a:xfrm xmlns:a="http://schemas.openxmlformats.org/drawingml/2006/main"/>
      </p:grpSpPr>
      <p:pic>
        <p:nvPicPr>
          <p:cNvPr id="2" name="그림 4"/>
          <p:cNvPicPr>
            <a:picLocks xmlns:a="http://schemas.openxmlformats.org/drawingml/2006/main" noChangeAspect="1"/>
          </p:cNvPicPr>
          <p:nvPr/>
        </p:nvPicPr>
        <p:blipFill>
          <a:blip xmlns:r="http://schemas.openxmlformats.org/officeDocument/2006/relationships" xmlns:a="http://schemas.openxmlformats.org/drawingml/2006/main" r:embed="R865b29ea01454b29"/>
          <a:stretch xmlns:a="http://schemas.openxmlformats.org/drawingml/2006/main">
            <a:fillRect l="0" t="0" r="0" b="0"/>
          </a:stretch>
        </p:blipFill>
        <p:spPr>
          <a:xfrm xmlns:a="http://schemas.openxmlformats.org/drawingml/2006/main">
            <a:off x="0" y="0"/>
            <a:ext cx="12192000" cy="6840835"/>
          </a:xfrm>
          <a:prstGeom xmlns:a="http://schemas.openxmlformats.org/drawingml/2006/main" prst="rect">
            <a:avLst/>
          </a:prstGeom>
        </p:spPr>
      </p:pic>
    </p:spTree>
  </p:cSld>
</p:sldLayout>
</file>

<file path=ppt/slideLayouts/slideLayout4.xml><?xml version="1.0" encoding="utf-8"?>
<p:sldLayout xmlns:p="http://schemas.openxmlformats.org/presentationml/2006/main" type="blank" preserve="1">
  <p:cSld name="서비스 핵심 기능별 흐름도">
    <p:spTree>
      <p:nvGrpSpPr>
        <p:cNvPr id="1" name=""/>
        <p:cNvGrpSpPr/>
        <p:nvPr/>
      </p:nvGrpSpPr>
      <p:grpSpPr>
        <a:xfrm xmlns:a="http://schemas.openxmlformats.org/drawingml/2006/main"/>
      </p:grpSpPr>
      <p:pic>
        <p:nvPicPr>
          <p:cNvPr id="2" name="그림 4"/>
          <p:cNvPicPr>
            <a:picLocks xmlns:a="http://schemas.openxmlformats.org/drawingml/2006/main" noChangeAspect="1"/>
          </p:cNvPicPr>
          <p:nvPr/>
        </p:nvPicPr>
        <p:blipFill>
          <a:blip xmlns:r="http://schemas.openxmlformats.org/officeDocument/2006/relationships" xmlns:a="http://schemas.openxmlformats.org/drawingml/2006/main" r:embed="R2d9df3999be64c83"/>
          <a:stretch xmlns:a="http://schemas.openxmlformats.org/drawingml/2006/main">
            <a:fillRect l="0" t="0" r="0" b="0"/>
          </a:stretch>
        </p:blipFill>
        <p:spPr>
          <a:xfrm xmlns:a="http://schemas.openxmlformats.org/drawingml/2006/main">
            <a:off x="13438" y="18574"/>
            <a:ext cx="12165123" cy="6839426"/>
          </a:xfrm>
          <a:prstGeom xmlns:a="http://schemas.openxmlformats.org/drawingml/2006/main" prst="rect">
            <a:avLst/>
          </a:prstGeom>
        </p:spPr>
      </p:pic>
    </p:spTree>
  </p:cSld>
</p:sldLayout>
</file>

<file path=ppt/slideLayouts/slideLayout5.xml><?xml version="1.0" encoding="utf-8"?>
<p:sldLayout xmlns:p="http://schemas.openxmlformats.org/presentationml/2006/main" type="blank" preserve="1">
  <p:cSld name="데이터 활용(한국관광공사 OpenAPI)">
    <p:spTree>
      <p:nvGrpSpPr>
        <p:cNvPr id="1" name=""/>
        <p:cNvGrpSpPr/>
        <p:nvPr/>
      </p:nvGrpSpPr>
      <p:grpSpPr>
        <a:xfrm xmlns:a="http://schemas.openxmlformats.org/drawingml/2006/main"/>
      </p:grpSpPr>
      <p:pic>
        <p:nvPicPr>
          <p:cNvPr id="2" name="그림 4"/>
          <p:cNvPicPr>
            <a:picLocks xmlns:a="http://schemas.openxmlformats.org/drawingml/2006/main" noChangeAspect="1"/>
          </p:cNvPicPr>
          <p:nvPr/>
        </p:nvPicPr>
        <p:blipFill>
          <a:blip xmlns:r="http://schemas.openxmlformats.org/officeDocument/2006/relationships" xmlns:a="http://schemas.openxmlformats.org/drawingml/2006/main" r:embed="R36f4a56a6a4c46a6"/>
          <a:stretch xmlns:a="http://schemas.openxmlformats.org/drawingml/2006/main">
            <a:fillRect l="0" t="0" r="0" b="0"/>
          </a:stretch>
        </p:blipFill>
        <p:spPr>
          <a:xfrm xmlns:a="http://schemas.openxmlformats.org/drawingml/2006/main">
            <a:off x="3912" y="13811"/>
            <a:ext cx="12184175" cy="6830378"/>
          </a:xfrm>
          <a:prstGeom xmlns:a="http://schemas.openxmlformats.org/drawingml/2006/main" prst="rect">
            <a:avLst/>
          </a:prstGeom>
        </p:spPr>
      </p:pic>
    </p:spTree>
  </p:cSld>
</p:sldLayout>
</file>

<file path=ppt/slideLayouts/slideLayout6.xml><?xml version="1.0" encoding="utf-8"?>
<p:sldLayout xmlns:p="http://schemas.openxmlformats.org/presentationml/2006/main" type="blank" preserve="1">
  <p:cSld name="데이터 활용(기타)">
    <p:spTree>
      <p:nvGrpSpPr>
        <p:cNvPr id="1" name=""/>
        <p:cNvGrpSpPr/>
        <p:nvPr/>
      </p:nvGrpSpPr>
      <p:grpSpPr>
        <a:xfrm xmlns:a="http://schemas.openxmlformats.org/drawingml/2006/main"/>
      </p:grpSpPr>
      <p:pic>
        <p:nvPicPr>
          <p:cNvPr id="2" name="그림 4"/>
          <p:cNvPicPr>
            <a:picLocks xmlns:a="http://schemas.openxmlformats.org/drawingml/2006/main" noChangeAspect="1"/>
          </p:cNvPicPr>
          <p:nvPr/>
        </p:nvPicPr>
        <p:blipFill>
          <a:blip xmlns:r="http://schemas.openxmlformats.org/officeDocument/2006/relationships" xmlns:a="http://schemas.openxmlformats.org/drawingml/2006/main" r:embed="R628b544147f24baf"/>
          <a:stretch xmlns:a="http://schemas.openxmlformats.org/drawingml/2006/main">
            <a:fillRect l="0" t="0" r="0" b="0"/>
          </a:stretch>
        </p:blipFill>
        <p:spPr>
          <a:xfrm xmlns:a="http://schemas.openxmlformats.org/drawingml/2006/main">
            <a:off x="8675" y="9047"/>
            <a:ext cx="12174649" cy="6839905"/>
          </a:xfrm>
          <a:prstGeom xmlns:a="http://schemas.openxmlformats.org/drawingml/2006/main" prst="rect">
            <a:avLst/>
          </a:prstGeom>
        </p:spPr>
      </p:pic>
    </p:spTree>
  </p:cSld>
</p:sldLayout>
</file>

<file path=ppt/slideLayouts/slideLayout7.xml><?xml version="1.0" encoding="utf-8"?>
<p:sldLayout xmlns:p="http://schemas.openxmlformats.org/presentationml/2006/main" type="blank" preserve="1">
  <p:cSld name="서비스 차별성&amp;발전계획">
    <p:spTree>
      <p:nvGrpSpPr>
        <p:cNvPr id="1" name=""/>
        <p:cNvGrpSpPr/>
        <p:nvPr/>
      </p:nvGrpSpPr>
      <p:grpSpPr>
        <a:xfrm xmlns:a="http://schemas.openxmlformats.org/drawingml/2006/main"/>
      </p:grpSpPr>
      <p:pic>
        <p:nvPicPr>
          <p:cNvPr id="2" name="그림 4"/>
          <p:cNvPicPr>
            <a:picLocks xmlns:a="http://schemas.openxmlformats.org/drawingml/2006/main" noChangeAspect="1"/>
          </p:cNvPicPr>
          <p:nvPr/>
        </p:nvPicPr>
        <p:blipFill>
          <a:blip xmlns:r="http://schemas.openxmlformats.org/officeDocument/2006/relationships" xmlns:a="http://schemas.openxmlformats.org/drawingml/2006/main" r:embed="R2ae13add000e4a00"/>
          <a:stretch xmlns:a="http://schemas.openxmlformats.org/drawingml/2006/main">
            <a:fillRect l="0" t="0" r="0" b="0"/>
          </a:stretch>
        </p:blipFill>
        <p:spPr>
          <a:xfrm xmlns:a="http://schemas.openxmlformats.org/drawingml/2006/main">
            <a:off x="3912" y="4284"/>
            <a:ext cx="12184175" cy="6849431"/>
          </a:xfrm>
          <a:prstGeom xmlns:a="http://schemas.openxmlformats.org/drawingml/2006/main" prst="rect">
            <a:avLst/>
          </a:prstGeom>
        </p:spPr>
      </p:pic>
    </p:spTree>
  </p:cSld>
</p:sldLayout>
</file>

<file path=ppt/slideLayouts/slideLayout8.xml><?xml version="1.0" encoding="utf-8"?>
<p:sldLayout xmlns:p="http://schemas.openxmlformats.org/presentationml/2006/main" type="blank" preserve="1">
  <p:cSld name="빈 화면">
    <p:spTree>
      <p:nvGrpSpPr>
        <p:cNvPr id="1" name=""/>
        <p:cNvGrpSpPr/>
        <p:nvPr/>
      </p:nvGrpSpPr>
      <p:grpSpPr>
        <a:xfrm xmlns:a="http://schemas.openxmlformats.org/drawingml/2006/main"/>
      </p:grpSpPr>
      <p:sp>
        <p:nvSpPr>
          <p:cNvPr id="2" name="날짜 개체 틀 1">
            <a:extLst xmlns:a="http://schemas.openxmlformats.org/drawingml/2006/main">
              <a:ext uri="{FF2B5EF4-FFF2-40B4-BE49-F238E27FC236}">
                <a16:creationId xmlns:a16="http://schemas.microsoft.com/office/drawing/2014/main" id="{7A34BD90-DA93-436D-B53C-C5D44953761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A38FB6A-844E-4645-B6B8-D2945F9927BB}" type="datetimeFigureOut">
              <a:t>2026-07-29</a:t>
            </a:fld>
            <a:endParaRPr/>
          </a:p>
        </p:txBody>
      </p:sp>
      <p:sp>
        <p:nvSpPr>
          <p:cNvPr id="3" name="바닥글 개체 틀 2">
            <a:extLst xmlns:a="http://schemas.openxmlformats.org/drawingml/2006/main">
              <a:ext uri="{FF2B5EF4-FFF2-40B4-BE49-F238E27FC236}">
                <a16:creationId xmlns:a16="http://schemas.microsoft.com/office/drawing/2014/main" id="{C3FFFA1C-D493-4043-A78D-4C130D10C8A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슬라이드 번호 개체 틀 3">
            <a:extLst xmlns:a="http://schemas.openxmlformats.org/drawingml/2006/main">
              <a:ext uri="{FF2B5EF4-FFF2-40B4-BE49-F238E27FC236}">
                <a16:creationId xmlns:a16="http://schemas.microsoft.com/office/drawing/2014/main" id="{FADB7419-BC81-44CB-AD1E-3F6CCFA4B80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38832701-68F9-4777-ABB9-C14E97591467}" type="slidenum">
              <a:t>‹#›</a:t>
            </a:fld>
            <a:endParaRPr/>
          </a:p>
        </p:txBody>
      </p:sp>
      <p:sp>
        <p:nvSpPr>
          <p:cNvPr id="12" name="TextBox 11">
            <a:extLst xmlns:a="http://schemas.openxmlformats.org/drawingml/2006/main">
              <a:ext uri="{FF2B5EF4-FFF2-40B4-BE49-F238E27FC236}">
                <a16:creationId xmlns:a16="http://schemas.microsoft.com/office/drawing/2014/main" id="{7386C9B3-284C-422C-9494-F4E6C93C823D}"/>
              </a:ext>
            </a:extLst>
          </p:cNvPr>
          <p:cNvSpPr>
            <a:spLocks xmlns:a="http://schemas.openxmlformats.org/drawingml/2006/main" noGrp="1"/>
          </p:cNvSpPr>
          <p:nvPr/>
        </p:nvSpPr>
        <p:spPr>
          <a:xfrm xmlns:a="http://schemas.openxmlformats.org/drawingml/2006/main" rot="0" flipH="0" flipV="0">
            <a:off x="8161715" y="256797"/>
            <a:ext cx="2419001" cy="340519"/>
          </a:xfrm>
          <a:prstGeom xmlns:a="http://schemas.openxmlformats.org/drawingml/2006/main" prst="roundRect">
            <a:avLst/>
          </a:prstGeom>
          <a:solidFill xmlns:a="http://schemas.openxmlformats.org/drawingml/2006/main">
            <a:srgbClr val="FF6F00"/>
          </a:solidFill>
        </p:spPr>
        <p:txBody>
          <a:bodyPr xmlns:a="http://schemas.openxmlformats.org/drawingml/2006/main" wrap="square">
            <a:spAutoFit/>
          </a:bodyPr>
          <a:lstStyle xmlns:a="http://schemas.openxmlformats.org/drawingml/2006/main"/>
          <a:p xmlns:a="http://schemas.openxmlformats.org/drawingml/2006/main">
            <a:pPr algn="ctr">
              <a:buNone/>
            </a:pPr>
            <a:r>
              <a:rPr sz="1400">
                <a:solidFill>
                  <a:schemeClr val="bg1"/>
                </a:solidFill>
                <a:latin typeface="Noto Sans KR Medium"/>
                <a:ea typeface="Noto Sans KR Medium"/>
                <a:cs typeface="Noto Sans KR Medium"/>
              </a:rPr>
              <a:t>2026 </a:t>
            </a:r>
            <a:r>
              <a:rPr sz="1400">
                <a:solidFill>
                  <a:schemeClr val="bg1"/>
                </a:solidFill>
                <a:latin typeface="Noto Sans KR Medium"/>
                <a:ea typeface="Noto Sans KR Medium"/>
                <a:cs typeface="Noto Sans KR Medium"/>
              </a:rPr>
              <a:t>관광데이터 활용 공모전</a:t>
            </a:r>
            <a:endParaRPr sz="1400">
              <a:solidFill>
                <a:schemeClr val="bg1"/>
              </a:solidFill>
              <a:latin typeface="Noto Sans KR Medium"/>
              <a:ea typeface="Noto Sans KR Medium"/>
              <a:cs typeface="Noto Sans KR Medium"/>
            </a:endParaRPr>
          </a:p>
        </p:txBody>
      </p:sp>
      <p:sp>
        <p:nvSpPr>
          <p:cNvPr id="13" name="TextBox 12">
            <a:extLst xmlns:a="http://schemas.openxmlformats.org/drawingml/2006/main">
              <a:ext uri="{FF2B5EF4-FFF2-40B4-BE49-F238E27FC236}">
                <a16:creationId xmlns:a16="http://schemas.microsoft.com/office/drawing/2014/main" id="{0469AFE4-72BB-420A-B24A-F1145413D506}"/>
              </a:ext>
            </a:extLst>
          </p:cNvPr>
          <p:cNvSpPr>
            <a:spLocks xmlns:a="http://schemas.openxmlformats.org/drawingml/2006/main" noGrp="1"/>
          </p:cNvSpPr>
          <p:nvPr/>
        </p:nvSpPr>
        <p:spPr>
          <a:xfrm xmlns:a="http://schemas.openxmlformats.org/drawingml/2006/main" rot="0" flipH="0" flipV="0">
            <a:off x="10674929" y="256797"/>
            <a:ext cx="1327264" cy="340519"/>
          </a:xfrm>
          <a:prstGeom xmlns:a="http://schemas.openxmlformats.org/drawingml/2006/main" prst="roundRect">
            <a:avLst/>
          </a:prstGeom>
          <a:solidFill xmlns:a="http://schemas.openxmlformats.org/drawingml/2006/main">
            <a:srgbClr val="FFFDE7"/>
          </a:solidFill>
        </p:spPr>
        <p:txBody>
          <a:bodyPr xmlns:a="http://schemas.openxmlformats.org/drawingml/2006/main" wrap="square">
            <a:spAutoFit/>
          </a:bodyPr>
          <a:lstStyle xmlns:a="http://schemas.openxmlformats.org/drawingml/2006/main"/>
          <a:p xmlns:a="http://schemas.openxmlformats.org/drawingml/2006/main">
            <a:pPr algn="ctr">
              <a:buNone/>
            </a:pPr>
            <a:r>
              <a:rPr sz="1400">
                <a:latin typeface="Noto Sans KR Medium"/>
                <a:ea typeface="Noto Sans KR Medium"/>
                <a:cs typeface="Noto Sans KR Medium"/>
              </a:rPr>
              <a:t>웹〮앱 개발 부문</a:t>
            </a:r>
            <a:endParaRPr sz="1400">
              <a:latin typeface="Noto Sans KR Medium"/>
              <a:ea typeface="Noto Sans KR Medium"/>
              <a:cs typeface="Noto Sans KR Medium"/>
            </a:endParaRPr>
          </a:p>
        </p:txBody>
      </p:sp>
      <p:sp>
        <p:nvSpPr>
          <p:cNvPr id="11" name="직사각형 10">
            <a:extLst xmlns:a="http://schemas.openxmlformats.org/drawingml/2006/main">
              <a:ext uri="{FF2B5EF4-FFF2-40B4-BE49-F238E27FC236}">
                <a16:creationId xmlns:a16="http://schemas.microsoft.com/office/drawing/2014/main" id="{D97CC431-081F-4B89-8614-166B567DAF96}"/>
              </a:ext>
            </a:extLst>
          </p:cNvPr>
          <p:cNvSpPr>
            <a:spLocks xmlns:a="http://schemas.openxmlformats.org/drawingml/2006/main" noGrp="1"/>
          </p:cNvSpPr>
          <p:nvPr/>
        </p:nvSpPr>
        <p:spPr>
          <a:xfrm xmlns:a="http://schemas.openxmlformats.org/drawingml/2006/main" rot="0" flipH="0" flipV="0">
            <a:off x="189807" y="791993"/>
            <a:ext cx="11812386" cy="45719"/>
          </a:xfrm>
          <a:prstGeom xmlns:a="http://schemas.openxmlformats.org/drawingml/2006/main" prst="rect">
            <a:avLst/>
          </a:prstGeom>
          <a:solidFill xmlns:a="http://schemas.openxmlformats.org/drawingml/2006/main">
            <a:srgbClr val="FF6F00"/>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e8e017736934101" /><Relationship Type="http://schemas.openxmlformats.org/officeDocument/2006/relationships/slideLayout" Target="/ppt/slideLayouts/slideLayout1.xml" Id="R0ef2e00fbd584e05" /><Relationship Type="http://schemas.openxmlformats.org/officeDocument/2006/relationships/slideLayout" Target="/ppt/slideLayouts/slideLayout2.xml" Id="R19d21cb74d804d62" /><Relationship Type="http://schemas.openxmlformats.org/officeDocument/2006/relationships/slideLayout" Target="/ppt/slideLayouts/slideLayout3.xml" Id="Rd1e2f651339840b3" /><Relationship Type="http://schemas.openxmlformats.org/officeDocument/2006/relationships/slideLayout" Target="/ppt/slideLayouts/slideLayout4.xml" Id="R98043cf1644043f0" /><Relationship Type="http://schemas.openxmlformats.org/officeDocument/2006/relationships/slideLayout" Target="/ppt/slideLayouts/slideLayout5.xml" Id="Rae44446e56f041a1" /><Relationship Type="http://schemas.openxmlformats.org/officeDocument/2006/relationships/slideLayout" Target="/ppt/slideLayouts/slideLayout6.xml" Id="R6728aad63515439a" /><Relationship Type="http://schemas.openxmlformats.org/officeDocument/2006/relationships/slideLayout" Target="/ppt/slideLayouts/slideLayout7.xml" Id="Rd2addcc4689140a9" /><Relationship Type="http://schemas.openxmlformats.org/officeDocument/2006/relationships/slideLayout" Target="/ppt/slideLayouts/slideLayout8.xml" Id="R0a0f0556a750423f"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제목 개체 틀 1">
            <a:extLst xmlns:a="http://schemas.openxmlformats.org/drawingml/2006/main">
              <a:ext uri="{FF2B5EF4-FFF2-40B4-BE49-F238E27FC236}">
                <a16:creationId xmlns:a16="http://schemas.microsoft.com/office/drawing/2014/main" id="{7C7EEE8F-9D2D-4560-B329-86BA2CEAD893}"/>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마스터 제목 스타일 편집</a:t>
            </a:r>
            <a:endParaRPr/>
          </a:p>
        </p:txBody>
      </p:sp>
      <p:sp>
        <p:nvSpPr>
          <p:cNvPr id="3" name="텍스트 개체 틀 2">
            <a:extLst xmlns:a="http://schemas.openxmlformats.org/drawingml/2006/main">
              <a:ext uri="{FF2B5EF4-FFF2-40B4-BE49-F238E27FC236}">
                <a16:creationId xmlns:a16="http://schemas.microsoft.com/office/drawing/2014/main" id="{69DBCDC4-4A9C-4284-9B15-AE70FCE05474}"/>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마스터 텍스트 스타일 편집</a:t>
            </a:r>
          </a:p>
          <a:p xmlns:a="http://schemas.openxmlformats.org/drawingml/2006/main">
            <a:pPr lvl="1">
              <a:buNone/>
            </a:pPr>
            <a:r>
              <a:t>둘째 수준</a:t>
            </a:r>
          </a:p>
          <a:p xmlns:a="http://schemas.openxmlformats.org/drawingml/2006/main">
            <a:pPr lvl="2">
              <a:buNone/>
            </a:pPr>
            <a:r>
              <a:t>셋째 수준</a:t>
            </a:r>
          </a:p>
          <a:p xmlns:a="http://schemas.openxmlformats.org/drawingml/2006/main">
            <a:pPr lvl="3">
              <a:buNone/>
            </a:pPr>
            <a:r>
              <a:t>넷째 수준</a:t>
            </a:r>
          </a:p>
          <a:p xmlns:a="http://schemas.openxmlformats.org/drawingml/2006/main">
            <a:pPr lvl="4">
              <a:buNone/>
            </a:pPr>
            <a:r>
              <a:t>다섯째 수준</a:t>
            </a:r>
            <a:endParaRPr/>
          </a:p>
        </p:txBody>
      </p:sp>
      <p:sp>
        <p:nvSpPr>
          <p:cNvPr id="4" name="날짜 개체 틀 3">
            <a:extLst xmlns:a="http://schemas.openxmlformats.org/drawingml/2006/main">
              <a:ext uri="{FF2B5EF4-FFF2-40B4-BE49-F238E27FC236}">
                <a16:creationId xmlns:a16="http://schemas.microsoft.com/office/drawing/2014/main" id="{BB122ADD-4089-4300-8D6B-AE8315B42082}"/>
              </a:ext>
            </a:extLst>
          </p:cNvPr>
          <p:cNvSpPr>
            <a:spLocks xmlns:a="http://schemas.openxmlformats.org/drawingml/2006/main" noGrp="1"/>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4A38FB6A-844E-4645-B6B8-D2945F9927BB}" type="datetimeFigureOut">
              <a:t>2026-07-29</a:t>
            </a:fld>
            <a:endParaRPr/>
          </a:p>
        </p:txBody>
      </p:sp>
      <p:sp>
        <p:nvSpPr>
          <p:cNvPr id="5" name="바닥글 개체 틀 4">
            <a:extLst xmlns:a="http://schemas.openxmlformats.org/drawingml/2006/main">
              <a:ext uri="{FF2B5EF4-FFF2-40B4-BE49-F238E27FC236}">
                <a16:creationId xmlns:a16="http://schemas.microsoft.com/office/drawing/2014/main" id="{126B398E-8BBC-4D85-849A-FBD178193E5D}"/>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슬라이드 번호 개체 틀 5">
            <a:extLst xmlns:a="http://schemas.openxmlformats.org/drawingml/2006/main">
              <a:ext uri="{FF2B5EF4-FFF2-40B4-BE49-F238E27FC236}">
                <a16:creationId xmlns:a16="http://schemas.microsoft.com/office/drawing/2014/main" id="{6C11F3C6-DA4F-46F5-BC3F-2E0E00E705B0}"/>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38832701-68F9-4777-ABB9-C14E97591467}"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ef2e00fbd584e05"/>
    <p:sldLayoutId xmlns:r="http://schemas.openxmlformats.org/officeDocument/2006/relationships" id="2147483650" r:id="R19d21cb74d804d62"/>
    <p:sldLayoutId xmlns:r="http://schemas.openxmlformats.org/officeDocument/2006/relationships" id="2147483651" r:id="Rd1e2f651339840b3"/>
    <p:sldLayoutId xmlns:r="http://schemas.openxmlformats.org/officeDocument/2006/relationships" id="2147483652" r:id="R98043cf1644043f0"/>
    <p:sldLayoutId xmlns:r="http://schemas.openxmlformats.org/officeDocument/2006/relationships" id="2147483653" r:id="Rae44446e56f041a1"/>
    <p:sldLayoutId xmlns:r="http://schemas.openxmlformats.org/officeDocument/2006/relationships" id="2147483654" r:id="R6728aad63515439a"/>
    <p:sldLayoutId xmlns:r="http://schemas.openxmlformats.org/officeDocument/2006/relationships" id="2147483655" r:id="Rd2addcc4689140a9"/>
    <p:sldLayoutId xmlns:r="http://schemas.openxmlformats.org/officeDocument/2006/relationships" id="2147483656" r:id="R0a0f0556a750423f"/>
  </p:sldLayoutIdLst>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69bb46b7a9d4ecb" /><Relationship Type="http://schemas.openxmlformats.org/officeDocument/2006/relationships/notesSlide" Target="/ppt/notesSlides/notesSlide1.xml" Id="R7416b51ac69a49bb"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cb878a74602f425b" /><Relationship Type="http://schemas.openxmlformats.org/officeDocument/2006/relationships/notesSlide" Target="/ppt/notesSlides/notesSlide2.xml" Id="R09a2b576d37c4aa7"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104d86388b2f4a36" /><Relationship Type="http://schemas.openxmlformats.org/officeDocument/2006/relationships/notesSlide" Target="/ppt/notesSlides/notesSlide3.xml" Id="R05fb6c02681e4793"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8f925c20eb0d4058" /><Relationship Type="http://schemas.openxmlformats.org/officeDocument/2006/relationships/image" Target="/ppt/media/image.jpeg" Id="Rf83ab6a4445044c8" /><Relationship Type="http://schemas.openxmlformats.org/officeDocument/2006/relationships/image" Target="/ppt/media/image2.jpeg" Id="R94c769d1cf304ba5" /><Relationship Type="http://schemas.openxmlformats.org/officeDocument/2006/relationships/image" Target="/ppt/media/image3.jpeg" Id="Rc253fb6f0753464b" /><Relationship Type="http://schemas.openxmlformats.org/officeDocument/2006/relationships/image" Target="/ppt/media/image4.jpeg" Id="R6bdbaf4b3e1a4201" /><Relationship Type="http://schemas.openxmlformats.org/officeDocument/2006/relationships/notesSlide" Target="/ppt/notesSlides/notesSlide4.xml" Id="R7940964c66d34b48" /></Relationships>
</file>

<file path=ppt/slides/_rels/slide5.xml.rels>&#65279;<?xml version="1.0" encoding="utf-8"?><Relationships xmlns="http://schemas.openxmlformats.org/package/2006/relationships"><Relationship Type="http://schemas.openxmlformats.org/officeDocument/2006/relationships/slideLayout" Target="/ppt/slideLayouts/slideLayout3.xml" Id="R85154a455f55434b" /><Relationship Type="http://schemas.openxmlformats.org/officeDocument/2006/relationships/notesSlide" Target="/ppt/notesSlides/notesSlide5.xml" Id="R51d4a085730545bb" /></Relationships>
</file>

<file path=ppt/slides/_rels/slide6.xml.rels>&#65279;<?xml version="1.0" encoding="utf-8"?><Relationships xmlns="http://schemas.openxmlformats.org/package/2006/relationships"><Relationship Type="http://schemas.openxmlformats.org/officeDocument/2006/relationships/slideLayout" Target="/ppt/slideLayouts/slideLayout4.xml" Id="Rd04be825b7ab437b" /><Relationship Type="http://schemas.openxmlformats.org/officeDocument/2006/relationships/image" Target="/ppt/media/image5.jpeg" Id="R93b8cc87ee384b86" /><Relationship Type="http://schemas.openxmlformats.org/officeDocument/2006/relationships/image" Target="/ppt/media/image6.jpeg" Id="Rc59619e2194a4bc8" /><Relationship Type="http://schemas.openxmlformats.org/officeDocument/2006/relationships/image" Target="/ppt/media/image7.jpeg" Id="Red70156a870b4697" /><Relationship Type="http://schemas.openxmlformats.org/officeDocument/2006/relationships/image" Target="/ppt/media/image8.jpeg" Id="R6d363d42527f4729" /><Relationship Type="http://schemas.openxmlformats.org/officeDocument/2006/relationships/image" Target="/ppt/media/image9.jpeg" Id="Rfcda4c6a6776467a" /><Relationship Type="http://schemas.openxmlformats.org/officeDocument/2006/relationships/image" Target="/ppt/media/image10.jpeg" Id="R50a8d6f427db4208" /><Relationship Type="http://schemas.openxmlformats.org/officeDocument/2006/relationships/notesSlide" Target="/ppt/notesSlides/notesSlide6.xml" Id="Rde062b58ae8c480a" /></Relationships>
</file>

<file path=ppt/slides/_rels/slide7.xml.rels>&#65279;<?xml version="1.0" encoding="utf-8"?><Relationships xmlns="http://schemas.openxmlformats.org/package/2006/relationships"><Relationship Type="http://schemas.openxmlformats.org/officeDocument/2006/relationships/slideLayout" Target="/ppt/slideLayouts/slideLayout4.xml" Id="R12b6a1fd29ac4ded" /><Relationship Type="http://schemas.openxmlformats.org/officeDocument/2006/relationships/image" Target="/ppt/media/image11.jpeg" Id="R17adfac93fed4f73" /><Relationship Type="http://schemas.openxmlformats.org/officeDocument/2006/relationships/image" Target="/ppt/media/image12.jpeg" Id="R8ac5f7687ca64354" /><Relationship Type="http://schemas.openxmlformats.org/officeDocument/2006/relationships/image" Target="/ppt/media/image13.jpeg" Id="R3a1ce681d8564888" /><Relationship Type="http://schemas.openxmlformats.org/officeDocument/2006/relationships/image" Target="/ppt/media/image14.jpeg" Id="R1745536ec70648e9" /><Relationship Type="http://schemas.openxmlformats.org/officeDocument/2006/relationships/notesSlide" Target="/ppt/notesSlides/notesSlide7.xml" Id="R5c5c444cc3b84cb9" /></Relationships>
</file>

<file path=ppt/slides/_rels/slide8.xml.rels>&#65279;<?xml version="1.0" encoding="utf-8"?><Relationships xmlns="http://schemas.openxmlformats.org/package/2006/relationships"><Relationship Type="http://schemas.openxmlformats.org/officeDocument/2006/relationships/slideLayout" Target="/ppt/slideLayouts/slideLayout4.xml" Id="R968ca5a390154fe6" /><Relationship Type="http://schemas.openxmlformats.org/officeDocument/2006/relationships/image" Target="/ppt/media/image15.jpeg" Id="R206899e613b44472" /><Relationship Type="http://schemas.openxmlformats.org/officeDocument/2006/relationships/image" Target="/ppt/media/image16.jpeg" Id="R95d17e2c1cdf4767" /><Relationship Type="http://schemas.openxmlformats.org/officeDocument/2006/relationships/image" Target="/ppt/media/image17.jpeg" Id="R323f2cb1d6d243a5" /><Relationship Type="http://schemas.openxmlformats.org/officeDocument/2006/relationships/image" Target="/ppt/media/image18.jpeg" Id="R3daed8db26674f00" /><Relationship Type="http://schemas.openxmlformats.org/officeDocument/2006/relationships/notesSlide" Target="/ppt/notesSlides/notesSlide8.xml" Id="R840a2baf4b6c43ea" /></Relationships>
</file>

<file path=ppt/slides/_rels/slide9.xml.rels>&#65279;<?xml version="1.0" encoding="utf-8"?><Relationships xmlns="http://schemas.openxmlformats.org/package/2006/relationships"><Relationship Type="http://schemas.openxmlformats.org/officeDocument/2006/relationships/slideLayout" Target="/ppt/slideLayouts/slideLayout4.xml" Id="R1ce441efafef4438" /><Relationship Type="http://schemas.openxmlformats.org/officeDocument/2006/relationships/image" Target="/ppt/media/image19.jpeg" Id="Rf9796a79ae7b436d" /><Relationship Type="http://schemas.openxmlformats.org/officeDocument/2006/relationships/image" Target="/ppt/media/image20.jpeg" Id="R61b28c9b0832409b" /><Relationship Type="http://schemas.openxmlformats.org/officeDocument/2006/relationships/image" Target="/ppt/media/image21.jpeg" Id="Rc4442208d95c4a77" /><Relationship Type="http://schemas.openxmlformats.org/officeDocument/2006/relationships/image" Target="/ppt/media/image22.jpeg" Id="R04f0edbbc7314661" /><Relationship Type="http://schemas.openxmlformats.org/officeDocument/2006/relationships/notesSlide" Target="/ppt/notesSlides/notesSlide9.xml" Id="R8edc628ab399493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4.xml" Id="R4a53e64684364d61" /><Relationship Type="http://schemas.openxmlformats.org/officeDocument/2006/relationships/image" Target="/ppt/media/image23.jpeg" Id="Rcf9be1118b834ef1" /><Relationship Type="http://schemas.openxmlformats.org/officeDocument/2006/relationships/image" Target="/ppt/media/image24.jpeg" Id="Rdee0bd6d4365436b" /><Relationship Type="http://schemas.openxmlformats.org/officeDocument/2006/relationships/image" Target="/ppt/media/image25.jpeg" Id="R06bc37e29d584669" /><Relationship Type="http://schemas.openxmlformats.org/officeDocument/2006/relationships/image" Target="/ppt/media/image26.jpeg" Id="Rea1d3948a2424242" /><Relationship Type="http://schemas.openxmlformats.org/officeDocument/2006/relationships/notesSlide" Target="/ppt/notesSlides/notesSlide10.xml" Id="R323755aab88643c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5.xml" Id="R8c7ee108b4944fc8" /><Relationship Type="http://schemas.openxmlformats.org/officeDocument/2006/relationships/notesSlide" Target="/ppt/notesSlides/notesSlide11.xml" Id="R38abca5f34c6439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4632ef93924e4d8b" /><Relationship Type="http://schemas.openxmlformats.org/officeDocument/2006/relationships/notesSlide" Target="/ppt/notesSlides/notesSlide12.xml" Id="Rcadc8657c020483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7.xml" Id="R12d1d94e5a8e42e4" /><Relationship Type="http://schemas.openxmlformats.org/officeDocument/2006/relationships/notesSlide" Target="/ppt/notesSlides/notesSlide13.xml" Id="R093b5c467f9a4936"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graphicFrame>
        <p:nvGraphicFramePr>
          <p:cNvPr id="2" name="표 5"/>
          <p:cNvGraphicFramePr/>
          <p:nvPr/>
        </p:nvGraphicFramePr>
        <p:xfrm>
          <a:off xmlns:a="http://schemas.openxmlformats.org/drawingml/2006/main" x="527397" y="4563687"/>
          <a:ext xmlns:a="http://schemas.openxmlformats.org/drawingml/2006/main" cx="6712988" cy="1112210"/>
        </p:xfrm>
        <a:graphic xmlns:a="http://schemas.openxmlformats.org/drawingml/2006/main">
          <a:graphicData uri="http://schemas.openxmlformats.org/drawingml/2006/table">
            <a:tbl>
              <a:tblPr firstRow="1" bandRow="1">
                <a:tableStyleId>{5C22544A-7EE6-4342-B048-85BDC9FD1C3A}</a:tableStyleId>
              </a:tblPr>
              <a:tblGrid>
                <a:gridCol w="1891569"/>
                <a:gridCol w="4821419"/>
              </a:tblGrid>
              <a:tr h="547792">
                <a:tc>
                  <a:txBody>
                    <a:bodyPr/>
                    <a:lstStyle/>
                    <a:p>
                      <a:pPr algn="ctr">
                        <a:buNone/>
                      </a:pPr>
                      <a:r>
                        <a:rPr sz="2400" b="1">
                          <a:solidFill>
                            <a:schemeClr val="bg1"/>
                          </a:solidFill>
                        </a:rPr>
                        <a:t>팀 명</a:t>
                      </a:r>
                      <a:endParaRPr sz="2400" b="1">
                        <a:solidFill>
                          <a:schemeClr val="bg1"/>
                        </a:solidFill>
                      </a:endParaRPr>
                    </a:p>
                  </a:txBody>
                  <a:tcPr marL="91440" marR="91440" marT="45720" marB="45720" anchor="ctr">
                    <a:lnR w="12700" cmpd="sng">
                      <a:solidFill>
                        <a:schemeClr val="bg1">
                          <a:lumMod val="85000"/>
                        </a:schemeClr>
                      </a:solidFill>
                      <a:prstDash val="solid"/>
                    </a:lnR>
                    <a:lnB w="12700" cmpd="sng">
                      <a:solidFill>
                        <a:schemeClr val="bg1">
                          <a:lumMod val="85000"/>
                        </a:schemeClr>
                      </a:solidFill>
                      <a:prstDash val="solid"/>
                    </a:lnB>
                    <a:solidFill>
                      <a:srgbClr val="FFA401"/>
                    </a:solidFill>
                  </a:tcPr>
                </a:tc>
                <a:tc>
                  <a:txBody>
                    <a:bodyPr/>
                    <a:lstStyle/>
                    <a:p>
                      <a:pPr algn="l">
                        <a:buNone/>
                      </a:pPr>
                      <a:r>
                        <a:rPr sz="2400" b="1">
                          <a:solidFill>
                            <a:srgbClr val="171717"/>
                          </a:solidFill>
                          <a:latin typeface="맑은 고딕"/>
                          <a:ea typeface="맑은 고딕"/>
                          <a:cs typeface="맑은 고딕"/>
                        </a:rPr>
                        <a:t>김성현</a:t>
                      </a:r>
                      <a:endParaRPr sz="2400" b="0">
                        <a:solidFill>
                          <a:schemeClr val="tx1"/>
                        </a:solidFill>
                      </a:endParaRPr>
                    </a:p>
                  </a:txBody>
                  <a:tcPr marL="152400" marR="152400" marT="66675" marB="66675" anchor="ctr">
                    <a:lnL w="12700" cmpd="sng">
                      <a:solidFill>
                        <a:schemeClr val="bg1">
                          <a:lumMod val="85000"/>
                        </a:schemeClr>
                      </a:solidFill>
                      <a:prstDash val="solid"/>
                    </a:lnL>
                    <a:lnB w="12700" cmpd="sng">
                      <a:solidFill>
                        <a:schemeClr val="bg1">
                          <a:lumMod val="85000"/>
                        </a:schemeClr>
                      </a:solidFill>
                      <a:prstDash val="solid"/>
                    </a:lnB>
                    <a:solidFill>
                      <a:srgbClr val="FFFDE7"/>
                    </a:solidFill>
                  </a:tcPr>
                </a:tc>
              </a:tr>
              <a:tr h="564418">
                <a:tc>
                  <a:txBody>
                    <a:bodyPr/>
                    <a:lstStyle/>
                    <a:p>
                      <a:pPr algn="ctr">
                        <a:buNone/>
                      </a:pPr>
                      <a:r>
                        <a:rPr sz="2400" b="1">
                          <a:solidFill>
                            <a:schemeClr val="bg1"/>
                          </a:solidFill>
                        </a:rPr>
                        <a:t>서비스</a:t>
                      </a:r>
                      <a:r>
                        <a:rPr sz="2400" b="1">
                          <a:solidFill>
                            <a:schemeClr val="bg1"/>
                          </a:solidFill>
                        </a:rPr>
                        <a:t> </a:t>
                      </a:r>
                      <a:r>
                        <a:rPr sz="2400" b="1">
                          <a:solidFill>
                            <a:schemeClr val="bg1"/>
                          </a:solidFill>
                        </a:rPr>
                        <a:t>명</a:t>
                      </a:r>
                      <a:endParaRPr sz="2400" b="1">
                        <a:solidFill>
                          <a:schemeClr val="bg1"/>
                        </a:solidFill>
                      </a:endParaRPr>
                    </a:p>
                  </a:txBody>
                  <a:tcPr marL="91440" marR="91440" marT="45720" marB="45720" anchor="ctr">
                    <a:lnR w="12700" cmpd="sng">
                      <a:solidFill>
                        <a:schemeClr val="bg1">
                          <a:lumMod val="85000"/>
                        </a:schemeClr>
                      </a:solidFill>
                      <a:prstDash val="solid"/>
                    </a:lnR>
                    <a:lnT w="12700" cmpd="sng">
                      <a:solidFill>
                        <a:schemeClr val="bg1">
                          <a:lumMod val="85000"/>
                        </a:schemeClr>
                      </a:solidFill>
                      <a:prstDash val="solid"/>
                    </a:lnT>
                    <a:solidFill>
                      <a:srgbClr val="FFA401"/>
                    </a:solidFill>
                  </a:tcPr>
                </a:tc>
                <a:tc>
                  <a:txBody>
                    <a:bodyPr/>
                    <a:lstStyle/>
                    <a:p>
                      <a:pPr algn="l">
                        <a:buNone/>
                      </a:pPr>
                      <a:r>
                        <a:rPr sz="2400" b="1">
                          <a:solidFill>
                            <a:srgbClr val="171717"/>
                          </a:solidFill>
                          <a:latin typeface="맑은 고딕"/>
                          <a:ea typeface="맑은 고딕"/>
                          <a:cs typeface="맑은 고딕"/>
                        </a:rPr>
                        <a:t>모두의 백제</a:t>
                      </a:r>
                      <a:endParaRPr sz="2400" b="0">
                        <a:solidFill>
                          <a:schemeClr val="tx1"/>
                        </a:solidFill>
                      </a:endParaRPr>
                    </a:p>
                  </a:txBody>
                  <a:tcPr marL="152400" marR="152400" marT="66675" marB="66675" anchor="ctr">
                    <a:lnL w="12700" cmpd="sng">
                      <a:solidFill>
                        <a:schemeClr val="bg1">
                          <a:lumMod val="85000"/>
                        </a:schemeClr>
                      </a:solidFill>
                      <a:prstDash val="solid"/>
                    </a:lnL>
                    <a:lnT w="12700" cmpd="sng">
                      <a:solidFill>
                        <a:schemeClr val="bg1">
                          <a:lumMod val="85000"/>
                        </a:schemeClr>
                      </a:solidFill>
                      <a:prstDash val="solid"/>
                    </a:lnT>
                    <a:solidFill>
                      <a:srgbClr val="FFFDE7"/>
                    </a:solidFill>
                  </a:tcPr>
                </a:tc>
              </a:tr>
            </a:tbl>
          </a:graphicData>
        </a:graphic>
      </p:graphicFrame>
    </p:spTree>
    <p:extLst>
      <p:ext uri="{BB962C8B-B14F-4D97-AF65-F5344CB8AC3E}">
        <p14:creationId xmlns:p14="http://schemas.microsoft.com/office/powerpoint/2010/main" val="135344982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graphicFrame>
        <p:nvGraphicFramePr>
          <p:cNvPr id="2" name="표 16"/>
          <p:cNvGraphicFramePr/>
          <p:nvPr/>
        </p:nvGraphicFramePr>
        <p:xfrm>
          <a:off xmlns:a="http://schemas.openxmlformats.org/drawingml/2006/main" x="287250" y="1218429"/>
          <a:ext xmlns:a="http://schemas.openxmlformats.org/drawingml/2006/main" cx="11649825" cy="4750109"/>
        </p:xfrm>
        <a:graphic xmlns:a="http://schemas.openxmlformats.org/drawingml/2006/main">
          <a:graphicData uri="http://schemas.openxmlformats.org/drawingml/2006/table">
            <a:tbl>
              <a:tblPr firstRow="1" bandRow="1">
                <a:tableStyleId>{5C22544A-7EE6-4342-B048-85BDC9FD1C3A}</a:tableStyleId>
              </a:tblPr>
              <a:tblGrid>
                <a:gridCol w="1955222"/>
                <a:gridCol w="9694603"/>
              </a:tblGrid>
              <a:tr h="547212">
                <a:tc>
                  <a:txBody>
                    <a:bodyPr/>
                    <a:lstStyle/>
                    <a:p>
                      <a:pPr algn="ctr">
                        <a:buNone/>
                      </a:pPr>
                      <a:r>
                        <a:rPr b="1">
                          <a:solidFill>
                            <a:schemeClr val="bg1"/>
                          </a:solidFill>
                        </a:rPr>
                        <a:t>서비스명</a:t>
                      </a:r>
                      <a:endParaRPr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c>
                  <a:txBody>
                    <a:bodyPr/>
                    <a:lstStyle/>
                    <a:p>
                      <a:pPr marL="0" lvl="0" indent="0" algn="l">
                        <a:spcBef>
                          <a:spcPts val="0"/>
                        </a:spcBef>
                        <a:spcAft>
                          <a:spcPts val="0"/>
                        </a:spcAft>
                        <a:buNone/>
                      </a:pPr>
                      <a:r>
                        <a:rPr sz="2100" b="1">
                          <a:solidFill>
                            <a:srgbClr val="171717"/>
                          </a:solidFill>
                          <a:latin typeface="맑은 고딕"/>
                          <a:ea typeface="맑은 고딕"/>
                          <a:cs typeface="맑은 고딕"/>
                        </a:rPr>
                        <a:t>모두의 백제 (Modu Baekje)</a:t>
                      </a:r>
                      <a:endParaRPr sz="1800" b="0" baseline="0">
                        <a:solidFill>
                          <a:schemeClr val="tx1"/>
                        </a:solidFill>
                        <a:latin typeface="+mn-lt"/>
                        <a:ea typeface="+mn-lt"/>
                        <a:cs typeface="+mn-lt"/>
                      </a:endParaRPr>
                    </a:p>
                  </a:txBody>
                  <a:tcPr marL="152400" marR="15240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731060">
                <a:tc>
                  <a:txBody>
                    <a:bodyPr/>
                    <a:lstStyle/>
                    <a:p>
                      <a:pPr algn="ctr">
                        <a:buNone/>
                      </a:pPr>
                      <a:r>
                        <a:rPr b="1">
                          <a:solidFill>
                            <a:schemeClr val="bg1"/>
                          </a:solidFill>
                        </a:rPr>
                        <a:t>서비스 유형</a:t>
                      </a:r>
                      <a:endParaRPr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c>
                  <a:txBody>
                    <a:bodyPr/>
                    <a:lstStyle/>
                    <a:p>
                      <a:pPr marL="0" lvl="0" indent="0" algn="l">
                        <a:spcBef>
                          <a:spcPts val="0"/>
                        </a:spcBef>
                        <a:spcAft>
                          <a:spcPts val="0"/>
                        </a:spcAft>
                        <a:buNone/>
                      </a:pPr>
                      <a:r>
                        <a:rPr sz="1800" b="0">
                          <a:solidFill>
                            <a:srgbClr val="171717"/>
                          </a:solidFill>
                          <a:latin typeface="맑은 고딕"/>
                          <a:ea typeface="맑은 고딕"/>
                          <a:cs typeface="맑은 고딕"/>
                        </a:rPr>
                        <a:t>웹 서비스 / www.modubaekje.com</a:t>
                      </a:r>
                      <a:endParaRPr sz="1800" b="0">
                        <a:solidFill>
                          <a:srgbClr val="FF0000"/>
                        </a:solidFill>
                        <a:latin typeface="+mn-lt"/>
                        <a:ea typeface="+mn-lt"/>
                        <a:cs typeface="+mn-lt"/>
                      </a:endParaRPr>
                    </a:p>
                  </a:txBody>
                  <a:tcPr marL="152400" marR="15240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1030246">
                <a:tc>
                  <a:txBody>
                    <a:bodyPr/>
                    <a:lstStyle/>
                    <a:p>
                      <a:pPr algn="ctr">
                        <a:buNone/>
                      </a:pPr>
                      <a:r>
                        <a:rPr b="1">
                          <a:solidFill>
                            <a:schemeClr val="bg1"/>
                          </a:solidFill>
                        </a:rPr>
                        <a:t>서비스 개요</a:t>
                      </a:r>
                      <a:endParaRPr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c>
                  <a:txBody>
                    <a:bodyPr/>
                    <a:lstStyle/>
                    <a:p>
                      <a:pPr marL="0" marR="0" lvl="0" indent="0" algn="l" defTabSz="914400">
                        <a:lnSpc>
                          <a:spcPct val="100000"/>
                        </a:lnSpc>
                        <a:spcBef>
                          <a:spcPts val="0"/>
                        </a:spcBef>
                        <a:spcAft>
                          <a:spcPts val="0"/>
                        </a:spcAft>
                        <a:buClrTx/>
                        <a:buSzTx/>
                        <a:buFontTx/>
                        <a:buNone/>
                      </a:pPr>
                      <a:r>
                        <a:rPr sz="1950" b="1">
                          <a:solidFill>
                            <a:srgbClr val="171717"/>
                          </a:solidFill>
                          <a:latin typeface="맑은 고딕"/>
                          <a:ea typeface="맑은 고딕"/>
                          <a:cs typeface="맑은 고딕"/>
                        </a:rPr>
                        <a:t>동행 조건에 맞춰 공주·부여 13곳의 방문 전 확인사항과 여행 코스를 안내하는 무장애 관광 서비스</a:t>
                      </a:r>
                    </a:p>
                  </a:txBody>
                  <a:tcPr marL="152400" marR="15240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2441591">
                <a:tc>
                  <a:txBody>
                    <a:bodyPr/>
                    <a:lstStyle/>
                    <a:p>
                      <a:pPr algn="ctr">
                        <a:buNone/>
                      </a:pPr>
                      <a:r>
                        <a:rPr b="1">
                          <a:solidFill>
                            <a:schemeClr val="bg1"/>
                          </a:solidFill>
                        </a:rPr>
                        <a:t>주제 선정 이유</a:t>
                      </a:r>
                      <a:endParaRPr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c>
                  <a:txBody>
                    <a:bodyPr/>
                    <a:lstStyle/>
                    <a:p>
                      <a:pPr algn="l">
                        <a:spcAft>
                          <a:spcPts val="900"/>
                        </a:spcAft>
                      </a:pPr>
                      <a:r>
                        <a:rPr sz="1800" b="1">
                          <a:solidFill>
                            <a:srgbClr val="171717"/>
                          </a:solidFill>
                          <a:latin typeface="맑은 고딕"/>
                          <a:ea typeface="맑은 고딕"/>
                          <a:cs typeface="맑은 고딕"/>
                        </a:rPr>
                        <a:t>입구에 경사로가 있어도, 성 안에서 갈 수 있는 구간은 다릅니다.</a:t>
                      </a:r>
                    </a:p>
                    <a:p>
                      <a:pPr algn="l">
                        <a:spcAft>
                          <a:spcPts val="900"/>
                        </a:spcAft>
                      </a:pPr>
                      <a:r>
                        <a:rPr sz="1800" b="0">
                          <a:solidFill>
                            <a:srgbClr val="171717"/>
                          </a:solidFill>
                          <a:latin typeface="맑은 고딕"/>
                          <a:ea typeface="맑은 고딕"/>
                          <a:cs typeface="맑은 고딕"/>
                        </a:rPr>
                        <a:t>휠체어를 이용하는 사람은 출입통로와 관람 동선을, 소리를 듣기 어려운 동행은 수어·자막 안내를 확인해야 합니다.</a:t>
                      </a:r>
                    </a:p>
                    <a:p>
                      <a:pPr algn="l">
                        <a:spcAft>
                          <a:spcPts val="0"/>
                        </a:spcAft>
                      </a:pPr>
                      <a:r>
                        <a:rPr sz="1800" b="0">
                          <a:solidFill>
                            <a:srgbClr val="171717"/>
                          </a:solidFill>
                          <a:latin typeface="맑은 고딕"/>
                          <a:ea typeface="맑은 고딕"/>
                          <a:cs typeface="맑은 고딕"/>
                        </a:rPr>
                        <a:t>모두의 백제는 동행에게 필요한 항목과 그 근거를 보여줍니다. 아직 확인하지 못한 내용은 방문 전에 물어볼 질문으로 남기고, 운영 담당자가 확인할 목록에도 모읍니다.</a:t>
                      </a:r>
                    </a:p>
                  </a:txBody>
                  <a:tcPr marL="209550" marR="20955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bl>
          </a:graphicData>
        </a:graphic>
      </p:graphicFrame>
    </p:spTree>
    <p:extLst>
      <p:ext uri="{BB962C8B-B14F-4D97-AF65-F5344CB8AC3E}">
        <p14:creationId xmlns:p14="http://schemas.microsoft.com/office/powerpoint/2010/main" val="1526000993"/>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graphicFrame>
        <p:nvGraphicFramePr>
          <p:cNvPr id="3" name="표 16"/>
          <p:cNvGraphicFramePr/>
          <p:nvPr/>
        </p:nvGraphicFramePr>
        <p:xfrm>
          <a:off xmlns:a="http://schemas.openxmlformats.org/drawingml/2006/main" x="287250" y="1218429"/>
          <a:ext xmlns:a="http://schemas.openxmlformats.org/drawingml/2006/main" cx="11649826" cy="4733484"/>
        </p:xfrm>
        <a:graphic xmlns:a="http://schemas.openxmlformats.org/drawingml/2006/main">
          <a:graphicData uri="http://schemas.openxmlformats.org/drawingml/2006/table">
            <a:tbl>
              <a:tblPr firstRow="1" bandRow="1">
                <a:tableStyleId>{5C22544A-7EE6-4342-B048-85BDC9FD1C3A}</a:tableStyleId>
              </a:tblPr>
              <a:tblGrid>
                <a:gridCol w="1955222"/>
                <a:gridCol w="9694604"/>
              </a:tblGrid>
              <a:tr h="4733484">
                <a:tc>
                  <a:txBody>
                    <a:bodyPr/>
                    <a:lstStyle/>
                    <a:p>
                      <a:pPr marL="0" marR="0" lvl="0" indent="0" algn="ctr" defTabSz="914400">
                        <a:lnSpc>
                          <a:spcPct val="100000"/>
                        </a:lnSpc>
                        <a:spcBef>
                          <a:spcPts val="0"/>
                        </a:spcBef>
                        <a:spcAft>
                          <a:spcPts val="0"/>
                        </a:spcAft>
                        <a:buClrTx/>
                        <a:buSzTx/>
                        <a:buFontTx/>
                        <a:buNone/>
                      </a:pPr>
                      <a:r>
                        <a:rPr b="1">
                          <a:solidFill>
                            <a:schemeClr val="bg1"/>
                          </a:solidFill>
                        </a:rPr>
                        <a:t>서비스 핵심기능</a:t>
                      </a:r>
                    </a:p>
                    <a:p>
                      <a:pPr algn="ctr">
                        <a:buNone/>
                      </a:pPr>
                      <a:endParaRPr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c>
                  <a:txBody>
                    <a:bodyPr/>
                    <a:lstStyle/>
                    <a:p>
                      <a:pPr algn="l">
                        <a:spcBef>
                          <a:spcPts val="0"/>
                        </a:spcBef>
                        <a:spcAft>
                          <a:spcPts val="300"/>
                        </a:spcAft>
                      </a:pPr>
                      <a:r>
                        <a:rPr sz="1800" b="1">
                          <a:solidFill>
                            <a:srgbClr val="171717"/>
                          </a:solidFill>
                          <a:latin typeface="맑은 고딕"/>
                          <a:ea typeface="맑은 고딕"/>
                          <a:cs typeface="맑은 고딕"/>
                        </a:rPr>
                        <a:t>1. 동행 조건에 따른 방문 판단</a:t>
                      </a:r>
                    </a:p>
                    <a:p>
                      <a:pPr algn="l">
                        <a:spcAft>
                          <a:spcPts val="0"/>
                        </a:spcAft>
                      </a:pPr>
                      <a:r>
                        <a:rPr sz="1800" b="0">
                          <a:solidFill>
                            <a:srgbClr val="171717"/>
                          </a:solidFill>
                          <a:latin typeface="맑은 고딕"/>
                          <a:ea typeface="맑은 고딕"/>
                          <a:cs typeface="맑은 고딕"/>
                        </a:rPr>
                        <a:t>조건별 판정과 이유를 확인하고, 같은 조건으로 살펴본 다른 관광지를 비교합니다.</a:t>
                      </a:r>
                    </a:p>
                    <a:p>
                      <a:pPr algn="l">
                        <a:spcBef>
                          <a:spcPts val="800"/>
                        </a:spcBef>
                        <a:spcAft>
                          <a:spcPts val="300"/>
                        </a:spcAft>
                      </a:pPr>
                      <a:r>
                        <a:rPr sz="1800" b="1">
                          <a:solidFill>
                            <a:srgbClr val="171717"/>
                          </a:solidFill>
                          <a:latin typeface="맑은 고딕"/>
                          <a:ea typeface="맑은 고딕"/>
                          <a:cs typeface="맑은 고딕"/>
                        </a:rPr>
                        <a:t>2. 시간에 맞춘 코스와 사전 경로 안내</a:t>
                      </a:r>
                    </a:p>
                    <a:p>
                      <a:pPr algn="l">
                        <a:spcAft>
                          <a:spcPts val="0"/>
                        </a:spcAft>
                      </a:pPr>
                      <a:r>
                        <a:rPr sz="1800" b="0">
                          <a:solidFill>
                            <a:srgbClr val="171717"/>
                          </a:solidFill>
                          <a:latin typeface="맑은 고딕"/>
                          <a:ea typeface="맑은 고딕"/>
                          <a:cs typeface="맑은 고딕"/>
                        </a:rPr>
                        <a:t>반나절·당일·1박 2일 코스의 체류·이동 시간을 보고, 산성 진입 과정을 미리 읽습니다.</a:t>
                      </a:r>
                    </a:p>
                    <a:p>
                      <a:pPr algn="l">
                        <a:spcBef>
                          <a:spcPts val="800"/>
                        </a:spcBef>
                        <a:spcAft>
                          <a:spcPts val="300"/>
                        </a:spcAft>
                      </a:pPr>
                      <a:r>
                        <a:rPr sz="1800" b="1">
                          <a:solidFill>
                            <a:srgbClr val="171717"/>
                          </a:solidFill>
                          <a:latin typeface="맑은 고딕"/>
                          <a:ea typeface="맑은 고딕"/>
                          <a:cs typeface="맑은 고딕"/>
                        </a:rPr>
                        <a:t>3. 백제 해설과 여행 기록</a:t>
                      </a:r>
                    </a:p>
                    <a:p>
                      <a:pPr algn="l">
                        <a:spcAft>
                          <a:spcPts val="0"/>
                        </a:spcAft>
                      </a:pPr>
                      <a:r>
                        <a:rPr sz="1800" b="0">
                          <a:solidFill>
                            <a:srgbClr val="171717"/>
                          </a:solidFill>
                          <a:latin typeface="맑은 고딕"/>
                          <a:ea typeface="맑은 고딕"/>
                          <a:cs typeface="맑은 고딕"/>
                        </a:rPr>
                        <a:t>오디 해설을 듣거나 대본으로 읽고, 장소와 메모를 인쇄물·파일로 남깁니다.</a:t>
                      </a:r>
                    </a:p>
                    <a:p>
                      <a:pPr algn="l">
                        <a:spcBef>
                          <a:spcPts val="800"/>
                        </a:spcBef>
                        <a:spcAft>
                          <a:spcPts val="300"/>
                        </a:spcAft>
                      </a:pPr>
                      <a:r>
                        <a:rPr sz="1800" b="1">
                          <a:solidFill>
                            <a:srgbClr val="171717"/>
                          </a:solidFill>
                          <a:latin typeface="맑은 고딕"/>
                          <a:ea typeface="맑은 고딕"/>
                          <a:cs typeface="맑은 고딕"/>
                        </a:rPr>
                        <a:t>4. 현장 상황 제보</a:t>
                      </a:r>
                    </a:p>
                    <a:p>
                      <a:pPr algn="l">
                        <a:spcAft>
                          <a:spcPts val="0"/>
                        </a:spcAft>
                      </a:pPr>
                      <a:r>
                        <a:rPr sz="1800" b="0">
                          <a:solidFill>
                            <a:srgbClr val="171717"/>
                          </a:solidFill>
                          <a:latin typeface="맑은 고딕"/>
                          <a:ea typeface="맑은 고딕"/>
                          <a:cs typeface="맑은 고딕"/>
                        </a:rPr>
                        <a:t>방문자가 본 상황을 공유하되, 제보와 확인된 무장애 정보를 구분합니다.</a:t>
                      </a:r>
                    </a:p>
                    <a:p>
                      <a:pPr algn="l">
                        <a:spcBef>
                          <a:spcPts val="800"/>
                        </a:spcBef>
                        <a:spcAft>
                          <a:spcPts val="300"/>
                        </a:spcAft>
                      </a:pPr>
                      <a:r>
                        <a:rPr sz="1800" b="1">
                          <a:solidFill>
                            <a:srgbClr val="171717"/>
                          </a:solidFill>
                          <a:latin typeface="맑은 고딕"/>
                          <a:ea typeface="맑은 고딕"/>
                          <a:cs typeface="맑은 고딕"/>
                        </a:rPr>
                        <a:t>5. 무장애 정보 갭 리포트</a:t>
                      </a:r>
                    </a:p>
                    <a:p>
                      <a:pPr algn="l">
                        <a:spcAft>
                          <a:spcPts val="0"/>
                        </a:spcAft>
                      </a:pPr>
                      <a:r>
                        <a:rPr sz="1800" b="0">
                          <a:solidFill>
                            <a:srgbClr val="171717"/>
                          </a:solidFill>
                          <a:latin typeface="맑은 고딕"/>
                          <a:ea typeface="맑은 고딕"/>
                          <a:cs typeface="맑은 고딕"/>
                        </a:rPr>
                        <a:t>관광지별 미확인 항목을 모아 우선 확인할 정보와 출처를 CSV로 제공합니다.</a:t>
                      </a:r>
                    </a:p>
                  </a:txBody>
                  <a:tcPr marL="209550" marR="20955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bl>
          </a:graphicData>
        </a:graphic>
      </p:graphicFrame>
      <p:sp>
        <p:nvSpPr>
          <p:cNvPr id="2" name="">
            <a:extLst xmlns:a="http://schemas.openxmlformats.org/drawingml/2006/main">
              <a:ext uri="{FF2B5EF4-FFF2-40B4-BE49-F238E27FC236}">
                <a16:creationId xmlns:a16="http://schemas.microsoft.com/office/drawing/2014/main" id="{3B5767B1-150D-4AE5-9026-0386F811F778}"/>
              </a:ext>
            </a:extLst>
          </p:cNvPr>
          <p:cNvSpPr>
            <a:spLocks xmlns:a="http://schemas.openxmlformats.org/drawingml/2006/main" noGrp="1"/>
          </p:cNvSpPr>
          <p:nvPr/>
        </p:nvSpPr>
        <p:spPr>
          <a:xfrm xmlns:a="http://schemas.openxmlformats.org/drawingml/2006/main">
            <a:off x="2400300" y="6105525"/>
            <a:ext cx="9334500" cy="3238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defRPr sz="1575" b="0">
                <a:solidFill>
                  <a:srgbClr val="171717"/>
                </a:solidFill>
                <a:latin typeface="맑은 고딕"/>
                <a:ea typeface="맑은 고딕"/>
                <a:cs typeface="맑은 고딕"/>
              </a:defRPr>
            </a:pPr>
            <a:r>
              <a:rPr sz="1575" b="0">
                <a:solidFill>
                  <a:srgbClr val="171717"/>
                </a:solidFill>
                <a:latin typeface="맑은 고딕"/>
                <a:ea typeface="맑은 고딕"/>
                <a:cs typeface="맑은 고딕"/>
              </a:rPr>
              <a:t>한국어·영어 인터페이스 · 키보드 조작 · 스크린리더 안내</a:t>
            </a:r>
          </a:p>
        </p:txBody>
      </p:sp>
    </p:spTree>
    <p:extLst>
      <p:ext uri="{BB962C8B-B14F-4D97-AF65-F5344CB8AC3E}">
        <p14:creationId xmlns:p14="http://schemas.microsoft.com/office/powerpoint/2010/main" val="409868818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graphicFrame>
        <p:nvGraphicFramePr>
          <p:cNvPr id="10" name="표 16"/>
          <p:cNvGraphicFramePr/>
          <p:nvPr/>
        </p:nvGraphicFramePr>
        <p:xfrm>
          <a:off xmlns:a="http://schemas.openxmlformats.org/drawingml/2006/main" x="287250" y="1218429"/>
          <a:ext xmlns:a="http://schemas.openxmlformats.org/drawingml/2006/main" cx="11649826" cy="4991178"/>
        </p:xfrm>
        <a:graphic xmlns:a="http://schemas.openxmlformats.org/drawingml/2006/main">
          <a:graphicData uri="http://schemas.openxmlformats.org/drawingml/2006/table">
            <a:tbl>
              <a:tblPr firstRow="1" bandRow="1">
                <a:tableStyleId>{5C22544A-7EE6-4342-B048-85BDC9FD1C3A}</a:tableStyleId>
              </a:tblPr>
              <a:tblGrid>
                <a:gridCol w="1955222"/>
                <a:gridCol w="9694604"/>
              </a:tblGrid>
              <a:tr h="1847697">
                <a:tc>
                  <a:txBody>
                    <a:bodyPr/>
                    <a:lstStyle/>
                    <a:p>
                      <a:pPr algn="ctr">
                        <a:buNone/>
                      </a:pPr>
                      <a:r>
                        <a:rPr b="1">
                          <a:solidFill>
                            <a:schemeClr val="bg1"/>
                          </a:solidFill>
                        </a:rPr>
                        <a:t>서비스</a:t>
                      </a:r>
                      <a:endParaRPr b="1">
                        <a:solidFill>
                          <a:schemeClr val="bg1"/>
                        </a:solidFill>
                      </a:endParaRPr>
                    </a:p>
                    <a:p>
                      <a:pPr algn="ctr">
                        <a:buNone/>
                      </a:pPr>
                      <a:r>
                        <a:rPr b="1">
                          <a:solidFill>
                            <a:schemeClr val="bg1"/>
                          </a:solidFill>
                        </a:rPr>
                        <a:t>대표 이미지</a:t>
                      </a:r>
                      <a:endParaRPr b="1">
                        <a:solidFill>
                          <a:schemeClr val="bg1"/>
                        </a:solidFill>
                      </a:endParaRPr>
                    </a:p>
                    <a:p>
                      <a:pPr algn="ctr">
                        <a:buNone/>
                      </a:pPr>
                      <a:r>
                        <a:rPr b="1">
                          <a:solidFill>
                            <a:schemeClr val="bg1"/>
                          </a:solidFill>
                        </a:rPr>
                        <a:t>(</a:t>
                      </a:r>
                      <a:r>
                        <a:rPr b="1">
                          <a:solidFill>
                            <a:schemeClr val="bg1"/>
                          </a:solidFill>
                        </a:rPr>
                        <a:t>썸네일</a:t>
                      </a:r>
                      <a:r>
                        <a:rPr b="1">
                          <a:solidFill>
                            <a:schemeClr val="bg1"/>
                          </a:solidFill>
                        </a:rPr>
                        <a:t>)</a:t>
                      </a:r>
                      <a:endParaRPr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c>
                  <a:txBody>
                    <a:bodyPr/>
                    <a:lstStyle/>
                    <a:p>
                      <a:pPr marL="0" marR="0" lvl="0" indent="0" algn="just" defTabSz="914400">
                        <a:lnSpc>
                          <a:spcPct val="100000"/>
                        </a:lnSpc>
                        <a:spcBef>
                          <a:spcPts val="0"/>
                        </a:spcBef>
                        <a:spcAft>
                          <a:spcPts val="0"/>
                        </a:spcAft>
                        <a:buClrTx/>
                        <a:buSzTx/>
                        <a:buFontTx/>
                        <a:buNone/>
                      </a:pPr>
                      <a:r>
                        <a:rPr sz="1800" b="0">
                          <a:solidFill>
                            <a:srgbClr val="FF0000"/>
                          </a:solidFill>
                          <a:latin typeface="+mn-lt"/>
                          <a:ea typeface="+mn-lt"/>
                          <a:cs typeface="+mn-lt"/>
                        </a:rPr>
                        <a:t/>
                      </a:r>
                      <a:endParaRPr sz="1800" b="0">
                        <a:solidFill>
                          <a:srgbClr val="FF0000"/>
                        </a:solidFill>
                        <a:latin typeface="+mn-lt"/>
                        <a:ea typeface="+mn-lt"/>
                        <a:cs typeface="+mn-lt"/>
                      </a:endParaRPr>
                    </a:p>
                  </a:txBody>
                  <a:tcPr marL="152400" marR="15240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3143481">
                <a:tc>
                  <a:txBody>
                    <a:bodyPr/>
                    <a:lstStyle/>
                    <a:p>
                      <a:pPr algn="ctr">
                        <a:buNone/>
                      </a:pPr>
                      <a:r>
                        <a:rPr b="1">
                          <a:solidFill>
                            <a:schemeClr val="bg1"/>
                          </a:solidFill>
                        </a:rPr>
                        <a:t>서비스</a:t>
                      </a:r>
                      <a:endParaRPr b="1">
                        <a:solidFill>
                          <a:schemeClr val="bg1"/>
                        </a:solidFill>
                      </a:endParaRPr>
                    </a:p>
                    <a:p>
                      <a:pPr algn="ctr">
                        <a:buNone/>
                      </a:pPr>
                      <a:r>
                        <a:rPr b="1">
                          <a:solidFill>
                            <a:schemeClr val="bg1"/>
                          </a:solidFill>
                        </a:rPr>
                        <a:t>상세 이미지</a:t>
                      </a:r>
                      <a:endParaRPr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c>
                  <a:txBody>
                    <a:bodyPr/>
                    <a:lstStyle/>
                    <a:p>
                      <a:pPr marL="0" marR="0" lvl="0" indent="0" algn="just" defTabSz="914400">
                        <a:lnSpc>
                          <a:spcPct val="100000"/>
                        </a:lnSpc>
                        <a:spcBef>
                          <a:spcPts val="0"/>
                        </a:spcBef>
                        <a:spcAft>
                          <a:spcPts val="0"/>
                        </a:spcAft>
                        <a:buClrTx/>
                        <a:buSzTx/>
                        <a:buFontTx/>
                        <a:buNone/>
                      </a:pPr>
                      <a:r>
                        <a:rPr sz="1800" b="0">
                          <a:solidFill>
                            <a:srgbClr val="FF0000"/>
                          </a:solidFill>
                          <a:latin typeface="+mn-lt"/>
                          <a:ea typeface="+mn-lt"/>
                          <a:cs typeface="+mn-lt"/>
                        </a:rPr>
                        <a:t/>
                      </a:r>
                      <a:endParaRPr sz="1800" b="0">
                        <a:solidFill>
                          <a:srgbClr val="FF0000"/>
                        </a:solidFill>
                        <a:latin typeface="+mn-lt"/>
                        <a:ea typeface="+mn-lt"/>
                        <a:cs typeface="+mn-lt"/>
                      </a:endParaRPr>
                    </a:p>
                  </a:txBody>
                  <a:tcPr marL="152400" marR="15240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bl>
          </a:graphicData>
        </a:graphic>
      </p:graphicFrame>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f83ab6a4445044c8"/>
          <a:srcRect xmlns:a="http://schemas.openxmlformats.org/drawingml/2006/main" l="18826" t="995" r="73311" b="94776"/>
          <a:stretch xmlns:a="http://schemas.openxmlformats.org/drawingml/2006/main"/>
        </p:blipFill>
        <p:spPr>
          <a:xfrm xmlns:a="http://schemas.openxmlformats.org/drawingml/2006/main">
            <a:off x="6000750" y="1525878"/>
            <a:ext cx="2190750" cy="786819"/>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5075EE1-DD80-479E-A703-F6C9901FB87B}"/>
              </a:ext>
            </a:extLst>
          </p:cNvPr>
          <p:cNvSpPr>
            <a:spLocks xmlns:a="http://schemas.openxmlformats.org/drawingml/2006/main" noGrp="1"/>
          </p:cNvSpPr>
          <p:nvPr/>
        </p:nvSpPr>
        <p:spPr>
          <a:xfrm xmlns:a="http://schemas.openxmlformats.org/drawingml/2006/main">
            <a:off x="2619375" y="2486025"/>
            <a:ext cx="8953500" cy="3810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defRPr sz="1875" b="1">
                <a:solidFill>
                  <a:srgbClr val="171717"/>
                </a:solidFill>
                <a:latin typeface="맑은 고딕"/>
                <a:ea typeface="맑은 고딕"/>
                <a:cs typeface="맑은 고딕"/>
              </a:defRPr>
            </a:pPr>
            <a:r>
              <a:rPr sz="1875" b="1">
                <a:solidFill>
                  <a:srgbClr val="171717"/>
                </a:solidFill>
                <a:latin typeface="맑은 고딕"/>
                <a:ea typeface="맑은 고딕"/>
                <a:cs typeface="맑은 고딕"/>
              </a:rPr>
              <a:t>공주·부여 여행 전, 동행 조건부터 확인하세요.</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94c769d1cf304ba5"/>
          <a:srcRect xmlns:a="http://schemas.openxmlformats.org/drawingml/2006/main" l="18826" t="20896" r="56257" b="47595"/>
          <a:stretch xmlns:a="http://schemas.openxmlformats.org/drawingml/2006/main"/>
        </p:blipFill>
        <p:spPr>
          <a:xfrm xmlns:a="http://schemas.openxmlformats.org/drawingml/2006/main">
            <a:off x="2462839" y="3276600"/>
            <a:ext cx="2808622" cy="23717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008C83E3-26D5-4A2A-8371-E2A9A8BBA14F}"/>
              </a:ext>
            </a:extLst>
          </p:cNvPr>
          <p:cNvSpPr>
            <a:spLocks xmlns:a="http://schemas.openxmlformats.org/drawingml/2006/main" noGrp="1"/>
          </p:cNvSpPr>
          <p:nvPr/>
        </p:nvSpPr>
        <p:spPr>
          <a:xfrm xmlns:a="http://schemas.openxmlformats.org/drawingml/2006/main">
            <a:off x="2390775" y="5734050"/>
            <a:ext cx="2952750" cy="3238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defRPr sz="1725" b="1">
                <a:solidFill>
                  <a:srgbClr val="171717"/>
                </a:solidFill>
                <a:latin typeface="맑은 고딕"/>
                <a:ea typeface="맑은 고딕"/>
                <a:cs typeface="맑은 고딕"/>
              </a:defRPr>
            </a:pPr>
            <a:r>
              <a:rPr sz="1725" b="1">
                <a:solidFill>
                  <a:srgbClr val="171717"/>
                </a:solidFill>
                <a:latin typeface="맑은 고딕"/>
                <a:ea typeface="맑은 고딕"/>
                <a:cs typeface="맑은 고딕"/>
              </a:rPr>
              <a:t>동행 조건 선택</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c253fb6f0753464b"/>
          <a:srcRect xmlns:a="http://schemas.openxmlformats.org/drawingml/2006/main" l="18826" t="40962" r="50997" b="44610"/>
          <a:stretch xmlns:a="http://schemas.openxmlformats.org/drawingml/2006/main"/>
        </p:blipFill>
        <p:spPr>
          <a:xfrm xmlns:a="http://schemas.openxmlformats.org/drawingml/2006/main">
            <a:off x="5534025" y="3991106"/>
            <a:ext cx="2952750" cy="942713"/>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998E0840-62BE-4CE2-A9B3-76607946434D}"/>
              </a:ext>
            </a:extLst>
          </p:cNvPr>
          <p:cNvSpPr>
            <a:spLocks xmlns:a="http://schemas.openxmlformats.org/drawingml/2006/main" noGrp="1"/>
          </p:cNvSpPr>
          <p:nvPr/>
        </p:nvSpPr>
        <p:spPr>
          <a:xfrm xmlns:a="http://schemas.openxmlformats.org/drawingml/2006/main">
            <a:off x="5534025" y="5734050"/>
            <a:ext cx="2952750" cy="3238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defRPr sz="1725" b="1">
                <a:solidFill>
                  <a:srgbClr val="171717"/>
                </a:solidFill>
                <a:latin typeface="맑은 고딕"/>
                <a:ea typeface="맑은 고딕"/>
                <a:cs typeface="맑은 고딕"/>
              </a:defRPr>
            </a:pPr>
            <a:r>
              <a:rPr sz="1725" b="1">
                <a:solidFill>
                  <a:srgbClr val="171717"/>
                </a:solidFill>
                <a:latin typeface="맑은 고딕"/>
                <a:ea typeface="맑은 고딕"/>
                <a:cs typeface="맑은 고딕"/>
              </a:rPr>
              <a:t>공산성: 주의 필요</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6bdbaf4b3e1a4201"/>
          <a:srcRect xmlns:a="http://schemas.openxmlformats.org/drawingml/2006/main" l="18882" t="58043" r="54928" b="7297"/>
          <a:stretch xmlns:a="http://schemas.openxmlformats.org/drawingml/2006/main"/>
        </p:blipFill>
        <p:spPr>
          <a:xfrm xmlns:a="http://schemas.openxmlformats.org/drawingml/2006/main">
            <a:off x="8811753" y="3276600"/>
            <a:ext cx="2683794" cy="237172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164F9450-BB0A-481A-98E2-50E68CBCB09F}"/>
              </a:ext>
            </a:extLst>
          </p:cNvPr>
          <p:cNvSpPr>
            <a:spLocks xmlns:a="http://schemas.openxmlformats.org/drawingml/2006/main" noGrp="1"/>
          </p:cNvSpPr>
          <p:nvPr/>
        </p:nvSpPr>
        <p:spPr>
          <a:xfrm xmlns:a="http://schemas.openxmlformats.org/drawingml/2006/main">
            <a:off x="8677275" y="5734050"/>
            <a:ext cx="2952750" cy="3238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defRPr sz="1725" b="1">
                <a:solidFill>
                  <a:srgbClr val="171717"/>
                </a:solidFill>
                <a:latin typeface="맑은 고딕"/>
                <a:ea typeface="맑은 고딕"/>
                <a:cs typeface="맑은 고딕"/>
              </a:defRPr>
            </a:pPr>
            <a:r>
              <a:rPr sz="1725" b="1">
                <a:solidFill>
                  <a:srgbClr val="171717"/>
                </a:solidFill>
                <a:latin typeface="맑은 고딕"/>
                <a:ea typeface="맑은 고딕"/>
                <a:cs typeface="맑은 고딕"/>
              </a:rPr>
              <a:t>우선 확인할 정보</a:t>
            </a:r>
          </a:p>
        </p:txBody>
      </p:sp>
    </p:spTree>
    <p:extLst>
      <p:ext uri="{BB962C8B-B14F-4D97-AF65-F5344CB8AC3E}">
        <p14:creationId xmlns:p14="http://schemas.microsoft.com/office/powerpoint/2010/main" val="282296920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graphicFrame>
        <p:nvGraphicFramePr>
          <p:cNvPr id="7" name="표 2"/>
          <p:cNvGraphicFramePr/>
          <p:nvPr/>
        </p:nvGraphicFramePr>
        <p:xfrm>
          <a:off xmlns:a="http://schemas.openxmlformats.org/drawingml/2006/main" x="287250" y="1218429"/>
          <a:ext xmlns:a="http://schemas.openxmlformats.org/drawingml/2006/main" cx="11649825" cy="5079734"/>
        </p:xfrm>
        <a:graphic xmlns:a="http://schemas.openxmlformats.org/drawingml/2006/main">
          <a:graphicData uri="http://schemas.openxmlformats.org/drawingml/2006/table">
            <a:tbl>
              <a:tblPr firstRow="1" bandRow="1">
                <a:tableStyleId>{5C22544A-7EE6-4342-B048-85BDC9FD1C3A}</a:tableStyleId>
              </a:tblPr>
              <a:tblGrid>
                <a:gridCol w="1955222"/>
                <a:gridCol w="9694603"/>
              </a:tblGrid>
              <a:tr h="1944404">
                <a:tc>
                  <a:txBody>
                    <a:bodyPr/>
                    <a:lstStyle/>
                    <a:p>
                      <a:pPr algn="ctr">
                        <a:buNone/>
                      </a:pPr>
                      <a:r>
                        <a:rPr b="1">
                          <a:solidFill>
                            <a:schemeClr val="bg1"/>
                          </a:solidFill>
                        </a:rPr>
                        <a:t>특화 </a:t>
                      </a:r>
                      <a:r>
                        <a:rPr b="1">
                          <a:solidFill>
                            <a:schemeClr val="bg1"/>
                          </a:solidFill>
                        </a:rPr>
                        <a:t>지역명</a:t>
                      </a:r>
                      <a:endParaRPr b="1">
                        <a:solidFill>
                          <a:schemeClr val="bg1"/>
                        </a:solidFill>
                      </a:endParaRPr>
                    </a:p>
                    <a:p>
                      <a:pPr algn="ctr">
                        <a:buNone/>
                      </a:pPr>
                      <a:r>
                        <a:rPr sz="1600" b="1">
                          <a:solidFill>
                            <a:schemeClr val="bg1"/>
                          </a:solidFill>
                        </a:rPr>
                        <a:t>* </a:t>
                      </a:r>
                      <a:r>
                        <a:rPr sz="1600" b="1">
                          <a:solidFill>
                            <a:schemeClr val="bg1"/>
                          </a:solidFill>
                        </a:rPr>
                        <a:t>서울 제외</a:t>
                      </a:r>
                      <a:endParaRPr sz="1600"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c>
                  <a:txBody>
                    <a:bodyPr/>
                    <a:lstStyle/>
                    <a:p>
                      <a:pPr algn="l">
                        <a:spcBef>
                          <a:spcPts val="0"/>
                        </a:spcBef>
                        <a:spcAft>
                          <a:spcPts val="300"/>
                        </a:spcAft>
                      </a:pPr>
                      <a:r>
                        <a:rPr sz="2250" b="1">
                          <a:solidFill>
                            <a:srgbClr val="171717"/>
                          </a:solidFill>
                          <a:latin typeface="맑은 고딕"/>
                          <a:ea typeface="맑은 고딕"/>
                          <a:cs typeface="맑은 고딕"/>
                        </a:rPr>
                        <a:t>충청남도 공주시·부여군</a:t>
                      </a:r>
                    </a:p>
                    <a:p>
                      <a:pPr algn="l">
                        <a:spcAft>
                          <a:spcPts val="0"/>
                        </a:spcAft>
                      </a:pPr>
                      <a:r>
                        <a:rPr sz="2250" b="0">
                          <a:solidFill>
                            <a:srgbClr val="171717"/>
                          </a:solidFill>
                          <a:latin typeface="맑은 고딕"/>
                          <a:ea typeface="맑은 고딕"/>
                          <a:cs typeface="맑은 고딕"/>
                        </a:rPr>
                        <a:t>공주 4곳과 부여 9곳, 총 13곳</a:t>
                      </a:r>
                    </a:p>
                  </a:txBody>
                  <a:tcPr marL="209550" marR="20955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3135330">
                <a:tc>
                  <a:txBody>
                    <a:bodyPr/>
                    <a:lstStyle/>
                    <a:p>
                      <a:pPr algn="ctr">
                        <a:buNone/>
                      </a:pPr>
                      <a:r>
                        <a:rPr b="1">
                          <a:solidFill>
                            <a:schemeClr val="bg1"/>
                          </a:solidFill>
                        </a:rPr>
                        <a:t>구현 내용</a:t>
                      </a:r>
                      <a:endParaRPr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c>
                  <a:txBody>
                    <a:bodyPr/>
                    <a:lstStyle/>
                    <a:p>
                      <a:pPr algn="l">
                        <a:spcBef>
                          <a:spcPts val="0"/>
                        </a:spcBef>
                        <a:spcAft>
                          <a:spcPts val="300"/>
                        </a:spcAft>
                      </a:pPr>
                      <a:r>
                        <a:rPr sz="1763" b="1">
                          <a:solidFill>
                            <a:srgbClr val="171717"/>
                          </a:solidFill>
                          <a:latin typeface="맑은 고딕"/>
                          <a:ea typeface="맑은 고딕"/>
                          <a:cs typeface="맑은 고딕"/>
                        </a:rPr>
                        <a:t>백제 유적과 박물관을 함께 살펴봅니다.</a:t>
                      </a:r>
                    </a:p>
                    <a:p>
                      <a:pPr algn="l">
                        <a:spcAft>
                          <a:spcPts val="0"/>
                        </a:spcAft>
                      </a:pPr>
                      <a:r>
                        <a:rPr sz="1763" b="0">
                          <a:solidFill>
                            <a:srgbClr val="171717"/>
                          </a:solidFill>
                          <a:latin typeface="맑은 고딕"/>
                          <a:ea typeface="맑은 고딕"/>
                          <a:cs typeface="맑은 고딕"/>
                        </a:rPr>
                        <a:t>공산성·무령왕릉과 왕릉원·부소산성·정림사지 등 백제 유적과 주변 관광지를 연결했습니다. 세계유산 구성유산과 박물관은 구분해 표시합니다.</a:t>
                      </a:r>
                    </a:p>
                    <a:p>
                      <a:pPr algn="l">
                        <a:spcBef>
                          <a:spcPts val="700"/>
                        </a:spcBef>
                        <a:spcAft>
                          <a:spcPts val="300"/>
                        </a:spcAft>
                      </a:pPr>
                      <a:r>
                        <a:rPr sz="1763" b="1">
                          <a:solidFill>
                            <a:srgbClr val="171717"/>
                          </a:solidFill>
                          <a:latin typeface="맑은 고딕"/>
                          <a:ea typeface="맑은 고딕"/>
                          <a:cs typeface="맑은 고딕"/>
                        </a:rPr>
                        <a:t>산성과 박물관의 관람 조건 차이를 보여줍니다.</a:t>
                      </a:r>
                    </a:p>
                    <a:p>
                      <a:pPr algn="l">
                        <a:spcAft>
                          <a:spcPts val="0"/>
                        </a:spcAft>
                      </a:pPr>
                      <a:r>
                        <a:rPr sz="1763" b="0">
                          <a:solidFill>
                            <a:srgbClr val="171717"/>
                          </a:solidFill>
                          <a:latin typeface="맑은 고딕"/>
                          <a:ea typeface="맑은 고딕"/>
                          <a:cs typeface="맑은 고딕"/>
                        </a:rPr>
                        <a:t>휠체어 조건에서 공산성은 ‘주의 필요’, 국립공주박물관은 ‘방문 가능’으로 안내합니다. 공주·부여 사이 긴 이동 구간에는 휴식을 권합니다.</a:t>
                      </a:r>
                    </a:p>
                    <a:p>
                      <a:pPr algn="l">
                        <a:spcBef>
                          <a:spcPts val="700"/>
                        </a:spcBef>
                        <a:spcAft>
                          <a:spcPts val="300"/>
                        </a:spcAft>
                      </a:pPr>
                      <a:r>
                        <a:rPr sz="1763" b="1">
                          <a:solidFill>
                            <a:srgbClr val="171717"/>
                          </a:solidFill>
                          <a:latin typeface="맑은 고딕"/>
                          <a:ea typeface="맑은 고딕"/>
                          <a:cs typeface="맑은 고딕"/>
                        </a:rPr>
                        <a:t>지역의 이용 안내와 정보 보완 목록을 제공합니다.</a:t>
                      </a:r>
                    </a:p>
                    <a:p>
                      <a:pPr algn="l">
                        <a:spcAft>
                          <a:spcPts val="0"/>
                        </a:spcAft>
                      </a:pPr>
                      <a:r>
                        <a:rPr sz="1763" b="0">
                          <a:solidFill>
                            <a:srgbClr val="171717"/>
                          </a:solidFill>
                          <a:latin typeface="맑은 고딕"/>
                          <a:ea typeface="맑은 고딕"/>
                          <a:cs typeface="맑은 고딕"/>
                        </a:rPr>
                        <a:t>장애인 화장실과 안전시설, 충남광역이동지원센터 안내를 연결합니다. 갭 리포트에는 수록 관광지의 미확인 항목을 모읍니다.</a:t>
                      </a:r>
                    </a:p>
                  </a:txBody>
                  <a:tcPr marL="209550" marR="20955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bl>
          </a:graphicData>
        </a:graphic>
      </p:graphicFrame>
    </p:spTree>
    <p:extLst>
      <p:ext uri="{BB962C8B-B14F-4D97-AF65-F5344CB8AC3E}">
        <p14:creationId xmlns:p14="http://schemas.microsoft.com/office/powerpoint/2010/main" val="319252609"/>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graphicFrame>
        <p:nvGraphicFramePr>
          <p:cNvPr id="30" name="표 7"/>
          <p:cNvGraphicFramePr/>
          <p:nvPr/>
        </p:nvGraphicFramePr>
        <p:xfrm>
          <a:off xmlns:a="http://schemas.openxmlformats.org/drawingml/2006/main" x="302952" y="1933326"/>
          <a:ext xmlns:a="http://schemas.openxmlformats.org/drawingml/2006/main" cx="11426308" cy="4605842"/>
        </p:xfrm>
        <a:graphic xmlns:a="http://schemas.openxmlformats.org/drawingml/2006/main">
          <a:graphicData uri="http://schemas.openxmlformats.org/drawingml/2006/table">
            <a:tbl>
              <a:tblPr firstRow="1" bandRow="1">
                <a:tableStyleId>{5C22544A-7EE6-4342-B048-85BDC9FD1C3A}</a:tableStyleId>
              </a:tblPr>
              <a:tblGrid>
                <a:gridCol w="2856577"/>
                <a:gridCol w="2856577"/>
                <a:gridCol w="2856577"/>
                <a:gridCol w="2856577"/>
              </a:tblGrid>
              <a:tr h="327145">
                <a:tc gridSpan="4">
                  <a:txBody>
                    <a:bodyPr/>
                    <a:lstStyle/>
                    <a:p>
                      <a:pPr algn="ctr">
                        <a:buNone/>
                      </a:pPr>
                      <a:r>
                        <a:rPr>
                          <a:solidFill>
                            <a:schemeClr val="bg1"/>
                          </a:solidFill>
                        </a:rPr>
                        <a:t>기능</a:t>
                      </a:r>
                      <a:r>
                        <a:rPr>
                          <a:solidFill>
                            <a:schemeClr val="bg1"/>
                          </a:solidFill>
                        </a:rPr>
                        <a:t> </a:t>
                      </a:r>
                      <a:r>
                        <a:rPr>
                          <a:solidFill>
                            <a:schemeClr val="bg1"/>
                          </a:solidFill>
                        </a:rPr>
                        <a:t>흐름도</a:t>
                      </a:r>
                      <a:endParaRPr>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c hMerge="1">
                  <a:txBody>
                    <a:bodyPr/>
                    <a:lstStyle/>
                    <a:p>
                      <a:pPr algn="ctr">
                        <a:buNone/>
                      </a:pPr>
                      <a:endParaRPr>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c hMerge="1">
                  <a:txBody>
                    <a:bodyPr/>
                    <a:lstStyle/>
                    <a:p>
                      <a:pPr algn="ctr">
                        <a:buNone/>
                      </a:pPr>
                      <a:endParaRPr>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c hMerge="1">
                  <a:txBody>
                    <a:bodyPr/>
                    <a:lstStyle/>
                    <a:p>
                      <a:pPr algn="ctr">
                        <a:buNone/>
                      </a:pPr>
                      <a:endParaRPr>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r>
              <a:tr h="2806208">
                <a:tc>
                  <a:txBody>
                    <a:bodyPr/>
                    <a:lstStyle/>
                    <a:p>
                      <a:pPr marL="0" marR="0" lvl="0" indent="0" algn="ctr" defTabSz="914400">
                        <a:lnSpc>
                          <a:spcPct val="100000"/>
                        </a:lnSpc>
                        <a:spcBef>
                          <a:spcPts val="0"/>
                        </a:spcBef>
                        <a:spcAft>
                          <a:spcPts val="0"/>
                        </a:spcAft>
                        <a:buClrTx/>
                        <a:buSzTx/>
                        <a:buFontTx/>
                        <a:buNone/>
                      </a:pPr>
                      <a:r>
                        <a:rPr sz="1800" b="0">
                          <a:solidFill>
                            <a:srgbClr val="FF0000"/>
                          </a:solidFill>
                          <a:latin typeface="+mn-lt"/>
                          <a:ea typeface="+mn-lt"/>
                          <a:cs typeface="+mn-lt"/>
                        </a:rPr>
                        <a:t/>
                      </a:r>
                      <a:endParaRPr sz="1800" b="0">
                        <a:solidFill>
                          <a:srgbClr val="FF0000"/>
                        </a:solidFill>
                        <a:latin typeface="+mn-lt"/>
                        <a:ea typeface="+mn-lt"/>
                        <a:cs typeface="+mn-lt"/>
                      </a:endParaRPr>
                    </a:p>
                  </a:txBody>
                  <a:tcPr marL="152400" marR="15240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a:txBody>
                    <a:bodyPr/>
                    <a:lstStyle/>
                    <a:p>
                      <a:pPr marL="0" marR="0" lvl="0" indent="0" algn="ctr" defTabSz="914400">
                        <a:lnSpc>
                          <a:spcPct val="100000"/>
                        </a:lnSpc>
                        <a:spcBef>
                          <a:spcPts val="0"/>
                        </a:spcBef>
                        <a:spcAft>
                          <a:spcPts val="0"/>
                        </a:spcAft>
                        <a:buClrTx/>
                        <a:buSzTx/>
                        <a:buFontTx/>
                        <a:buNone/>
                      </a:pPr>
                      <a:r>
                        <a:rPr sz="1800" b="0">
                          <a:solidFill>
                            <a:srgbClr val="171717"/>
                          </a:solidFill>
                          <a:latin typeface="맑은 고딕"/>
                          <a:ea typeface="맑은 고딕"/>
                          <a:cs typeface="맑은 고딕"/>
                        </a:rPr>
                        <a:t/>
                      </a:r>
                      <a:endParaRPr b="0">
                        <a:solidFill>
                          <a:schemeClr val="tx1"/>
                        </a:solidFill>
                      </a:endParaRPr>
                    </a:p>
                  </a:txBody>
                  <a:tcPr marL="152400" marR="15240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a:txBody>
                    <a:bodyPr/>
                    <a:lstStyle/>
                    <a:p>
                      <a:pPr marL="0" marR="0" lvl="0" indent="0" algn="ctr" defTabSz="914400">
                        <a:lnSpc>
                          <a:spcPct val="100000"/>
                        </a:lnSpc>
                        <a:spcBef>
                          <a:spcPts val="0"/>
                        </a:spcBef>
                        <a:spcAft>
                          <a:spcPts val="0"/>
                        </a:spcAft>
                        <a:buClrTx/>
                        <a:buSzTx/>
                        <a:buFontTx/>
                        <a:buNone/>
                      </a:pPr>
                      <a:r>
                        <a:rPr sz="1800" b="0">
                          <a:solidFill>
                            <a:srgbClr val="171717"/>
                          </a:solidFill>
                          <a:latin typeface="맑은 고딕"/>
                          <a:ea typeface="맑은 고딕"/>
                          <a:cs typeface="맑은 고딕"/>
                        </a:rPr>
                        <a:t/>
                      </a:r>
                      <a:endParaRPr b="0">
                        <a:solidFill>
                          <a:schemeClr val="tx1"/>
                        </a:solidFill>
                      </a:endParaRPr>
                    </a:p>
                  </a:txBody>
                  <a:tcPr marL="152400" marR="15240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a:txBody>
                    <a:bodyPr/>
                    <a:lstStyle/>
                    <a:p>
                      <a:pPr marL="0" marR="0" lvl="0" indent="0" algn="ctr" defTabSz="914400">
                        <a:lnSpc>
                          <a:spcPct val="100000"/>
                        </a:lnSpc>
                        <a:spcBef>
                          <a:spcPts val="0"/>
                        </a:spcBef>
                        <a:spcAft>
                          <a:spcPts val="0"/>
                        </a:spcAft>
                        <a:buClrTx/>
                        <a:buSzTx/>
                        <a:buFontTx/>
                        <a:buNone/>
                      </a:pPr>
                      <a:r>
                        <a:rPr sz="1800" b="0">
                          <a:solidFill>
                            <a:srgbClr val="171717"/>
                          </a:solidFill>
                          <a:latin typeface="맑은 고딕"/>
                          <a:ea typeface="맑은 고딕"/>
                          <a:cs typeface="맑은 고딕"/>
                        </a:rPr>
                        <a:t/>
                      </a:r>
                      <a:endParaRPr b="0">
                        <a:solidFill>
                          <a:schemeClr val="tx1"/>
                        </a:solidFill>
                      </a:endParaRPr>
                    </a:p>
                  </a:txBody>
                  <a:tcPr marL="152400" marR="15240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1433874">
                <a:tc>
                  <a:txBody>
                    <a:bodyPr/>
                    <a:lstStyle/>
                    <a:p>
                      <a:pPr algn="l">
                        <a:spcBef>
                          <a:spcPts val="0"/>
                        </a:spcBef>
                        <a:spcAft>
                          <a:spcPts val="300"/>
                        </a:spcAft>
                      </a:pPr>
                      <a:r>
                        <a:rPr sz="1650" b="1">
                          <a:solidFill>
                            <a:srgbClr val="171717"/>
                          </a:solidFill>
                          <a:latin typeface="맑은 고딕"/>
                          <a:ea typeface="맑은 고딕"/>
                          <a:cs typeface="맑은 고딕"/>
                        </a:rPr>
                        <a:t>1. 동행 조건 선택</a:t>
                      </a:r>
                    </a:p>
                    <a:p>
                      <a:pPr algn="l">
                        <a:spcAft>
                          <a:spcPts val="0"/>
                        </a:spcAft>
                      </a:pPr>
                      <a:r>
                        <a:rPr sz="1650" b="0">
                          <a:solidFill>
                            <a:srgbClr val="171717"/>
                          </a:solidFill>
                          <a:latin typeface="맑은 고딕"/>
                          <a:ea typeface="맑은 고딕"/>
                          <a:cs typeface="맑은 고딕"/>
                        </a:rPr>
                        <a:t>본인과 동행에게 필요한 조건을 고릅니다. 여러 개 선택할 수 있습니다.</a:t>
                      </a:r>
                    </a:p>
                  </a:txBody>
                  <a:tcPr marL="142875" marR="142875"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a:txBody>
                    <a:bodyPr/>
                    <a:lstStyle/>
                    <a:p>
                      <a:pPr algn="l">
                        <a:spcBef>
                          <a:spcPts val="0"/>
                        </a:spcBef>
                        <a:spcAft>
                          <a:spcPts val="300"/>
                        </a:spcAft>
                      </a:pPr>
                      <a:r>
                        <a:rPr sz="1650" b="1">
                          <a:solidFill>
                            <a:srgbClr val="171717"/>
                          </a:solidFill>
                          <a:latin typeface="맑은 고딕"/>
                          <a:ea typeface="맑은 고딕"/>
                          <a:cs typeface="맑은 고딕"/>
                        </a:rPr>
                        <a:t>2. 방문 전 확인사항</a:t>
                      </a:r>
                    </a:p>
                    <a:p>
                      <a:pPr algn="l">
                        <a:spcAft>
                          <a:spcPts val="0"/>
                        </a:spcAft>
                      </a:pPr>
                      <a:r>
                        <a:rPr sz="1650" b="0">
                          <a:solidFill>
                            <a:srgbClr val="171717"/>
                          </a:solidFill>
                          <a:latin typeface="맑은 고딕"/>
                          <a:ea typeface="맑은 고딕"/>
                          <a:cs typeface="맑은 고딕"/>
                        </a:rPr>
                        <a:t>공산성은 출입통로와 관람 동선에 조건이 있어 ‘주의 필요’로 안내합니다.</a:t>
                      </a:r>
                    </a:p>
                  </a:txBody>
                  <a:tcPr marL="142875" marR="142875"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a:txBody>
                    <a:bodyPr/>
                    <a:lstStyle/>
                    <a:p>
                      <a:pPr algn="l">
                        <a:spcBef>
                          <a:spcPts val="0"/>
                        </a:spcBef>
                        <a:spcAft>
                          <a:spcPts val="300"/>
                        </a:spcAft>
                      </a:pPr>
                      <a:r>
                        <a:rPr sz="1650" b="1">
                          <a:solidFill>
                            <a:srgbClr val="171717"/>
                          </a:solidFill>
                          <a:latin typeface="맑은 고딕"/>
                          <a:ea typeface="맑은 고딕"/>
                          <a:cs typeface="맑은 고딕"/>
                        </a:rPr>
                        <a:t>3. 판정의 근거 확인</a:t>
                      </a:r>
                    </a:p>
                    <a:p>
                      <a:pPr algn="l">
                        <a:spcAft>
                          <a:spcPts val="0"/>
                        </a:spcAft>
                      </a:pPr>
                      <a:r>
                        <a:rPr sz="1650" b="0">
                          <a:solidFill>
                            <a:srgbClr val="171717"/>
                          </a:solidFill>
                          <a:latin typeface="맑은 고딕"/>
                          <a:ea typeface="맑은 고딕"/>
                          <a:cs typeface="맑은 고딕"/>
                        </a:rPr>
                        <a:t>‘흙 구간 및 일부 구간 접근 어려움’이라는 원문과 출처·확인일을 읽습니다.</a:t>
                      </a:r>
                    </a:p>
                  </a:txBody>
                  <a:tcPr marL="142875" marR="142875"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a:txBody>
                    <a:bodyPr/>
                    <a:lstStyle/>
                    <a:p>
                      <a:pPr algn="l">
                        <a:spcBef>
                          <a:spcPts val="0"/>
                        </a:spcBef>
                        <a:spcAft>
                          <a:spcPts val="300"/>
                        </a:spcAft>
                      </a:pPr>
                      <a:r>
                        <a:rPr sz="1650" b="1">
                          <a:solidFill>
                            <a:srgbClr val="171717"/>
                          </a:solidFill>
                          <a:latin typeface="맑은 고딕"/>
                          <a:ea typeface="맑은 고딕"/>
                          <a:cs typeface="맑은 고딕"/>
                        </a:rPr>
                        <a:t>4. 같은 조건의 대안</a:t>
                      </a:r>
                    </a:p>
                    <a:p>
                      <a:pPr algn="l">
                        <a:spcAft>
                          <a:spcPts val="0"/>
                        </a:spcAft>
                      </a:pPr>
                      <a:r>
                        <a:rPr sz="1650" b="0">
                          <a:solidFill>
                            <a:srgbClr val="171717"/>
                          </a:solidFill>
                          <a:latin typeface="맑은 고딕"/>
                          <a:ea typeface="맑은 고딕"/>
                          <a:cs typeface="맑은 고딕"/>
                        </a:rPr>
                        <a:t>‘방문 가능’으로 안내한 국립공주박물관을 함께 살펴봅니다.</a:t>
                      </a:r>
                    </a:p>
                  </a:txBody>
                  <a:tcPr marL="142875" marR="142875"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bl>
          </a:graphicData>
        </a:graphic>
      </p:graphicFrame>
      <p:graphicFrame>
        <p:nvGraphicFramePr>
          <p:cNvPr id="31" name="표 14"/>
          <p:cNvGraphicFramePr/>
          <p:nvPr/>
        </p:nvGraphicFramePr>
        <p:xfrm>
          <a:off xmlns:a="http://schemas.openxmlformats.org/drawingml/2006/main" x="302952" y="1130530"/>
          <a:ext xmlns:a="http://schemas.openxmlformats.org/drawingml/2006/main" cx="11426308" cy="731520"/>
        </p:xfrm>
        <a:graphic xmlns:a="http://schemas.openxmlformats.org/drawingml/2006/main">
          <a:graphicData uri="http://schemas.openxmlformats.org/drawingml/2006/table">
            <a:tbl>
              <a:tblPr firstRow="1" bandRow="1">
                <a:tableStyleId>{5C22544A-7EE6-4342-B048-85BDC9FD1C3A}</a:tableStyleId>
              </a:tblPr>
              <a:tblGrid>
                <a:gridCol w="1782764"/>
                <a:gridCol w="9643544"/>
              </a:tblGrid>
              <a:tr h="365760">
                <a:tc>
                  <a:txBody>
                    <a:bodyPr/>
                    <a:lstStyle/>
                    <a:p>
                      <a:pPr algn="ctr">
                        <a:buNone/>
                      </a:pPr>
                      <a:r>
                        <a:rPr sz="1800" b="1">
                          <a:solidFill>
                            <a:srgbClr val="FFFFFF"/>
                          </a:solidFill>
                          <a:latin typeface="맑은 고딕"/>
                          <a:ea typeface="맑은 고딕"/>
                          <a:cs typeface="맑은 고딕"/>
                        </a:rPr>
                        <a:t>핵심 기능 1</a:t>
                      </a:r>
                      <a:endParaRPr b="1">
                        <a:solidFill>
                          <a:schemeClr val="bg1"/>
                        </a:solidFill>
                      </a:endParaRPr>
                    </a:p>
                  </a:txBody>
                  <a:tcPr marL="38100" marR="38100" marT="28575" marB="285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A401"/>
                    </a:solidFill>
                  </a:tcPr>
                </a:tc>
                <a:tc>
                  <a:txBody>
                    <a:bodyPr/>
                    <a:lstStyle/>
                    <a:p>
                      <a:pPr algn="l">
                        <a:buNone/>
                      </a:pPr>
                      <a:r>
                        <a:rPr sz="1875" b="1">
                          <a:solidFill>
                            <a:srgbClr val="171717"/>
                          </a:solidFill>
                          <a:latin typeface="맑은 고딕"/>
                          <a:ea typeface="맑은 고딕"/>
                          <a:cs typeface="맑은 고딕"/>
                        </a:rPr>
                        <a:t>동행 조건에 따른 방문 판단</a:t>
                      </a:r>
                      <a:endParaRPr b="0">
                        <a:solidFill>
                          <a:schemeClr val="tx1"/>
                        </a:solidFill>
                      </a:endParaRPr>
                    </a:p>
                  </a:txBody>
                  <a:tcPr marL="133350" marR="133350" marT="28575" marB="285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365760">
                <a:tc>
                  <a:txBody>
                    <a:bodyPr/>
                    <a:lstStyle/>
                    <a:p>
                      <a:pPr algn="ctr">
                        <a:buNone/>
                      </a:pPr>
                      <a:r>
                        <a:rPr sz="1800" b="1">
                          <a:solidFill>
                            <a:srgbClr val="FFFFFF"/>
                          </a:solidFill>
                          <a:latin typeface="맑은 고딕"/>
                          <a:ea typeface="맑은 고딕"/>
                          <a:cs typeface="맑은 고딕"/>
                        </a:rPr>
                        <a:t>기능 설명</a:t>
                      </a:r>
                      <a:endParaRPr b="1">
                        <a:solidFill>
                          <a:schemeClr val="bg1"/>
                        </a:solidFill>
                      </a:endParaRPr>
                    </a:p>
                  </a:txBody>
                  <a:tcPr marL="38100" marR="38100" marT="28575" marB="285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A401"/>
                    </a:solidFill>
                  </a:tcPr>
                </a:tc>
                <a:tc>
                  <a:txBody>
                    <a:bodyPr/>
                    <a:lstStyle/>
                    <a:p>
                      <a:pPr marL="0" marR="0" lvl="0" indent="0" algn="l" defTabSz="914400">
                        <a:lnSpc>
                          <a:spcPct val="100000"/>
                        </a:lnSpc>
                        <a:spcBef>
                          <a:spcPts val="0"/>
                        </a:spcBef>
                        <a:spcAft>
                          <a:spcPts val="0"/>
                        </a:spcAft>
                        <a:buClrTx/>
                        <a:buSzTx/>
                        <a:buFontTx/>
                        <a:buNone/>
                      </a:pPr>
                      <a:r>
                        <a:rPr sz="1725" b="0">
                          <a:solidFill>
                            <a:srgbClr val="171717"/>
                          </a:solidFill>
                          <a:latin typeface="맑은 고딕"/>
                          <a:ea typeface="맑은 고딕"/>
                          <a:cs typeface="맑은 고딕"/>
                        </a:rPr>
                        <a:t>동행 조건별 판정과 주의할 항목을 보여주고, 원문과 출처로 이유를 확인합니다.</a:t>
                      </a:r>
                      <a:endParaRPr b="0">
                        <a:solidFill>
                          <a:schemeClr val="tx1"/>
                        </a:solidFill>
                      </a:endParaRPr>
                    </a:p>
                  </a:txBody>
                  <a:tcPr marL="133350" marR="133350" marT="28575" marB="285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bl>
          </a:graphicData>
        </a:graphic>
      </p:graphicFrame>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93b8cc87ee384b86"/>
          <a:srcRect xmlns:a="http://schemas.openxmlformats.org/drawingml/2006/main" l="18826" t="20896" r="56257" b="47595"/>
          <a:stretch xmlns:a="http://schemas.openxmlformats.org/drawingml/2006/main"/>
        </p:blipFill>
        <p:spPr>
          <a:xfrm xmlns:a="http://schemas.openxmlformats.org/drawingml/2006/main">
            <a:off x="417195" y="2553737"/>
            <a:ext cx="2627948" cy="2219156"/>
          </a:xfrm>
          <a:prstGeom xmlns:a="http://schemas.openxmlformats.org/drawingml/2006/main" prst="rect">
            <a:avLst/>
          </a:prstGeom>
        </p:spPr>
      </p:pic>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c59619e2194a4bc8"/>
          <a:srcRect xmlns:a="http://schemas.openxmlformats.org/drawingml/2006/main" l="18826" t="9204" r="73200" b="86070"/>
          <a:stretch xmlns:a="http://schemas.openxmlformats.org/drawingml/2006/main"/>
        </p:blipFill>
        <p:spPr>
          <a:xfrm xmlns:a="http://schemas.openxmlformats.org/drawingml/2006/main">
            <a:off x="3905250" y="2600325"/>
            <a:ext cx="1371600" cy="542925"/>
          </a:xfrm>
          <a:prstGeom xmlns:a="http://schemas.openxmlformats.org/drawingml/2006/main" prst="rect">
            <a:avLst/>
          </a:prstGeom>
        </p:spPr>
      </p:pic>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ed70156a870b4697"/>
          <a:srcRect xmlns:a="http://schemas.openxmlformats.org/drawingml/2006/main" l="18826" t="41045" r="50720" b="44527"/>
          <a:stretch xmlns:a="http://schemas.openxmlformats.org/drawingml/2006/main"/>
        </p:blipFill>
        <p:spPr>
          <a:xfrm xmlns:a="http://schemas.openxmlformats.org/drawingml/2006/main">
            <a:off x="3273743" y="3560994"/>
            <a:ext cx="2627948" cy="831387"/>
          </a:xfrm>
          <a:prstGeom xmlns:a="http://schemas.openxmlformats.org/drawingml/2006/main" prst="rect">
            <a:avLst/>
          </a:prstGeom>
        </p:spPr>
      </p:pic>
      <p:sp>
        <p:nvSpPr>
          <p:cNvPr id="25" name="">
            <a:extLst xmlns:a="http://schemas.openxmlformats.org/drawingml/2006/main">
              <a:ext uri="{FF2B5EF4-FFF2-40B4-BE49-F238E27FC236}">
                <a16:creationId xmlns:a16="http://schemas.microsoft.com/office/drawing/2014/main" id="{DA074DCF-2D09-4F93-9EFC-C101B0BDBDF9}"/>
              </a:ext>
            </a:extLst>
          </p:cNvPr>
          <p:cNvSpPr>
            <a:spLocks xmlns:a="http://schemas.openxmlformats.org/drawingml/2006/main" noGrp="1"/>
          </p:cNvSpPr>
          <p:nvPr/>
        </p:nvSpPr>
        <p:spPr>
          <a:xfrm xmlns:a="http://schemas.openxmlformats.org/drawingml/2006/main">
            <a:off x="6210300" y="2590800"/>
            <a:ext cx="2409825" cy="2857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defRPr sz="1350" b="1">
                <a:solidFill>
                  <a:srgbClr val="171717"/>
                </a:solidFill>
                <a:latin typeface="맑은 고딕"/>
                <a:ea typeface="맑은 고딕"/>
                <a:cs typeface="맑은 고딕"/>
              </a:defRPr>
            </a:pPr>
            <a:r>
              <a:rPr sz="1350" b="1">
                <a:solidFill>
                  <a:srgbClr val="171717"/>
                </a:solidFill>
                <a:latin typeface="맑은 고딕"/>
                <a:ea typeface="맑은 고딕"/>
                <a:cs typeface="맑은 고딕"/>
              </a:rPr>
              <a:t>출입통로의 원문</a:t>
            </a:r>
          </a:p>
        </p:txBody>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6d363d42527f4729"/>
          <a:srcRect xmlns:a="http://schemas.openxmlformats.org/drawingml/2006/main" l="18826" t="62604" r="54319" b="30680"/>
          <a:stretch xmlns:a="http://schemas.openxmlformats.org/drawingml/2006/main"/>
        </p:blipFill>
        <p:spPr>
          <a:xfrm xmlns:a="http://schemas.openxmlformats.org/drawingml/2006/main">
            <a:off x="6191250" y="3079324"/>
            <a:ext cx="2476500" cy="413601"/>
          </a:xfrm>
          <a:prstGeom xmlns:a="http://schemas.openxmlformats.org/drawingml/2006/main" prst="rect">
            <a:avLst/>
          </a:prstGeom>
        </p:spPr>
      </p:pic>
      <p:sp>
        <p:nvSpPr>
          <p:cNvPr id="27" name="">
            <a:extLst xmlns:a="http://schemas.openxmlformats.org/drawingml/2006/main">
              <a:ext uri="{FF2B5EF4-FFF2-40B4-BE49-F238E27FC236}">
                <a16:creationId xmlns:a16="http://schemas.microsoft.com/office/drawing/2014/main" id="{4E15491D-B5B8-4AA2-B44E-778C8753C08E}"/>
              </a:ext>
            </a:extLst>
          </p:cNvPr>
          <p:cNvSpPr>
            <a:spLocks xmlns:a="http://schemas.openxmlformats.org/drawingml/2006/main" noGrp="1"/>
          </p:cNvSpPr>
          <p:nvPr/>
        </p:nvSpPr>
        <p:spPr>
          <a:xfrm xmlns:a="http://schemas.openxmlformats.org/drawingml/2006/main">
            <a:off x="6210300" y="3810000"/>
            <a:ext cx="2409825" cy="2857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defRPr sz="1350" b="1">
                <a:solidFill>
                  <a:srgbClr val="171717"/>
                </a:solidFill>
                <a:latin typeface="맑은 고딕"/>
                <a:ea typeface="맑은 고딕"/>
                <a:cs typeface="맑은 고딕"/>
              </a:defRPr>
            </a:pPr>
            <a:r>
              <a:rPr sz="1350" b="1">
                <a:solidFill>
                  <a:srgbClr val="171717"/>
                </a:solidFill>
                <a:latin typeface="맑은 고딕"/>
                <a:ea typeface="맑은 고딕"/>
                <a:cs typeface="맑은 고딕"/>
              </a:rPr>
              <a:t>같은 항목의 출처·확인일</a:t>
            </a:r>
          </a:p>
        </p:txBody>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fcda4c6a6776467a"/>
          <a:srcRect xmlns:a="http://schemas.openxmlformats.org/drawingml/2006/main" l="66722" t="63350" r="19989" b="32421"/>
          <a:stretch xmlns:a="http://schemas.openxmlformats.org/drawingml/2006/main"/>
        </p:blipFill>
        <p:spPr>
          <a:xfrm xmlns:a="http://schemas.openxmlformats.org/drawingml/2006/main">
            <a:off x="6191250" y="4204097"/>
            <a:ext cx="2476500" cy="526256"/>
          </a:xfrm>
          <a:prstGeom xmlns:a="http://schemas.openxmlformats.org/drawingml/2006/main" prst="rect">
            <a:avLst/>
          </a:prstGeom>
        </p:spPr>
      </p:pic>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50a8d6f427db4208"/>
          <a:srcRect xmlns:a="http://schemas.openxmlformats.org/drawingml/2006/main" l="18826" t="84494" r="63400" b="4146"/>
          <a:stretch xmlns:a="http://schemas.openxmlformats.org/drawingml/2006/main"/>
        </p:blipFill>
        <p:spPr>
          <a:xfrm xmlns:a="http://schemas.openxmlformats.org/drawingml/2006/main">
            <a:off x="8986837" y="3102522"/>
            <a:ext cx="2627948" cy="1121585"/>
          </a:xfrm>
          <a:prstGeom xmlns:a="http://schemas.openxmlformats.org/drawingml/2006/main" prst="rect">
            <a:avLst/>
          </a:prstGeom>
        </p:spPr>
      </p:pic>
    </p:spTree>
    <p:extLst>
      <p:ext uri="{BB962C8B-B14F-4D97-AF65-F5344CB8AC3E}">
        <p14:creationId xmlns:p14="http://schemas.microsoft.com/office/powerpoint/2010/main" val="6719406"/>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graphicFrame>
        <p:nvGraphicFramePr>
          <p:cNvPr id="26" name="표 7"/>
          <p:cNvGraphicFramePr/>
          <p:nvPr/>
        </p:nvGraphicFramePr>
        <p:xfrm>
          <a:off xmlns:a="http://schemas.openxmlformats.org/drawingml/2006/main" x="302952" y="1933326"/>
          <a:ext xmlns:a="http://schemas.openxmlformats.org/drawingml/2006/main" cx="11426308" cy="4605842"/>
        </p:xfrm>
        <a:graphic xmlns:a="http://schemas.openxmlformats.org/drawingml/2006/main">
          <a:graphicData uri="http://schemas.openxmlformats.org/drawingml/2006/table">
            <a:tbl>
              <a:tblPr firstRow="1" bandRow="1">
                <a:tableStyleId>{5C22544A-7EE6-4342-B048-85BDC9FD1C3A}</a:tableStyleId>
              </a:tblPr>
              <a:tblGrid>
                <a:gridCol w="2856577"/>
                <a:gridCol w="2856577"/>
                <a:gridCol w="2856577"/>
                <a:gridCol w="2856577"/>
              </a:tblGrid>
              <a:tr h="327145">
                <a:tc gridSpan="4">
                  <a:txBody>
                    <a:bodyPr/>
                    <a:lstStyle/>
                    <a:p>
                      <a:pPr algn="ctr">
                        <a:buNone/>
                      </a:pPr>
                      <a:r>
                        <a:rPr>
                          <a:solidFill>
                            <a:schemeClr val="bg1"/>
                          </a:solidFill>
                        </a:rPr>
                        <a:t>기능</a:t>
                      </a:r>
                      <a:r>
                        <a:rPr>
                          <a:solidFill>
                            <a:schemeClr val="bg1"/>
                          </a:solidFill>
                        </a:rPr>
                        <a:t> </a:t>
                      </a:r>
                      <a:r>
                        <a:rPr>
                          <a:solidFill>
                            <a:schemeClr val="bg1"/>
                          </a:solidFill>
                        </a:rPr>
                        <a:t>흐름도</a:t>
                      </a:r>
                      <a:endParaRPr>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c hMerge="1">
                  <a:txBody>
                    <a:bodyPr/>
                    <a:lstStyle/>
                    <a:p>
                      <a:pPr algn="ctr">
                        <a:buNone/>
                      </a:pPr>
                      <a:endParaRPr>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c hMerge="1">
                  <a:txBody>
                    <a:bodyPr/>
                    <a:lstStyle/>
                    <a:p>
                      <a:pPr algn="ctr">
                        <a:buNone/>
                      </a:pPr>
                      <a:endParaRPr>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c hMerge="1">
                  <a:txBody>
                    <a:bodyPr/>
                    <a:lstStyle/>
                    <a:p>
                      <a:pPr algn="ctr">
                        <a:buNone/>
                      </a:pPr>
                      <a:endParaRPr>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r>
              <a:tr h="2806208">
                <a:tc>
                  <a:txBody>
                    <a:bodyPr/>
                    <a:lstStyle/>
                    <a:p>
                      <a:pPr marL="0" marR="0" lvl="0" indent="0" algn="ctr" defTabSz="914400">
                        <a:lnSpc>
                          <a:spcPct val="100000"/>
                        </a:lnSpc>
                        <a:spcBef>
                          <a:spcPts val="0"/>
                        </a:spcBef>
                        <a:spcAft>
                          <a:spcPts val="0"/>
                        </a:spcAft>
                        <a:buClrTx/>
                        <a:buSzTx/>
                        <a:buFontTx/>
                        <a:buNone/>
                      </a:pPr>
                      <a:r>
                        <a:rPr sz="1800" b="0">
                          <a:solidFill>
                            <a:srgbClr val="FF0000"/>
                          </a:solidFill>
                          <a:latin typeface="+mn-lt"/>
                          <a:ea typeface="+mn-lt"/>
                          <a:cs typeface="+mn-lt"/>
                        </a:rPr>
                        <a:t/>
                      </a:r>
                      <a:endParaRPr sz="1800" b="0">
                        <a:solidFill>
                          <a:srgbClr val="FF0000"/>
                        </a:solidFill>
                        <a:latin typeface="+mn-lt"/>
                        <a:ea typeface="+mn-lt"/>
                        <a:cs typeface="+mn-lt"/>
                      </a:endParaRPr>
                    </a:p>
                  </a:txBody>
                  <a:tcPr marL="152400" marR="15240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a:txBody>
                    <a:bodyPr/>
                    <a:lstStyle/>
                    <a:p>
                      <a:pPr marL="0" marR="0" lvl="0" indent="0" algn="ctr" defTabSz="914400">
                        <a:lnSpc>
                          <a:spcPct val="100000"/>
                        </a:lnSpc>
                        <a:spcBef>
                          <a:spcPts val="0"/>
                        </a:spcBef>
                        <a:spcAft>
                          <a:spcPts val="0"/>
                        </a:spcAft>
                        <a:buClrTx/>
                        <a:buSzTx/>
                        <a:buFontTx/>
                        <a:buNone/>
                      </a:pPr>
                      <a:r>
                        <a:rPr sz="1800" b="0">
                          <a:solidFill>
                            <a:srgbClr val="171717"/>
                          </a:solidFill>
                          <a:latin typeface="맑은 고딕"/>
                          <a:ea typeface="맑은 고딕"/>
                          <a:cs typeface="맑은 고딕"/>
                        </a:rPr>
                        <a:t/>
                      </a:r>
                      <a:endParaRPr b="0">
                        <a:solidFill>
                          <a:schemeClr val="tx1"/>
                        </a:solidFill>
                      </a:endParaRPr>
                    </a:p>
                  </a:txBody>
                  <a:tcPr marL="152400" marR="15240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a:txBody>
                    <a:bodyPr/>
                    <a:lstStyle/>
                    <a:p>
                      <a:pPr marL="0" marR="0" lvl="0" indent="0" algn="ctr" defTabSz="914400">
                        <a:lnSpc>
                          <a:spcPct val="100000"/>
                        </a:lnSpc>
                        <a:spcBef>
                          <a:spcPts val="0"/>
                        </a:spcBef>
                        <a:spcAft>
                          <a:spcPts val="0"/>
                        </a:spcAft>
                        <a:buClrTx/>
                        <a:buSzTx/>
                        <a:buFontTx/>
                        <a:buNone/>
                      </a:pPr>
                      <a:r>
                        <a:rPr sz="1800" b="0">
                          <a:solidFill>
                            <a:srgbClr val="171717"/>
                          </a:solidFill>
                          <a:latin typeface="맑은 고딕"/>
                          <a:ea typeface="맑은 고딕"/>
                          <a:cs typeface="맑은 고딕"/>
                        </a:rPr>
                        <a:t/>
                      </a:r>
                      <a:endParaRPr b="0">
                        <a:solidFill>
                          <a:schemeClr val="tx1"/>
                        </a:solidFill>
                      </a:endParaRPr>
                    </a:p>
                  </a:txBody>
                  <a:tcPr marL="152400" marR="15240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a:txBody>
                    <a:bodyPr/>
                    <a:lstStyle/>
                    <a:p>
                      <a:pPr marL="0" marR="0" lvl="0" indent="0" algn="ctr" defTabSz="914400">
                        <a:lnSpc>
                          <a:spcPct val="100000"/>
                        </a:lnSpc>
                        <a:spcBef>
                          <a:spcPts val="0"/>
                        </a:spcBef>
                        <a:spcAft>
                          <a:spcPts val="0"/>
                        </a:spcAft>
                        <a:buClrTx/>
                        <a:buSzTx/>
                        <a:buFontTx/>
                        <a:buNone/>
                      </a:pPr>
                      <a:r>
                        <a:rPr sz="1800" b="0">
                          <a:solidFill>
                            <a:srgbClr val="171717"/>
                          </a:solidFill>
                          <a:latin typeface="맑은 고딕"/>
                          <a:ea typeface="맑은 고딕"/>
                          <a:cs typeface="맑은 고딕"/>
                        </a:rPr>
                        <a:t/>
                      </a:r>
                      <a:endParaRPr b="0">
                        <a:solidFill>
                          <a:schemeClr val="tx1"/>
                        </a:solidFill>
                      </a:endParaRPr>
                    </a:p>
                  </a:txBody>
                  <a:tcPr marL="152400" marR="15240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1433874">
                <a:tc>
                  <a:txBody>
                    <a:bodyPr/>
                    <a:lstStyle/>
                    <a:p>
                      <a:pPr algn="l">
                        <a:spcBef>
                          <a:spcPts val="0"/>
                        </a:spcBef>
                        <a:spcAft>
                          <a:spcPts val="300"/>
                        </a:spcAft>
                      </a:pPr>
                      <a:r>
                        <a:rPr sz="1650" b="1">
                          <a:solidFill>
                            <a:srgbClr val="171717"/>
                          </a:solidFill>
                          <a:latin typeface="맑은 고딕"/>
                          <a:ea typeface="맑은 고딕"/>
                          <a:cs typeface="맑은 고딕"/>
                        </a:rPr>
                        <a:t>1. 여행 시간 선택</a:t>
                      </a:r>
                    </a:p>
                    <a:p>
                      <a:pPr algn="l">
                        <a:spcAft>
                          <a:spcPts val="0"/>
                        </a:spcAft>
                      </a:pPr>
                      <a:r>
                        <a:rPr sz="1650" b="0">
                          <a:solidFill>
                            <a:srgbClr val="171717"/>
                          </a:solidFill>
                          <a:latin typeface="맑은 고딕"/>
                          <a:ea typeface="맑은 고딕"/>
                          <a:cs typeface="맑은 고딕"/>
                        </a:rPr>
                        <a:t>반나절·당일·1박 2일 가운데 여행 일정에 맞는 코스를 고릅니다.</a:t>
                      </a:r>
                    </a:p>
                  </a:txBody>
                  <a:tcPr marL="142875" marR="142875"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a:txBody>
                    <a:bodyPr/>
                    <a:lstStyle/>
                    <a:p>
                      <a:pPr algn="l">
                        <a:spcBef>
                          <a:spcPts val="0"/>
                        </a:spcBef>
                        <a:spcAft>
                          <a:spcPts val="300"/>
                        </a:spcAft>
                      </a:pPr>
                      <a:r>
                        <a:rPr sz="1650" b="1">
                          <a:solidFill>
                            <a:srgbClr val="171717"/>
                          </a:solidFill>
                          <a:latin typeface="맑은 고딕"/>
                          <a:ea typeface="맑은 고딕"/>
                          <a:cs typeface="맑은 고딕"/>
                        </a:rPr>
                        <a:t>2. 체류·이동 시간 확인</a:t>
                      </a:r>
                    </a:p>
                    <a:p>
                      <a:pPr algn="l">
                        <a:spcAft>
                          <a:spcPts val="0"/>
                        </a:spcAft>
                      </a:pPr>
                      <a:r>
                        <a:rPr sz="1650" b="0">
                          <a:solidFill>
                            <a:srgbClr val="171717"/>
                          </a:solidFill>
                          <a:latin typeface="맑은 고딕"/>
                          <a:ea typeface="맑은 고딕"/>
                          <a:cs typeface="맑은 고딕"/>
                        </a:rPr>
                        <a:t>동행 조건에 맞춘 체류 시간과 관광지별 판정, 긴 이동 구간을 확인합니다.</a:t>
                      </a:r>
                    </a:p>
                  </a:txBody>
                  <a:tcPr marL="142875" marR="142875"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a:txBody>
                    <a:bodyPr/>
                    <a:lstStyle/>
                    <a:p>
                      <a:pPr algn="l">
                        <a:spcBef>
                          <a:spcPts val="0"/>
                        </a:spcBef>
                        <a:spcAft>
                          <a:spcPts val="300"/>
                        </a:spcAft>
                      </a:pPr>
                      <a:r>
                        <a:rPr sz="1650" b="1">
                          <a:solidFill>
                            <a:srgbClr val="171717"/>
                          </a:solidFill>
                          <a:latin typeface="맑은 고딕"/>
                          <a:ea typeface="맑은 고딕"/>
                          <a:cs typeface="맑은 고딕"/>
                        </a:rPr>
                        <a:t>3. 진입 과정 미리 보기</a:t>
                      </a:r>
                    </a:p>
                    <a:p>
                      <a:pPr algn="l">
                        <a:spcAft>
                          <a:spcPts val="0"/>
                        </a:spcAft>
                      </a:pPr>
                      <a:r>
                        <a:rPr sz="1650" b="0">
                          <a:solidFill>
                            <a:srgbClr val="171717"/>
                          </a:solidFill>
                          <a:latin typeface="맑은 고딕"/>
                          <a:ea typeface="맑은 고딕"/>
                          <a:cs typeface="맑은 고딕"/>
                        </a:rPr>
                        <a:t>공산성·부소산성의 주차장과 화장실, 진입 구간을 5단계로 살펴봅니다.</a:t>
                      </a:r>
                    </a:p>
                  </a:txBody>
                  <a:tcPr marL="142875" marR="142875"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a:txBody>
                    <a:bodyPr/>
                    <a:lstStyle/>
                    <a:p>
                      <a:pPr algn="l">
                        <a:spcBef>
                          <a:spcPts val="0"/>
                        </a:spcBef>
                        <a:spcAft>
                          <a:spcPts val="300"/>
                        </a:spcAft>
                      </a:pPr>
                      <a:r>
                        <a:rPr sz="1650" b="1">
                          <a:solidFill>
                            <a:srgbClr val="171717"/>
                          </a:solidFill>
                          <a:latin typeface="맑은 고딕"/>
                          <a:ea typeface="맑은 고딕"/>
                          <a:cs typeface="맑은 고딕"/>
                        </a:rPr>
                        <a:t>4. 한 번에 한 단계</a:t>
                      </a:r>
                    </a:p>
                    <a:p>
                      <a:pPr algn="l">
                        <a:spcAft>
                          <a:spcPts val="0"/>
                        </a:spcAft>
                      </a:pPr>
                      <a:r>
                        <a:rPr sz="1650" b="0">
                          <a:solidFill>
                            <a:srgbClr val="171717"/>
                          </a:solidFill>
                          <a:latin typeface="맑은 고딕"/>
                          <a:ea typeface="맑은 고딕"/>
                          <a:cs typeface="맑은 고딕"/>
                        </a:rPr>
                        <a:t>현재 단계의 설명과 노면을 읽고 이전·다음 버튼으로 이동합니다.</a:t>
                      </a:r>
                    </a:p>
                  </a:txBody>
                  <a:tcPr marL="142875" marR="142875"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bl>
          </a:graphicData>
        </a:graphic>
      </p:graphicFrame>
      <p:graphicFrame>
        <p:nvGraphicFramePr>
          <p:cNvPr id="27" name="표 14"/>
          <p:cNvGraphicFramePr/>
          <p:nvPr/>
        </p:nvGraphicFramePr>
        <p:xfrm>
          <a:off xmlns:a="http://schemas.openxmlformats.org/drawingml/2006/main" x="302952" y="1130530"/>
          <a:ext xmlns:a="http://schemas.openxmlformats.org/drawingml/2006/main" cx="11426308" cy="731520"/>
        </p:xfrm>
        <a:graphic xmlns:a="http://schemas.openxmlformats.org/drawingml/2006/main">
          <a:graphicData uri="http://schemas.openxmlformats.org/drawingml/2006/table">
            <a:tbl>
              <a:tblPr firstRow="1" bandRow="1">
                <a:tableStyleId>{5C22544A-7EE6-4342-B048-85BDC9FD1C3A}</a:tableStyleId>
              </a:tblPr>
              <a:tblGrid>
                <a:gridCol w="1782764"/>
                <a:gridCol w="9643544"/>
              </a:tblGrid>
              <a:tr h="365760">
                <a:tc>
                  <a:txBody>
                    <a:bodyPr/>
                    <a:lstStyle/>
                    <a:p>
                      <a:pPr algn="ctr">
                        <a:buNone/>
                      </a:pPr>
                      <a:r>
                        <a:rPr sz="1800" b="1">
                          <a:solidFill>
                            <a:srgbClr val="FFFFFF"/>
                          </a:solidFill>
                          <a:latin typeface="맑은 고딕"/>
                          <a:ea typeface="맑은 고딕"/>
                          <a:cs typeface="맑은 고딕"/>
                        </a:rPr>
                        <a:t>핵심 기능 2</a:t>
                      </a:r>
                      <a:endParaRPr b="1">
                        <a:solidFill>
                          <a:schemeClr val="bg1"/>
                        </a:solidFill>
                      </a:endParaRPr>
                    </a:p>
                  </a:txBody>
                  <a:tcPr marL="38100" marR="38100" marT="28575" marB="285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A401"/>
                    </a:solidFill>
                  </a:tcPr>
                </a:tc>
                <a:tc>
                  <a:txBody>
                    <a:bodyPr/>
                    <a:lstStyle/>
                    <a:p>
                      <a:pPr algn="l">
                        <a:buNone/>
                      </a:pPr>
                      <a:r>
                        <a:rPr sz="1875" b="1">
                          <a:solidFill>
                            <a:srgbClr val="171717"/>
                          </a:solidFill>
                          <a:latin typeface="맑은 고딕"/>
                          <a:ea typeface="맑은 고딕"/>
                          <a:cs typeface="맑은 고딕"/>
                        </a:rPr>
                        <a:t>시간에 맞춘 코스와 사전 경로 안내</a:t>
                      </a:r>
                      <a:endParaRPr b="0">
                        <a:solidFill>
                          <a:schemeClr val="tx1"/>
                        </a:solidFill>
                      </a:endParaRPr>
                    </a:p>
                  </a:txBody>
                  <a:tcPr marL="133350" marR="133350" marT="28575" marB="285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365760">
                <a:tc>
                  <a:txBody>
                    <a:bodyPr/>
                    <a:lstStyle/>
                    <a:p>
                      <a:pPr algn="ctr">
                        <a:buNone/>
                      </a:pPr>
                      <a:r>
                        <a:rPr sz="1800" b="1">
                          <a:solidFill>
                            <a:srgbClr val="FFFFFF"/>
                          </a:solidFill>
                          <a:latin typeface="맑은 고딕"/>
                          <a:ea typeface="맑은 고딕"/>
                          <a:cs typeface="맑은 고딕"/>
                        </a:rPr>
                        <a:t>기능 설명</a:t>
                      </a:r>
                      <a:endParaRPr b="1">
                        <a:solidFill>
                          <a:schemeClr val="bg1"/>
                        </a:solidFill>
                      </a:endParaRPr>
                    </a:p>
                  </a:txBody>
                  <a:tcPr marL="38100" marR="38100" marT="28575" marB="285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A401"/>
                    </a:solidFill>
                  </a:tcPr>
                </a:tc>
                <a:tc>
                  <a:txBody>
                    <a:bodyPr/>
                    <a:lstStyle/>
                    <a:p>
                      <a:pPr marL="0" marR="0" lvl="0" indent="0" algn="l" defTabSz="914400">
                        <a:lnSpc>
                          <a:spcPct val="100000"/>
                        </a:lnSpc>
                        <a:spcBef>
                          <a:spcPts val="0"/>
                        </a:spcBef>
                        <a:spcAft>
                          <a:spcPts val="0"/>
                        </a:spcAft>
                        <a:buClrTx/>
                        <a:buSzTx/>
                        <a:buFontTx/>
                        <a:buNone/>
                      </a:pPr>
                      <a:r>
                        <a:rPr sz="1725" b="0">
                          <a:solidFill>
                            <a:srgbClr val="171717"/>
                          </a:solidFill>
                          <a:latin typeface="맑은 고딕"/>
                          <a:ea typeface="맑은 고딕"/>
                          <a:cs typeface="맑은 고딕"/>
                        </a:rPr>
                        <a:t>체류 시간을 조정한 코스와 산성의 단계별 진입 안내를 제공합니다.</a:t>
                      </a:r>
                      <a:endParaRPr b="0">
                        <a:solidFill>
                          <a:schemeClr val="tx1"/>
                        </a:solidFill>
                      </a:endParaRPr>
                    </a:p>
                  </a:txBody>
                  <a:tcPr marL="133350" marR="133350" marT="28575" marB="285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bl>
          </a:graphicData>
        </a:graphic>
      </p:graphicFrame>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17adfac93fed4f73"/>
          <a:srcRect xmlns:a="http://schemas.openxmlformats.org/drawingml/2006/main" l="12569" t="9863" r="60299" b="79554"/>
          <a:stretch xmlns:a="http://schemas.openxmlformats.org/drawingml/2006/main"/>
        </p:blipFill>
        <p:spPr>
          <a:xfrm xmlns:a="http://schemas.openxmlformats.org/drawingml/2006/main">
            <a:off x="417195" y="3269123"/>
            <a:ext cx="2627948" cy="788384"/>
          </a:xfrm>
          <a:prstGeom xmlns:a="http://schemas.openxmlformats.org/drawingml/2006/main" prst="rect">
            <a:avLst/>
          </a:prstGeom>
        </p:spPr>
      </p:pic>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8ac5f7687ca64354"/>
          <a:srcRect xmlns:a="http://schemas.openxmlformats.org/drawingml/2006/main" l="12569" t="20302" r="46013" b="63499"/>
          <a:stretch xmlns:a="http://schemas.openxmlformats.org/drawingml/2006/main"/>
        </p:blipFill>
        <p:spPr>
          <a:xfrm xmlns:a="http://schemas.openxmlformats.org/drawingml/2006/main">
            <a:off x="3273743" y="3268069"/>
            <a:ext cx="2627948" cy="790492"/>
          </a:xfrm>
          <a:prstGeom xmlns:a="http://schemas.openxmlformats.org/drawingml/2006/main" prst="rect">
            <a:avLst/>
          </a:prstGeom>
        </p:spPr>
      </p:pic>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3a1ce681d8564888"/>
          <a:srcRect xmlns:a="http://schemas.openxmlformats.org/drawingml/2006/main" l="12569" t="12070" r="46069" b="72026"/>
          <a:stretch xmlns:a="http://schemas.openxmlformats.org/drawingml/2006/main"/>
        </p:blipFill>
        <p:spPr>
          <a:xfrm xmlns:a="http://schemas.openxmlformats.org/drawingml/2006/main">
            <a:off x="6130290" y="3021280"/>
            <a:ext cx="2627948" cy="1284071"/>
          </a:xfrm>
          <a:prstGeom xmlns:a="http://schemas.openxmlformats.org/drawingml/2006/main" prst="rect">
            <a:avLst/>
          </a:prstGeom>
        </p:spPr>
      </p:pic>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1745536ec70648e9"/>
          <a:srcRect xmlns:a="http://schemas.openxmlformats.org/drawingml/2006/main" l="12569" t="21478" r="46013" b="56043"/>
          <a:stretch xmlns:a="http://schemas.openxmlformats.org/drawingml/2006/main"/>
        </p:blipFill>
        <p:spPr>
          <a:xfrm xmlns:a="http://schemas.openxmlformats.org/drawingml/2006/main">
            <a:off x="8986837" y="3150373"/>
            <a:ext cx="2627948" cy="1025883"/>
          </a:xfrm>
          <a:prstGeom xmlns:a="http://schemas.openxmlformats.org/drawingml/2006/main" prst="rect">
            <a:avLst/>
          </a:prstGeom>
        </p:spPr>
      </p:pic>
    </p:spTree>
    <p:extLst>
      <p:ext uri="{BB962C8B-B14F-4D97-AF65-F5344CB8AC3E}">
        <p14:creationId xmlns:p14="http://schemas.microsoft.com/office/powerpoint/2010/main" val="671940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graphicFrame>
        <p:nvGraphicFramePr>
          <p:cNvPr id="26" name="표 7"/>
          <p:cNvGraphicFramePr/>
          <p:nvPr/>
        </p:nvGraphicFramePr>
        <p:xfrm>
          <a:off xmlns:a="http://schemas.openxmlformats.org/drawingml/2006/main" x="302952" y="1933326"/>
          <a:ext xmlns:a="http://schemas.openxmlformats.org/drawingml/2006/main" cx="11426308" cy="4605842"/>
        </p:xfrm>
        <a:graphic xmlns:a="http://schemas.openxmlformats.org/drawingml/2006/main">
          <a:graphicData uri="http://schemas.openxmlformats.org/drawingml/2006/table">
            <a:tbl>
              <a:tblPr firstRow="1" bandRow="1">
                <a:tableStyleId>{5C22544A-7EE6-4342-B048-85BDC9FD1C3A}</a:tableStyleId>
              </a:tblPr>
              <a:tblGrid>
                <a:gridCol w="2856577"/>
                <a:gridCol w="2856577"/>
                <a:gridCol w="2856577"/>
                <a:gridCol w="2856577"/>
              </a:tblGrid>
              <a:tr h="327145">
                <a:tc gridSpan="4">
                  <a:txBody>
                    <a:bodyPr/>
                    <a:lstStyle/>
                    <a:p>
                      <a:pPr algn="ctr">
                        <a:buNone/>
                      </a:pPr>
                      <a:r>
                        <a:rPr>
                          <a:solidFill>
                            <a:schemeClr val="bg1"/>
                          </a:solidFill>
                        </a:rPr>
                        <a:t>기능</a:t>
                      </a:r>
                      <a:r>
                        <a:rPr>
                          <a:solidFill>
                            <a:schemeClr val="bg1"/>
                          </a:solidFill>
                        </a:rPr>
                        <a:t> </a:t>
                      </a:r>
                      <a:r>
                        <a:rPr>
                          <a:solidFill>
                            <a:schemeClr val="bg1"/>
                          </a:solidFill>
                        </a:rPr>
                        <a:t>흐름도</a:t>
                      </a:r>
                      <a:endParaRPr>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c hMerge="1">
                  <a:txBody>
                    <a:bodyPr/>
                    <a:lstStyle/>
                    <a:p>
                      <a:pPr algn="ctr">
                        <a:buNone/>
                      </a:pPr>
                      <a:endParaRPr>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c hMerge="1">
                  <a:txBody>
                    <a:bodyPr/>
                    <a:lstStyle/>
                    <a:p>
                      <a:pPr algn="ctr">
                        <a:buNone/>
                      </a:pPr>
                      <a:endParaRPr>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c hMerge="1">
                  <a:txBody>
                    <a:bodyPr/>
                    <a:lstStyle/>
                    <a:p>
                      <a:pPr algn="ctr">
                        <a:buNone/>
                      </a:pPr>
                      <a:endParaRPr>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r>
              <a:tr h="2806208">
                <a:tc>
                  <a:txBody>
                    <a:bodyPr/>
                    <a:lstStyle/>
                    <a:p>
                      <a:pPr marL="0" marR="0" lvl="0" indent="0" algn="ctr" defTabSz="914400">
                        <a:lnSpc>
                          <a:spcPct val="100000"/>
                        </a:lnSpc>
                        <a:spcBef>
                          <a:spcPts val="0"/>
                        </a:spcBef>
                        <a:spcAft>
                          <a:spcPts val="0"/>
                        </a:spcAft>
                        <a:buClrTx/>
                        <a:buSzTx/>
                        <a:buFontTx/>
                        <a:buNone/>
                      </a:pPr>
                      <a:r>
                        <a:rPr sz="1800" b="0">
                          <a:solidFill>
                            <a:srgbClr val="FF0000"/>
                          </a:solidFill>
                          <a:latin typeface="+mn-lt"/>
                          <a:ea typeface="+mn-lt"/>
                          <a:cs typeface="+mn-lt"/>
                        </a:rPr>
                        <a:t/>
                      </a:r>
                      <a:endParaRPr sz="1800" b="0">
                        <a:solidFill>
                          <a:srgbClr val="FF0000"/>
                        </a:solidFill>
                        <a:latin typeface="+mn-lt"/>
                        <a:ea typeface="+mn-lt"/>
                        <a:cs typeface="+mn-lt"/>
                      </a:endParaRPr>
                    </a:p>
                  </a:txBody>
                  <a:tcPr marL="152400" marR="15240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a:txBody>
                    <a:bodyPr/>
                    <a:lstStyle/>
                    <a:p>
                      <a:pPr marL="0" marR="0" lvl="0" indent="0" algn="ctr" defTabSz="914400">
                        <a:lnSpc>
                          <a:spcPct val="100000"/>
                        </a:lnSpc>
                        <a:spcBef>
                          <a:spcPts val="0"/>
                        </a:spcBef>
                        <a:spcAft>
                          <a:spcPts val="0"/>
                        </a:spcAft>
                        <a:buClrTx/>
                        <a:buSzTx/>
                        <a:buFontTx/>
                        <a:buNone/>
                      </a:pPr>
                      <a:r>
                        <a:rPr sz="1800" b="0">
                          <a:solidFill>
                            <a:srgbClr val="171717"/>
                          </a:solidFill>
                          <a:latin typeface="맑은 고딕"/>
                          <a:ea typeface="맑은 고딕"/>
                          <a:cs typeface="맑은 고딕"/>
                        </a:rPr>
                        <a:t/>
                      </a:r>
                      <a:endParaRPr b="0">
                        <a:solidFill>
                          <a:schemeClr val="tx1"/>
                        </a:solidFill>
                      </a:endParaRPr>
                    </a:p>
                  </a:txBody>
                  <a:tcPr marL="152400" marR="15240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a:txBody>
                    <a:bodyPr/>
                    <a:lstStyle/>
                    <a:p>
                      <a:pPr marL="0" marR="0" lvl="0" indent="0" algn="ctr" defTabSz="914400">
                        <a:lnSpc>
                          <a:spcPct val="100000"/>
                        </a:lnSpc>
                        <a:spcBef>
                          <a:spcPts val="0"/>
                        </a:spcBef>
                        <a:spcAft>
                          <a:spcPts val="0"/>
                        </a:spcAft>
                        <a:buClrTx/>
                        <a:buSzTx/>
                        <a:buFontTx/>
                        <a:buNone/>
                      </a:pPr>
                      <a:r>
                        <a:rPr sz="1800" b="0">
                          <a:solidFill>
                            <a:srgbClr val="171717"/>
                          </a:solidFill>
                          <a:latin typeface="맑은 고딕"/>
                          <a:ea typeface="맑은 고딕"/>
                          <a:cs typeface="맑은 고딕"/>
                        </a:rPr>
                        <a:t/>
                      </a:r>
                      <a:endParaRPr b="0">
                        <a:solidFill>
                          <a:schemeClr val="tx1"/>
                        </a:solidFill>
                      </a:endParaRPr>
                    </a:p>
                  </a:txBody>
                  <a:tcPr marL="152400" marR="15240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a:txBody>
                    <a:bodyPr/>
                    <a:lstStyle/>
                    <a:p>
                      <a:pPr marL="0" marR="0" lvl="0" indent="0" algn="ctr" defTabSz="914400">
                        <a:lnSpc>
                          <a:spcPct val="100000"/>
                        </a:lnSpc>
                        <a:spcBef>
                          <a:spcPts val="0"/>
                        </a:spcBef>
                        <a:spcAft>
                          <a:spcPts val="0"/>
                        </a:spcAft>
                        <a:buClrTx/>
                        <a:buSzTx/>
                        <a:buFontTx/>
                        <a:buNone/>
                      </a:pPr>
                      <a:r>
                        <a:rPr sz="1800" b="0">
                          <a:solidFill>
                            <a:srgbClr val="171717"/>
                          </a:solidFill>
                          <a:latin typeface="맑은 고딕"/>
                          <a:ea typeface="맑은 고딕"/>
                          <a:cs typeface="맑은 고딕"/>
                        </a:rPr>
                        <a:t/>
                      </a:r>
                      <a:endParaRPr b="0">
                        <a:solidFill>
                          <a:schemeClr val="tx1"/>
                        </a:solidFill>
                      </a:endParaRPr>
                    </a:p>
                  </a:txBody>
                  <a:tcPr marL="152400" marR="15240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1433874">
                <a:tc>
                  <a:txBody>
                    <a:bodyPr/>
                    <a:lstStyle/>
                    <a:p>
                      <a:pPr algn="l">
                        <a:spcBef>
                          <a:spcPts val="0"/>
                        </a:spcBef>
                        <a:spcAft>
                          <a:spcPts val="300"/>
                        </a:spcAft>
                      </a:pPr>
                      <a:r>
                        <a:rPr sz="1650" b="1">
                          <a:solidFill>
                            <a:srgbClr val="171717"/>
                          </a:solidFill>
                          <a:latin typeface="맑은 고딕"/>
                          <a:ea typeface="맑은 고딕"/>
                          <a:cs typeface="맑은 고딕"/>
                        </a:rPr>
                        <a:t>1. 해설 듣기·대본 읽기</a:t>
                      </a:r>
                    </a:p>
                    <a:p>
                      <a:pPr algn="l">
                        <a:spcAft>
                          <a:spcPts val="0"/>
                        </a:spcAft>
                      </a:pPr>
                      <a:r>
                        <a:rPr sz="1650" b="0">
                          <a:solidFill>
                            <a:srgbClr val="171717"/>
                          </a:solidFill>
                          <a:latin typeface="맑은 고딕"/>
                          <a:ea typeface="맑은 고딕"/>
                          <a:cs typeface="맑은 고딕"/>
                        </a:rPr>
                        <a:t>한국관광공사 오디의 백제 해설을 듣거나 대본으로 읽습니다.</a:t>
                      </a:r>
                    </a:p>
                  </a:txBody>
                  <a:tcPr marL="142875" marR="142875"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a:txBody>
                    <a:bodyPr/>
                    <a:lstStyle/>
                    <a:p>
                      <a:pPr algn="l">
                        <a:spcBef>
                          <a:spcPts val="0"/>
                        </a:spcBef>
                        <a:spcAft>
                          <a:spcPts val="300"/>
                        </a:spcAft>
                      </a:pPr>
                      <a:r>
                        <a:rPr sz="1650" b="1">
                          <a:solidFill>
                            <a:srgbClr val="171717"/>
                          </a:solidFill>
                          <a:latin typeface="맑은 고딕"/>
                          <a:ea typeface="맑은 고딕"/>
                          <a:cs typeface="맑은 고딕"/>
                        </a:rPr>
                        <a:t>2. 관광지 담기</a:t>
                      </a:r>
                    </a:p>
                    <a:p>
                      <a:pPr algn="l">
                        <a:spcAft>
                          <a:spcPts val="0"/>
                        </a:spcAft>
                      </a:pPr>
                      <a:r>
                        <a:rPr sz="1650" b="0">
                          <a:solidFill>
                            <a:srgbClr val="171717"/>
                          </a:solidFill>
                          <a:latin typeface="맑은 고딕"/>
                          <a:ea typeface="맑은 고딕"/>
                          <a:cs typeface="맑은 고딕"/>
                        </a:rPr>
                        <a:t>기록에 남길 관광지를 고르고, 방문 여부와 경로 단계를 체크합니다.</a:t>
                      </a:r>
                    </a:p>
                  </a:txBody>
                  <a:tcPr marL="142875" marR="142875"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a:txBody>
                    <a:bodyPr/>
                    <a:lstStyle/>
                    <a:p>
                      <a:pPr algn="l">
                        <a:spcBef>
                          <a:spcPts val="0"/>
                        </a:spcBef>
                        <a:spcAft>
                          <a:spcPts val="300"/>
                        </a:spcAft>
                      </a:pPr>
                      <a:r>
                        <a:rPr sz="1650" b="1">
                          <a:solidFill>
                            <a:srgbClr val="171717"/>
                          </a:solidFill>
                          <a:latin typeface="맑은 고딕"/>
                          <a:ea typeface="맑은 고딕"/>
                          <a:cs typeface="맑은 고딕"/>
                        </a:rPr>
                        <a:t>3. 메모 남기기</a:t>
                      </a:r>
                    </a:p>
                    <a:p>
                      <a:pPr algn="l">
                        <a:spcAft>
                          <a:spcPts val="0"/>
                        </a:spcAft>
                      </a:pPr>
                      <a:r>
                        <a:rPr sz="1650" b="0">
                          <a:solidFill>
                            <a:srgbClr val="171717"/>
                          </a:solidFill>
                          <a:latin typeface="맑은 고딕"/>
                          <a:ea typeface="맑은 고딕"/>
                          <a:cs typeface="맑은 고딕"/>
                        </a:rPr>
                        <a:t>기억할 내용과 이동 관련 메모를 적습니다. 기록은 브라우저에 보관합니다.</a:t>
                      </a:r>
                    </a:p>
                  </a:txBody>
                  <a:tcPr marL="142875" marR="142875"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a:txBody>
                    <a:bodyPr/>
                    <a:lstStyle/>
                    <a:p>
                      <a:pPr algn="l">
                        <a:spcBef>
                          <a:spcPts val="0"/>
                        </a:spcBef>
                        <a:spcAft>
                          <a:spcPts val="300"/>
                        </a:spcAft>
                      </a:pPr>
                      <a:r>
                        <a:rPr sz="1650" b="1">
                          <a:solidFill>
                            <a:srgbClr val="171717"/>
                          </a:solidFill>
                          <a:latin typeface="맑은 고딕"/>
                          <a:ea typeface="맑은 고딕"/>
                          <a:cs typeface="맑은 고딕"/>
                        </a:rPr>
                        <a:t>4. 인쇄물·파일로 보관</a:t>
                      </a:r>
                    </a:p>
                    <a:p>
                      <a:pPr algn="l">
                        <a:spcAft>
                          <a:spcPts val="0"/>
                        </a:spcAft>
                      </a:pPr>
                      <a:r>
                        <a:rPr sz="1650" b="0">
                          <a:solidFill>
                            <a:srgbClr val="171717"/>
                          </a:solidFill>
                          <a:latin typeface="맑은 고딕"/>
                          <a:ea typeface="맑은 고딕"/>
                          <a:cs typeface="맑은 고딕"/>
                        </a:rPr>
                        <a:t>인쇄 화면에서 PDF로 저장하거나 텍스트·GPX 파일로 내려받습니다.</a:t>
                      </a:r>
                    </a:p>
                  </a:txBody>
                  <a:tcPr marL="142875" marR="142875"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bl>
          </a:graphicData>
        </a:graphic>
      </p:graphicFrame>
      <p:graphicFrame>
        <p:nvGraphicFramePr>
          <p:cNvPr id="27" name="표 14"/>
          <p:cNvGraphicFramePr/>
          <p:nvPr/>
        </p:nvGraphicFramePr>
        <p:xfrm>
          <a:off xmlns:a="http://schemas.openxmlformats.org/drawingml/2006/main" x="302952" y="1130530"/>
          <a:ext xmlns:a="http://schemas.openxmlformats.org/drawingml/2006/main" cx="11426308" cy="731520"/>
        </p:xfrm>
        <a:graphic xmlns:a="http://schemas.openxmlformats.org/drawingml/2006/main">
          <a:graphicData uri="http://schemas.openxmlformats.org/drawingml/2006/table">
            <a:tbl>
              <a:tblPr firstRow="1" bandRow="1">
                <a:tableStyleId>{5C22544A-7EE6-4342-B048-85BDC9FD1C3A}</a:tableStyleId>
              </a:tblPr>
              <a:tblGrid>
                <a:gridCol w="1782764"/>
                <a:gridCol w="9643544"/>
              </a:tblGrid>
              <a:tr h="365760">
                <a:tc>
                  <a:txBody>
                    <a:bodyPr/>
                    <a:lstStyle/>
                    <a:p>
                      <a:pPr algn="ctr">
                        <a:buNone/>
                      </a:pPr>
                      <a:r>
                        <a:rPr sz="1800" b="1">
                          <a:solidFill>
                            <a:srgbClr val="FFFFFF"/>
                          </a:solidFill>
                          <a:latin typeface="맑은 고딕"/>
                          <a:ea typeface="맑은 고딕"/>
                          <a:cs typeface="맑은 고딕"/>
                        </a:rPr>
                        <a:t>핵심 기능 3</a:t>
                      </a:r>
                      <a:endParaRPr b="1">
                        <a:solidFill>
                          <a:schemeClr val="bg1"/>
                        </a:solidFill>
                      </a:endParaRPr>
                    </a:p>
                  </a:txBody>
                  <a:tcPr marL="38100" marR="38100" marT="28575" marB="285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A401"/>
                    </a:solidFill>
                  </a:tcPr>
                </a:tc>
                <a:tc>
                  <a:txBody>
                    <a:bodyPr/>
                    <a:lstStyle/>
                    <a:p>
                      <a:pPr algn="l">
                        <a:buNone/>
                      </a:pPr>
                      <a:r>
                        <a:rPr sz="1875" b="1">
                          <a:solidFill>
                            <a:srgbClr val="171717"/>
                          </a:solidFill>
                          <a:latin typeface="맑은 고딕"/>
                          <a:ea typeface="맑은 고딕"/>
                          <a:cs typeface="맑은 고딕"/>
                        </a:rPr>
                        <a:t>백제 해설과 여행 기록</a:t>
                      </a:r>
                      <a:endParaRPr b="0">
                        <a:solidFill>
                          <a:schemeClr val="tx1"/>
                        </a:solidFill>
                      </a:endParaRPr>
                    </a:p>
                  </a:txBody>
                  <a:tcPr marL="133350" marR="133350" marT="28575" marB="285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365760">
                <a:tc>
                  <a:txBody>
                    <a:bodyPr/>
                    <a:lstStyle/>
                    <a:p>
                      <a:pPr algn="ctr">
                        <a:buNone/>
                      </a:pPr>
                      <a:r>
                        <a:rPr sz="1800" b="1">
                          <a:solidFill>
                            <a:srgbClr val="FFFFFF"/>
                          </a:solidFill>
                          <a:latin typeface="맑은 고딕"/>
                          <a:ea typeface="맑은 고딕"/>
                          <a:cs typeface="맑은 고딕"/>
                        </a:rPr>
                        <a:t>기능 설명</a:t>
                      </a:r>
                      <a:endParaRPr b="1">
                        <a:solidFill>
                          <a:schemeClr val="bg1"/>
                        </a:solidFill>
                      </a:endParaRPr>
                    </a:p>
                  </a:txBody>
                  <a:tcPr marL="38100" marR="38100" marT="28575" marB="285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A401"/>
                    </a:solidFill>
                  </a:tcPr>
                </a:tc>
                <a:tc>
                  <a:txBody>
                    <a:bodyPr/>
                    <a:lstStyle/>
                    <a:p>
                      <a:pPr marL="0" marR="0" lvl="0" indent="0" algn="l" defTabSz="914400">
                        <a:lnSpc>
                          <a:spcPct val="100000"/>
                        </a:lnSpc>
                        <a:spcBef>
                          <a:spcPts val="0"/>
                        </a:spcBef>
                        <a:spcAft>
                          <a:spcPts val="0"/>
                        </a:spcAft>
                        <a:buClrTx/>
                        <a:buSzTx/>
                        <a:buFontTx/>
                        <a:buNone/>
                      </a:pPr>
                      <a:r>
                        <a:rPr sz="1725" b="0">
                          <a:solidFill>
                            <a:srgbClr val="171717"/>
                          </a:solidFill>
                          <a:latin typeface="맑은 고딕"/>
                          <a:ea typeface="맑은 고딕"/>
                          <a:cs typeface="맑은 고딕"/>
                        </a:rPr>
                        <a:t>오디 해설을 음성과 대본으로 제공하고, 장소와 메모를 여행 기록으로 남깁니다.</a:t>
                      </a:r>
                      <a:endParaRPr b="0">
                        <a:solidFill>
                          <a:schemeClr val="tx1"/>
                        </a:solidFill>
                      </a:endParaRPr>
                    </a:p>
                  </a:txBody>
                  <a:tcPr marL="133350" marR="133350" marT="28575" marB="285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bl>
          </a:graphicData>
        </a:graphic>
      </p:graphicFrame>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206899e613b44472"/>
          <a:srcRect xmlns:a="http://schemas.openxmlformats.org/drawingml/2006/main" l="18826" t="16915" r="19657" b="42703"/>
          <a:stretch xmlns:a="http://schemas.openxmlformats.org/drawingml/2006/main"/>
        </p:blipFill>
        <p:spPr>
          <a:xfrm xmlns:a="http://schemas.openxmlformats.org/drawingml/2006/main">
            <a:off x="417195" y="3087343"/>
            <a:ext cx="2627948" cy="1151945"/>
          </a:xfrm>
          <a:prstGeom xmlns:a="http://schemas.openxmlformats.org/drawingml/2006/main" prst="rect">
            <a:avLst/>
          </a:prstGeom>
        </p:spPr>
      </p:pic>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95d17e2c1cdf4767"/>
          <a:srcRect xmlns:a="http://schemas.openxmlformats.org/drawingml/2006/main" l="18826" t="46269" r="53378" b="41957"/>
          <a:stretch xmlns:a="http://schemas.openxmlformats.org/drawingml/2006/main"/>
        </p:blipFill>
        <p:spPr>
          <a:xfrm xmlns:a="http://schemas.openxmlformats.org/drawingml/2006/main">
            <a:off x="3273743" y="3291633"/>
            <a:ext cx="2627948" cy="743364"/>
          </a:xfrm>
          <a:prstGeom xmlns:a="http://schemas.openxmlformats.org/drawingml/2006/main" prst="rect">
            <a:avLst/>
          </a:prstGeom>
        </p:spPr>
      </p:pic>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323f2cb1d6d243a5"/>
          <a:srcRect xmlns:a="http://schemas.openxmlformats.org/drawingml/2006/main" l="19878" t="17496" r="54097" b="70481"/>
          <a:stretch xmlns:a="http://schemas.openxmlformats.org/drawingml/2006/main"/>
        </p:blipFill>
        <p:spPr>
          <a:xfrm xmlns:a="http://schemas.openxmlformats.org/drawingml/2006/main">
            <a:off x="6130290" y="3257940"/>
            <a:ext cx="2627948" cy="810750"/>
          </a:xfrm>
          <a:prstGeom xmlns:a="http://schemas.openxmlformats.org/drawingml/2006/main" prst="rect">
            <a:avLst/>
          </a:prstGeom>
        </p:spPr>
      </p:pic>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3daed8db26674f00"/>
          <a:srcRect xmlns:a="http://schemas.openxmlformats.org/drawingml/2006/main" l="12569" t="775" r="46013" b="58043"/>
          <a:stretch xmlns:a="http://schemas.openxmlformats.org/drawingml/2006/main"/>
        </p:blipFill>
        <p:spPr>
          <a:xfrm xmlns:a="http://schemas.openxmlformats.org/drawingml/2006/main">
            <a:off x="9166727" y="2374583"/>
            <a:ext cx="2268169" cy="2577465"/>
          </a:xfrm>
          <a:prstGeom xmlns:a="http://schemas.openxmlformats.org/drawingml/2006/main" prst="rect">
            <a:avLst/>
          </a:prstGeom>
        </p:spPr>
      </p:pic>
    </p:spTree>
    <p:extLst>
      <p:ext uri="{BB962C8B-B14F-4D97-AF65-F5344CB8AC3E}">
        <p14:creationId xmlns:p14="http://schemas.microsoft.com/office/powerpoint/2010/main" val="671940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graphicFrame>
        <p:nvGraphicFramePr>
          <p:cNvPr id="27" name="표 7"/>
          <p:cNvGraphicFramePr/>
          <p:nvPr/>
        </p:nvGraphicFramePr>
        <p:xfrm>
          <a:off xmlns:a="http://schemas.openxmlformats.org/drawingml/2006/main" x="302952" y="1933326"/>
          <a:ext xmlns:a="http://schemas.openxmlformats.org/drawingml/2006/main" cx="11426308" cy="4605842"/>
        </p:xfrm>
        <a:graphic xmlns:a="http://schemas.openxmlformats.org/drawingml/2006/main">
          <a:graphicData uri="http://schemas.openxmlformats.org/drawingml/2006/table">
            <a:tbl>
              <a:tblPr firstRow="1" bandRow="1">
                <a:tableStyleId>{5C22544A-7EE6-4342-B048-85BDC9FD1C3A}</a:tableStyleId>
              </a:tblPr>
              <a:tblGrid>
                <a:gridCol w="2856577"/>
                <a:gridCol w="2856577"/>
                <a:gridCol w="2856577"/>
                <a:gridCol w="2856577"/>
              </a:tblGrid>
              <a:tr h="327145">
                <a:tc gridSpan="4">
                  <a:txBody>
                    <a:bodyPr/>
                    <a:lstStyle/>
                    <a:p>
                      <a:pPr algn="ctr">
                        <a:buNone/>
                      </a:pPr>
                      <a:r>
                        <a:rPr>
                          <a:solidFill>
                            <a:schemeClr val="bg1"/>
                          </a:solidFill>
                        </a:rPr>
                        <a:t>기능</a:t>
                      </a:r>
                      <a:r>
                        <a:rPr>
                          <a:solidFill>
                            <a:schemeClr val="bg1"/>
                          </a:solidFill>
                        </a:rPr>
                        <a:t> </a:t>
                      </a:r>
                      <a:r>
                        <a:rPr>
                          <a:solidFill>
                            <a:schemeClr val="bg1"/>
                          </a:solidFill>
                        </a:rPr>
                        <a:t>흐름도</a:t>
                      </a:r>
                      <a:endParaRPr>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c hMerge="1">
                  <a:txBody>
                    <a:bodyPr/>
                    <a:lstStyle/>
                    <a:p>
                      <a:pPr algn="ctr">
                        <a:buNone/>
                      </a:pPr>
                      <a:endParaRPr>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c hMerge="1">
                  <a:txBody>
                    <a:bodyPr/>
                    <a:lstStyle/>
                    <a:p>
                      <a:pPr algn="ctr">
                        <a:buNone/>
                      </a:pPr>
                      <a:endParaRPr>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c hMerge="1">
                  <a:txBody>
                    <a:bodyPr/>
                    <a:lstStyle/>
                    <a:p>
                      <a:pPr algn="ctr">
                        <a:buNone/>
                      </a:pPr>
                      <a:endParaRPr>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r>
              <a:tr h="2806208">
                <a:tc>
                  <a:txBody>
                    <a:bodyPr/>
                    <a:lstStyle/>
                    <a:p>
                      <a:pPr marL="0" marR="0" lvl="0" indent="0" algn="ctr" defTabSz="914400">
                        <a:lnSpc>
                          <a:spcPct val="100000"/>
                        </a:lnSpc>
                        <a:spcBef>
                          <a:spcPts val="0"/>
                        </a:spcBef>
                        <a:spcAft>
                          <a:spcPts val="0"/>
                        </a:spcAft>
                        <a:buClrTx/>
                        <a:buSzTx/>
                        <a:buFontTx/>
                        <a:buNone/>
                      </a:pPr>
                      <a:r>
                        <a:rPr sz="1800" b="0">
                          <a:solidFill>
                            <a:srgbClr val="FF0000"/>
                          </a:solidFill>
                          <a:latin typeface="+mn-lt"/>
                          <a:ea typeface="+mn-lt"/>
                          <a:cs typeface="+mn-lt"/>
                        </a:rPr>
                        <a:t/>
                      </a:r>
                      <a:endParaRPr sz="1800" b="0">
                        <a:solidFill>
                          <a:srgbClr val="FF0000"/>
                        </a:solidFill>
                        <a:latin typeface="+mn-lt"/>
                        <a:ea typeface="+mn-lt"/>
                        <a:cs typeface="+mn-lt"/>
                      </a:endParaRPr>
                    </a:p>
                  </a:txBody>
                  <a:tcPr marL="152400" marR="15240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a:txBody>
                    <a:bodyPr/>
                    <a:lstStyle/>
                    <a:p>
                      <a:pPr marL="0" marR="0" lvl="0" indent="0" algn="ctr" defTabSz="914400">
                        <a:lnSpc>
                          <a:spcPct val="100000"/>
                        </a:lnSpc>
                        <a:spcBef>
                          <a:spcPts val="0"/>
                        </a:spcBef>
                        <a:spcAft>
                          <a:spcPts val="0"/>
                        </a:spcAft>
                        <a:buClrTx/>
                        <a:buSzTx/>
                        <a:buFontTx/>
                        <a:buNone/>
                      </a:pPr>
                      <a:r>
                        <a:rPr sz="1800" b="0">
                          <a:solidFill>
                            <a:srgbClr val="171717"/>
                          </a:solidFill>
                          <a:latin typeface="맑은 고딕"/>
                          <a:ea typeface="맑은 고딕"/>
                          <a:cs typeface="맑은 고딕"/>
                        </a:rPr>
                        <a:t/>
                      </a:r>
                      <a:endParaRPr b="0">
                        <a:solidFill>
                          <a:schemeClr val="tx1"/>
                        </a:solidFill>
                      </a:endParaRPr>
                    </a:p>
                  </a:txBody>
                  <a:tcPr marL="152400" marR="15240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a:txBody>
                    <a:bodyPr/>
                    <a:lstStyle/>
                    <a:p>
                      <a:pPr marL="0" marR="0" lvl="0" indent="0" algn="ctr" defTabSz="914400">
                        <a:lnSpc>
                          <a:spcPct val="100000"/>
                        </a:lnSpc>
                        <a:spcBef>
                          <a:spcPts val="0"/>
                        </a:spcBef>
                        <a:spcAft>
                          <a:spcPts val="0"/>
                        </a:spcAft>
                        <a:buClrTx/>
                        <a:buSzTx/>
                        <a:buFontTx/>
                        <a:buNone/>
                      </a:pPr>
                      <a:r>
                        <a:rPr sz="1800" b="0">
                          <a:solidFill>
                            <a:srgbClr val="171717"/>
                          </a:solidFill>
                          <a:latin typeface="맑은 고딕"/>
                          <a:ea typeface="맑은 고딕"/>
                          <a:cs typeface="맑은 고딕"/>
                        </a:rPr>
                        <a:t/>
                      </a:r>
                      <a:endParaRPr b="0">
                        <a:solidFill>
                          <a:schemeClr val="tx1"/>
                        </a:solidFill>
                      </a:endParaRPr>
                    </a:p>
                  </a:txBody>
                  <a:tcPr marL="152400" marR="15240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a:txBody>
                    <a:bodyPr/>
                    <a:lstStyle/>
                    <a:p>
                      <a:pPr marL="0" marR="0" lvl="0" indent="0" algn="ctr" defTabSz="914400">
                        <a:lnSpc>
                          <a:spcPct val="100000"/>
                        </a:lnSpc>
                        <a:spcBef>
                          <a:spcPts val="0"/>
                        </a:spcBef>
                        <a:spcAft>
                          <a:spcPts val="0"/>
                        </a:spcAft>
                        <a:buClrTx/>
                        <a:buSzTx/>
                        <a:buFontTx/>
                        <a:buNone/>
                      </a:pPr>
                      <a:r>
                        <a:rPr sz="1800" b="0">
                          <a:solidFill>
                            <a:srgbClr val="171717"/>
                          </a:solidFill>
                          <a:latin typeface="맑은 고딕"/>
                          <a:ea typeface="맑은 고딕"/>
                          <a:cs typeface="맑은 고딕"/>
                        </a:rPr>
                        <a:t/>
                      </a:r>
                      <a:endParaRPr b="0">
                        <a:solidFill>
                          <a:schemeClr val="tx1"/>
                        </a:solidFill>
                      </a:endParaRPr>
                    </a:p>
                  </a:txBody>
                  <a:tcPr marL="152400" marR="15240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1433874">
                <a:tc>
                  <a:txBody>
                    <a:bodyPr/>
                    <a:lstStyle/>
                    <a:p>
                      <a:pPr algn="l">
                        <a:spcBef>
                          <a:spcPts val="0"/>
                        </a:spcBef>
                        <a:spcAft>
                          <a:spcPts val="300"/>
                        </a:spcAft>
                      </a:pPr>
                      <a:r>
                        <a:rPr sz="1650" b="1">
                          <a:solidFill>
                            <a:srgbClr val="171717"/>
                          </a:solidFill>
                          <a:latin typeface="맑은 고딕"/>
                          <a:ea typeface="맑은 고딕"/>
                          <a:cs typeface="맑은 고딕"/>
                        </a:rPr>
                        <a:t>1. 관광지에서 제보 진입</a:t>
                      </a:r>
                    </a:p>
                    <a:p>
                      <a:pPr algn="l">
                        <a:spcAft>
                          <a:spcPts val="0"/>
                        </a:spcAft>
                      </a:pPr>
                      <a:r>
                        <a:rPr sz="1650" b="0">
                          <a:solidFill>
                            <a:srgbClr val="171717"/>
                          </a:solidFill>
                          <a:latin typeface="맑은 고딕"/>
                          <a:ea typeface="맑은 고딕"/>
                          <a:cs typeface="맑은 고딕"/>
                        </a:rPr>
                        <a:t>관광지 상세의 ‘제보하기’로 해당 장소의 양식을 엽니다.</a:t>
                      </a:r>
                    </a:p>
                  </a:txBody>
                  <a:tcPr marL="142875" marR="142875"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a:txBody>
                    <a:bodyPr/>
                    <a:lstStyle/>
                    <a:p>
                      <a:pPr algn="l">
                        <a:spcBef>
                          <a:spcPts val="0"/>
                        </a:spcBef>
                        <a:spcAft>
                          <a:spcPts val="300"/>
                        </a:spcAft>
                      </a:pPr>
                      <a:r>
                        <a:rPr sz="1650" b="1">
                          <a:solidFill>
                            <a:srgbClr val="171717"/>
                          </a:solidFill>
                          <a:latin typeface="맑은 고딕"/>
                          <a:ea typeface="맑은 고딕"/>
                          <a:cs typeface="맑은 고딕"/>
                        </a:rPr>
                        <a:t>2. 상황과 목격일 입력</a:t>
                      </a:r>
                    </a:p>
                    <a:p>
                      <a:pPr algn="l">
                        <a:spcAft>
                          <a:spcPts val="0"/>
                        </a:spcAft>
                      </a:pPr>
                      <a:r>
                        <a:rPr sz="1650" b="0">
                          <a:solidFill>
                            <a:srgbClr val="171717"/>
                          </a:solidFill>
                          <a:latin typeface="맑은 고딕"/>
                          <a:ea typeface="맑은 고딕"/>
                          <a:cs typeface="맑은 고딕"/>
                        </a:rPr>
                        <a:t>경사로 막힘·공사 등 유형과 목격 날짜, 필요한 설명을 적습니다.</a:t>
                      </a:r>
                    </a:p>
                  </a:txBody>
                  <a:tcPr marL="142875" marR="142875"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a:txBody>
                    <a:bodyPr/>
                    <a:lstStyle/>
                    <a:p>
                      <a:pPr algn="l">
                        <a:spcBef>
                          <a:spcPts val="0"/>
                        </a:spcBef>
                        <a:spcAft>
                          <a:spcPts val="300"/>
                        </a:spcAft>
                      </a:pPr>
                      <a:r>
                        <a:rPr sz="1650" b="1">
                          <a:solidFill>
                            <a:srgbClr val="171717"/>
                          </a:solidFill>
                          <a:latin typeface="맑은 고딕"/>
                          <a:ea typeface="맑은 고딕"/>
                          <a:cs typeface="맑은 고딕"/>
                        </a:rPr>
                        <a:t>3. 공개 방식 확인</a:t>
                      </a:r>
                    </a:p>
                    <a:p>
                      <a:pPr algn="l">
                        <a:spcAft>
                          <a:spcPts val="0"/>
                        </a:spcAft>
                      </a:pPr>
                      <a:r>
                        <a:rPr sz="1650" b="0">
                          <a:solidFill>
                            <a:srgbClr val="171717"/>
                          </a:solidFill>
                          <a:latin typeface="맑은 고딕"/>
                          <a:ea typeface="맑은 고딕"/>
                          <a:cs typeface="맑은 고딕"/>
                        </a:rPr>
                        <a:t>즉시 공개된다는 안내를 읽고 동의한 뒤 등록합니다.</a:t>
                      </a:r>
                    </a:p>
                  </a:txBody>
                  <a:tcPr marL="142875" marR="142875"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a:txBody>
                    <a:bodyPr/>
                    <a:lstStyle/>
                    <a:p>
                      <a:pPr algn="l">
                        <a:spcBef>
                          <a:spcPts val="0"/>
                        </a:spcBef>
                        <a:spcAft>
                          <a:spcPts val="300"/>
                        </a:spcAft>
                      </a:pPr>
                      <a:r>
                        <a:rPr sz="1650" b="1">
                          <a:solidFill>
                            <a:srgbClr val="171717"/>
                          </a:solidFill>
                          <a:latin typeface="맑은 고딕"/>
                          <a:ea typeface="맑은 고딕"/>
                          <a:cs typeface="맑은 고딕"/>
                        </a:rPr>
                        <a:t>4. 확인된 정보와 구분</a:t>
                      </a:r>
                    </a:p>
                    <a:p>
                      <a:pPr algn="l">
                        <a:spcAft>
                          <a:spcPts val="0"/>
                        </a:spcAft>
                      </a:pPr>
                      <a:r>
                        <a:rPr sz="1650" b="0">
                          <a:solidFill>
                            <a:srgbClr val="171717"/>
                          </a:solidFill>
                          <a:latin typeface="맑은 고딕"/>
                          <a:ea typeface="맑은 고딕"/>
                          <a:cs typeface="맑은 고딕"/>
                        </a:rPr>
                        <a:t>방문자 제보 영역에 표시합니다. 판정에는 넣지 않으며 신고 후 관리합니다.</a:t>
                      </a:r>
                    </a:p>
                  </a:txBody>
                  <a:tcPr marL="142875" marR="142875"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bl>
          </a:graphicData>
        </a:graphic>
      </p:graphicFrame>
      <p:graphicFrame>
        <p:nvGraphicFramePr>
          <p:cNvPr id="28" name="표 14"/>
          <p:cNvGraphicFramePr/>
          <p:nvPr/>
        </p:nvGraphicFramePr>
        <p:xfrm>
          <a:off xmlns:a="http://schemas.openxmlformats.org/drawingml/2006/main" x="302952" y="1130530"/>
          <a:ext xmlns:a="http://schemas.openxmlformats.org/drawingml/2006/main" cx="11426308" cy="731520"/>
        </p:xfrm>
        <a:graphic xmlns:a="http://schemas.openxmlformats.org/drawingml/2006/main">
          <a:graphicData uri="http://schemas.openxmlformats.org/drawingml/2006/table">
            <a:tbl>
              <a:tblPr firstRow="1" bandRow="1">
                <a:tableStyleId>{5C22544A-7EE6-4342-B048-85BDC9FD1C3A}</a:tableStyleId>
              </a:tblPr>
              <a:tblGrid>
                <a:gridCol w="1782764"/>
                <a:gridCol w="9643544"/>
              </a:tblGrid>
              <a:tr h="365760">
                <a:tc>
                  <a:txBody>
                    <a:bodyPr/>
                    <a:lstStyle/>
                    <a:p>
                      <a:pPr algn="ctr">
                        <a:buNone/>
                      </a:pPr>
                      <a:r>
                        <a:rPr sz="1800" b="1">
                          <a:solidFill>
                            <a:srgbClr val="FFFFFF"/>
                          </a:solidFill>
                          <a:latin typeface="맑은 고딕"/>
                          <a:ea typeface="맑은 고딕"/>
                          <a:cs typeface="맑은 고딕"/>
                        </a:rPr>
                        <a:t>핵심 기능 4</a:t>
                      </a:r>
                      <a:endParaRPr b="1">
                        <a:solidFill>
                          <a:schemeClr val="bg1"/>
                        </a:solidFill>
                      </a:endParaRPr>
                    </a:p>
                  </a:txBody>
                  <a:tcPr marL="38100" marR="38100" marT="28575" marB="285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A401"/>
                    </a:solidFill>
                  </a:tcPr>
                </a:tc>
                <a:tc>
                  <a:txBody>
                    <a:bodyPr/>
                    <a:lstStyle/>
                    <a:p>
                      <a:pPr algn="l">
                        <a:buNone/>
                      </a:pPr>
                      <a:r>
                        <a:rPr sz="1875" b="1">
                          <a:solidFill>
                            <a:srgbClr val="171717"/>
                          </a:solidFill>
                          <a:latin typeface="맑은 고딕"/>
                          <a:ea typeface="맑은 고딕"/>
                          <a:cs typeface="맑은 고딕"/>
                        </a:rPr>
                        <a:t>현장 상황 제보</a:t>
                      </a:r>
                      <a:endParaRPr b="0">
                        <a:solidFill>
                          <a:schemeClr val="tx1"/>
                        </a:solidFill>
                      </a:endParaRPr>
                    </a:p>
                  </a:txBody>
                  <a:tcPr marL="133350" marR="133350" marT="28575" marB="285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365760">
                <a:tc>
                  <a:txBody>
                    <a:bodyPr/>
                    <a:lstStyle/>
                    <a:p>
                      <a:pPr algn="ctr">
                        <a:buNone/>
                      </a:pPr>
                      <a:r>
                        <a:rPr sz="1800" b="1">
                          <a:solidFill>
                            <a:srgbClr val="FFFFFF"/>
                          </a:solidFill>
                          <a:latin typeface="맑은 고딕"/>
                          <a:ea typeface="맑은 고딕"/>
                          <a:cs typeface="맑은 고딕"/>
                        </a:rPr>
                        <a:t>기능 설명</a:t>
                      </a:r>
                      <a:endParaRPr b="1">
                        <a:solidFill>
                          <a:schemeClr val="bg1"/>
                        </a:solidFill>
                      </a:endParaRPr>
                    </a:p>
                  </a:txBody>
                  <a:tcPr marL="38100" marR="38100" marT="28575" marB="285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A401"/>
                    </a:solidFill>
                  </a:tcPr>
                </a:tc>
                <a:tc>
                  <a:txBody>
                    <a:bodyPr/>
                    <a:lstStyle/>
                    <a:p>
                      <a:pPr marL="0" marR="0" lvl="0" indent="0" algn="l" defTabSz="914400">
                        <a:lnSpc>
                          <a:spcPct val="100000"/>
                        </a:lnSpc>
                        <a:spcBef>
                          <a:spcPts val="0"/>
                        </a:spcBef>
                        <a:spcAft>
                          <a:spcPts val="0"/>
                        </a:spcAft>
                        <a:buClrTx/>
                        <a:buSzTx/>
                        <a:buFontTx/>
                        <a:buNone/>
                      </a:pPr>
                      <a:r>
                        <a:rPr sz="1725" b="0">
                          <a:solidFill>
                            <a:srgbClr val="171717"/>
                          </a:solidFill>
                          <a:latin typeface="맑은 고딕"/>
                          <a:ea typeface="맑은 고딕"/>
                          <a:cs typeface="맑은 고딕"/>
                        </a:rPr>
                        <a:t>방문자가 본 현장 상황을 공유하며, 제보를 확인된 무장애 정보와 구분합니다.</a:t>
                      </a:r>
                      <a:endParaRPr b="0">
                        <a:solidFill>
                          <a:schemeClr val="tx1"/>
                        </a:solidFill>
                      </a:endParaRPr>
                    </a:p>
                  </a:txBody>
                  <a:tcPr marL="133350" marR="133350" marT="28575" marB="285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bl>
          </a:graphicData>
        </a:graphic>
      </p:graphicFrame>
      <p:sp>
        <p:nvSpPr>
          <p:cNvPr id="22" name="">
            <a:extLst xmlns:a="http://schemas.openxmlformats.org/drawingml/2006/main">
              <a:ext uri="{FF2B5EF4-FFF2-40B4-BE49-F238E27FC236}">
                <a16:creationId xmlns:a16="http://schemas.microsoft.com/office/drawing/2014/main" id="{0062EC6B-937E-4C0F-BEA2-7680A8DB8FBB}"/>
              </a:ext>
            </a:extLst>
          </p:cNvPr>
          <p:cNvSpPr>
            <a:spLocks xmlns:a="http://schemas.openxmlformats.org/drawingml/2006/main" noGrp="1"/>
          </p:cNvSpPr>
          <p:nvPr/>
        </p:nvSpPr>
        <p:spPr>
          <a:xfrm xmlns:a="http://schemas.openxmlformats.org/drawingml/2006/main">
            <a:off x="628650" y="2857500"/>
            <a:ext cx="2190750" cy="2952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defRPr sz="1575" b="1">
                <a:solidFill>
                  <a:srgbClr val="171717"/>
                </a:solidFill>
                <a:latin typeface="맑은 고딕"/>
                <a:ea typeface="맑은 고딕"/>
                <a:cs typeface="맑은 고딕"/>
              </a:defRPr>
            </a:pPr>
            <a:r>
              <a:rPr sz="1575" b="1">
                <a:solidFill>
                  <a:srgbClr val="171717"/>
                </a:solidFill>
                <a:latin typeface="맑은 고딕"/>
                <a:ea typeface="맑은 고딕"/>
                <a:cs typeface="맑은 고딕"/>
              </a:rPr>
              <a:t>관광지 상세에서</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f9796a79ae7b436d"/>
          <a:srcRect xmlns:a="http://schemas.openxmlformats.org/drawingml/2006/main" l="35604" t="70978" r="58306" b="23715"/>
          <a:stretch xmlns:a="http://schemas.openxmlformats.org/drawingml/2006/main"/>
        </p:blipFill>
        <p:spPr>
          <a:xfrm xmlns:a="http://schemas.openxmlformats.org/drawingml/2006/main">
            <a:off x="914995" y="3390900"/>
            <a:ext cx="1637109" cy="952500"/>
          </a:xfrm>
          <a:prstGeom xmlns:a="http://schemas.openxmlformats.org/drawingml/2006/main" prst="rect">
            <a:avLst/>
          </a:prstGeom>
        </p:spPr>
      </p:pic>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61b28c9b0832409b"/>
          <a:srcRect xmlns:a="http://schemas.openxmlformats.org/drawingml/2006/main" l="12569" t="13352" r="61960" b="61364"/>
          <a:stretch xmlns:a="http://schemas.openxmlformats.org/drawingml/2006/main"/>
        </p:blipFill>
        <p:spPr>
          <a:xfrm xmlns:a="http://schemas.openxmlformats.org/drawingml/2006/main">
            <a:off x="3273743" y="2392188"/>
            <a:ext cx="2627948" cy="2542254"/>
          </a:xfrm>
          <a:prstGeom xmlns:a="http://schemas.openxmlformats.org/drawingml/2006/main" prst="rect">
            <a:avLst/>
          </a:prstGeom>
        </p:spPr>
      </p:pic>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c4442208d95c4a77"/>
          <a:srcRect xmlns:a="http://schemas.openxmlformats.org/drawingml/2006/main" l="12569" t="40114" r="61960" b="45739"/>
          <a:stretch xmlns:a="http://schemas.openxmlformats.org/drawingml/2006/main"/>
        </p:blipFill>
        <p:spPr>
          <a:xfrm xmlns:a="http://schemas.openxmlformats.org/drawingml/2006/main">
            <a:off x="6130290" y="2952055"/>
            <a:ext cx="2627948" cy="1422519"/>
          </a:xfrm>
          <a:prstGeom xmlns:a="http://schemas.openxmlformats.org/drawingml/2006/main" prst="rect">
            <a:avLst/>
          </a:prstGeom>
        </p:spPr>
      </p:pic>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04f0edbbc7314661"/>
          <a:srcRect xmlns:a="http://schemas.openxmlformats.org/drawingml/2006/main" l="42414" t="7670" r="45515" b="81420"/>
          <a:stretch xmlns:a="http://schemas.openxmlformats.org/drawingml/2006/main"/>
        </p:blipFill>
        <p:spPr>
          <a:xfrm xmlns:a="http://schemas.openxmlformats.org/drawingml/2006/main">
            <a:off x="8986837" y="2506054"/>
            <a:ext cx="2627948" cy="2314523"/>
          </a:xfrm>
          <a:prstGeom xmlns:a="http://schemas.openxmlformats.org/drawingml/2006/main" prst="rect">
            <a:avLst/>
          </a:prstGeom>
        </p:spPr>
      </p:pic>
    </p:spTree>
    <p:extLst>
      <p:ext uri="{BB962C8B-B14F-4D97-AF65-F5344CB8AC3E}">
        <p14:creationId xmlns:p14="http://schemas.microsoft.com/office/powerpoint/2010/main" val="671940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graphicFrame>
        <p:nvGraphicFramePr>
          <p:cNvPr id="26" name="표 7"/>
          <p:cNvGraphicFramePr/>
          <p:nvPr/>
        </p:nvGraphicFramePr>
        <p:xfrm>
          <a:off xmlns:a="http://schemas.openxmlformats.org/drawingml/2006/main" x="302952" y="1933326"/>
          <a:ext xmlns:a="http://schemas.openxmlformats.org/drawingml/2006/main" cx="11426308" cy="4605842"/>
        </p:xfrm>
        <a:graphic xmlns:a="http://schemas.openxmlformats.org/drawingml/2006/main">
          <a:graphicData uri="http://schemas.openxmlformats.org/drawingml/2006/table">
            <a:tbl>
              <a:tblPr firstRow="1" bandRow="1">
                <a:tableStyleId>{5C22544A-7EE6-4342-B048-85BDC9FD1C3A}</a:tableStyleId>
              </a:tblPr>
              <a:tblGrid>
                <a:gridCol w="2856577"/>
                <a:gridCol w="2856577"/>
                <a:gridCol w="2856577"/>
                <a:gridCol w="2856577"/>
              </a:tblGrid>
              <a:tr h="327145">
                <a:tc gridSpan="4">
                  <a:txBody>
                    <a:bodyPr/>
                    <a:lstStyle/>
                    <a:p>
                      <a:pPr algn="ctr">
                        <a:buNone/>
                      </a:pPr>
                      <a:r>
                        <a:rPr>
                          <a:solidFill>
                            <a:schemeClr val="bg1"/>
                          </a:solidFill>
                        </a:rPr>
                        <a:t>기능</a:t>
                      </a:r>
                      <a:r>
                        <a:rPr>
                          <a:solidFill>
                            <a:schemeClr val="bg1"/>
                          </a:solidFill>
                        </a:rPr>
                        <a:t> </a:t>
                      </a:r>
                      <a:r>
                        <a:rPr>
                          <a:solidFill>
                            <a:schemeClr val="bg1"/>
                          </a:solidFill>
                        </a:rPr>
                        <a:t>흐름도</a:t>
                      </a:r>
                      <a:endParaRPr>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c hMerge="1">
                  <a:txBody>
                    <a:bodyPr/>
                    <a:lstStyle/>
                    <a:p>
                      <a:pPr algn="ctr">
                        <a:buNone/>
                      </a:pPr>
                      <a:endParaRPr>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c hMerge="1">
                  <a:txBody>
                    <a:bodyPr/>
                    <a:lstStyle/>
                    <a:p>
                      <a:pPr algn="ctr">
                        <a:buNone/>
                      </a:pPr>
                      <a:endParaRPr>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c hMerge="1">
                  <a:txBody>
                    <a:bodyPr/>
                    <a:lstStyle/>
                    <a:p>
                      <a:pPr algn="ctr">
                        <a:buNone/>
                      </a:pPr>
                      <a:endParaRPr>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r>
              <a:tr h="2806208">
                <a:tc>
                  <a:txBody>
                    <a:bodyPr/>
                    <a:lstStyle/>
                    <a:p>
                      <a:pPr marL="0" marR="0" lvl="0" indent="0" algn="ctr" defTabSz="914400">
                        <a:lnSpc>
                          <a:spcPct val="100000"/>
                        </a:lnSpc>
                        <a:spcBef>
                          <a:spcPts val="0"/>
                        </a:spcBef>
                        <a:spcAft>
                          <a:spcPts val="0"/>
                        </a:spcAft>
                        <a:buClrTx/>
                        <a:buSzTx/>
                        <a:buFontTx/>
                        <a:buNone/>
                      </a:pPr>
                      <a:r>
                        <a:rPr sz="1800" b="0">
                          <a:solidFill>
                            <a:srgbClr val="FF0000"/>
                          </a:solidFill>
                          <a:latin typeface="+mn-lt"/>
                          <a:ea typeface="+mn-lt"/>
                          <a:cs typeface="+mn-lt"/>
                        </a:rPr>
                        <a:t/>
                      </a:r>
                      <a:endParaRPr sz="1800" b="0">
                        <a:solidFill>
                          <a:srgbClr val="FF0000"/>
                        </a:solidFill>
                        <a:latin typeface="+mn-lt"/>
                        <a:ea typeface="+mn-lt"/>
                        <a:cs typeface="+mn-lt"/>
                      </a:endParaRPr>
                    </a:p>
                  </a:txBody>
                  <a:tcPr marL="152400" marR="15240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a:txBody>
                    <a:bodyPr/>
                    <a:lstStyle/>
                    <a:p>
                      <a:pPr marL="0" marR="0" lvl="0" indent="0" algn="ctr" defTabSz="914400">
                        <a:lnSpc>
                          <a:spcPct val="100000"/>
                        </a:lnSpc>
                        <a:spcBef>
                          <a:spcPts val="0"/>
                        </a:spcBef>
                        <a:spcAft>
                          <a:spcPts val="0"/>
                        </a:spcAft>
                        <a:buClrTx/>
                        <a:buSzTx/>
                        <a:buFontTx/>
                        <a:buNone/>
                      </a:pPr>
                      <a:r>
                        <a:rPr sz="1800" b="0">
                          <a:solidFill>
                            <a:srgbClr val="171717"/>
                          </a:solidFill>
                          <a:latin typeface="맑은 고딕"/>
                          <a:ea typeface="맑은 고딕"/>
                          <a:cs typeface="맑은 고딕"/>
                        </a:rPr>
                        <a:t/>
                      </a:r>
                      <a:endParaRPr b="0">
                        <a:solidFill>
                          <a:schemeClr val="tx1"/>
                        </a:solidFill>
                      </a:endParaRPr>
                    </a:p>
                  </a:txBody>
                  <a:tcPr marL="152400" marR="15240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a:txBody>
                    <a:bodyPr/>
                    <a:lstStyle/>
                    <a:p>
                      <a:pPr marL="0" marR="0" lvl="0" indent="0" algn="ctr" defTabSz="914400">
                        <a:lnSpc>
                          <a:spcPct val="100000"/>
                        </a:lnSpc>
                        <a:spcBef>
                          <a:spcPts val="0"/>
                        </a:spcBef>
                        <a:spcAft>
                          <a:spcPts val="0"/>
                        </a:spcAft>
                        <a:buClrTx/>
                        <a:buSzTx/>
                        <a:buFontTx/>
                        <a:buNone/>
                      </a:pPr>
                      <a:r>
                        <a:rPr sz="1800" b="0">
                          <a:solidFill>
                            <a:srgbClr val="171717"/>
                          </a:solidFill>
                          <a:latin typeface="맑은 고딕"/>
                          <a:ea typeface="맑은 고딕"/>
                          <a:cs typeface="맑은 고딕"/>
                        </a:rPr>
                        <a:t/>
                      </a:r>
                      <a:endParaRPr b="0">
                        <a:solidFill>
                          <a:schemeClr val="tx1"/>
                        </a:solidFill>
                      </a:endParaRPr>
                    </a:p>
                  </a:txBody>
                  <a:tcPr marL="152400" marR="15240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a:txBody>
                    <a:bodyPr/>
                    <a:lstStyle/>
                    <a:p>
                      <a:pPr marL="0" marR="0" lvl="0" indent="0" algn="ctr" defTabSz="914400">
                        <a:lnSpc>
                          <a:spcPct val="100000"/>
                        </a:lnSpc>
                        <a:spcBef>
                          <a:spcPts val="0"/>
                        </a:spcBef>
                        <a:spcAft>
                          <a:spcPts val="0"/>
                        </a:spcAft>
                        <a:buClrTx/>
                        <a:buSzTx/>
                        <a:buFontTx/>
                        <a:buNone/>
                      </a:pPr>
                      <a:r>
                        <a:rPr sz="1800" b="0">
                          <a:solidFill>
                            <a:srgbClr val="171717"/>
                          </a:solidFill>
                          <a:latin typeface="맑은 고딕"/>
                          <a:ea typeface="맑은 고딕"/>
                          <a:cs typeface="맑은 고딕"/>
                        </a:rPr>
                        <a:t/>
                      </a:r>
                      <a:endParaRPr b="0">
                        <a:solidFill>
                          <a:schemeClr val="tx1"/>
                        </a:solidFill>
                      </a:endParaRPr>
                    </a:p>
                  </a:txBody>
                  <a:tcPr marL="152400" marR="15240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1433874">
                <a:tc>
                  <a:txBody>
                    <a:bodyPr/>
                    <a:lstStyle/>
                    <a:p>
                      <a:pPr algn="l">
                        <a:spcBef>
                          <a:spcPts val="0"/>
                        </a:spcBef>
                        <a:spcAft>
                          <a:spcPts val="300"/>
                        </a:spcAft>
                      </a:pPr>
                      <a:r>
                        <a:rPr sz="1650" b="1">
                          <a:solidFill>
                            <a:srgbClr val="171717"/>
                          </a:solidFill>
                          <a:latin typeface="맑은 고딕"/>
                          <a:ea typeface="맑은 고딕"/>
                          <a:cs typeface="맑은 고딕"/>
                        </a:rPr>
                        <a:t>1. 관광지별 현황 확인</a:t>
                      </a:r>
                    </a:p>
                    <a:p>
                      <a:pPr algn="l">
                        <a:spcAft>
                          <a:spcPts val="0"/>
                        </a:spcAft>
                      </a:pPr>
                      <a:r>
                        <a:rPr sz="1650" b="0">
                          <a:solidFill>
                            <a:srgbClr val="171717"/>
                          </a:solidFill>
                          <a:latin typeface="맑은 고딕"/>
                          <a:ea typeface="맑은 고딕"/>
                          <a:cs typeface="맑은 고딕"/>
                        </a:rPr>
                        <a:t>한국관광공사 확인, 별도 자료 확인, 정보 없음을 나누어 봅니다.</a:t>
                      </a:r>
                    </a:p>
                  </a:txBody>
                  <a:tcPr marL="142875" marR="142875"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a:txBody>
                    <a:bodyPr/>
                    <a:lstStyle/>
                    <a:p>
                      <a:pPr algn="l">
                        <a:spcBef>
                          <a:spcPts val="0"/>
                        </a:spcBef>
                        <a:spcAft>
                          <a:spcPts val="300"/>
                        </a:spcAft>
                      </a:pPr>
                      <a:r>
                        <a:rPr sz="1650" b="1">
                          <a:solidFill>
                            <a:srgbClr val="171717"/>
                          </a:solidFill>
                          <a:latin typeface="맑은 고딕"/>
                          <a:ea typeface="맑은 고딕"/>
                          <a:cs typeface="맑은 고딕"/>
                        </a:rPr>
                        <a:t>2. 우선 확인할 항목</a:t>
                      </a:r>
                    </a:p>
                    <a:p>
                      <a:pPr algn="l">
                        <a:spcAft>
                          <a:spcPts val="0"/>
                        </a:spcAft>
                      </a:pPr>
                      <a:r>
                        <a:rPr sz="1650" b="0">
                          <a:solidFill>
                            <a:srgbClr val="171717"/>
                          </a:solidFill>
                          <a:latin typeface="맑은 고딕"/>
                          <a:ea typeface="맑은 고딕"/>
                          <a:cs typeface="맑은 고딕"/>
                        </a:rPr>
                        <a:t>판정 기준이 되는 미확인 항목과 해당 관광지 수를 먼저 확인합니다.</a:t>
                      </a:r>
                    </a:p>
                  </a:txBody>
                  <a:tcPr marL="142875" marR="142875"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a:txBody>
                    <a:bodyPr/>
                    <a:lstStyle/>
                    <a:p>
                      <a:pPr algn="l">
                        <a:spcBef>
                          <a:spcPts val="0"/>
                        </a:spcBef>
                        <a:spcAft>
                          <a:spcPts val="300"/>
                        </a:spcAft>
                      </a:pPr>
                      <a:r>
                        <a:rPr sz="1650" b="1">
                          <a:solidFill>
                            <a:srgbClr val="171717"/>
                          </a:solidFill>
                          <a:latin typeface="맑은 고딕"/>
                          <a:ea typeface="맑은 고딕"/>
                          <a:cs typeface="맑은 고딕"/>
                        </a:rPr>
                        <a:t>3. 이용 제한 별도 확인</a:t>
                      </a:r>
                    </a:p>
                    <a:p>
                      <a:pPr algn="l">
                        <a:spcAft>
                          <a:spcPts val="0"/>
                        </a:spcAft>
                      </a:pPr>
                      <a:r>
                        <a:rPr sz="1650" b="0">
                          <a:solidFill>
                            <a:srgbClr val="171717"/>
                          </a:solidFill>
                          <a:latin typeface="맑은 고딕"/>
                          <a:ea typeface="맑은 고딕"/>
                          <a:cs typeface="맑은 고딕"/>
                        </a:rPr>
                        <a:t>이용 불가로 확인된 항목은 미확인 정보와 나누어 살펴봅니다.</a:t>
                      </a:r>
                    </a:p>
                  </a:txBody>
                  <a:tcPr marL="142875" marR="142875"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a:txBody>
                    <a:bodyPr/>
                    <a:lstStyle/>
                    <a:p>
                      <a:pPr algn="l">
                        <a:spcBef>
                          <a:spcPts val="0"/>
                        </a:spcBef>
                        <a:spcAft>
                          <a:spcPts val="300"/>
                        </a:spcAft>
                      </a:pPr>
                      <a:r>
                        <a:rPr sz="1650" b="1">
                          <a:solidFill>
                            <a:srgbClr val="171717"/>
                          </a:solidFill>
                          <a:latin typeface="맑은 고딕"/>
                          <a:ea typeface="맑은 고딕"/>
                          <a:cs typeface="맑은 고딕"/>
                        </a:rPr>
                        <a:t>4. 담당자가 쓸 목록 저장</a:t>
                      </a:r>
                    </a:p>
                    <a:p>
                      <a:pPr algn="l">
                        <a:spcAft>
                          <a:spcPts val="0"/>
                        </a:spcAft>
                      </a:pPr>
                      <a:r>
                        <a:rPr sz="1650" b="0">
                          <a:solidFill>
                            <a:srgbClr val="171717"/>
                          </a:solidFill>
                          <a:latin typeface="맑은 고딕"/>
                          <a:ea typeface="맑은 고딕"/>
                          <a:cs typeface="맑은 고딕"/>
                        </a:rPr>
                        <a:t>관광지·항목·상태·출처·확인일을 CSV로 내려받습니다.</a:t>
                      </a:r>
                    </a:p>
                  </a:txBody>
                  <a:tcPr marL="142875" marR="142875"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bl>
          </a:graphicData>
        </a:graphic>
      </p:graphicFrame>
      <p:graphicFrame>
        <p:nvGraphicFramePr>
          <p:cNvPr id="27" name="표 14"/>
          <p:cNvGraphicFramePr/>
          <p:nvPr/>
        </p:nvGraphicFramePr>
        <p:xfrm>
          <a:off xmlns:a="http://schemas.openxmlformats.org/drawingml/2006/main" x="302952" y="1130530"/>
          <a:ext xmlns:a="http://schemas.openxmlformats.org/drawingml/2006/main" cx="11426308" cy="731520"/>
        </p:xfrm>
        <a:graphic xmlns:a="http://schemas.openxmlformats.org/drawingml/2006/main">
          <a:graphicData uri="http://schemas.openxmlformats.org/drawingml/2006/table">
            <a:tbl>
              <a:tblPr firstRow="1" bandRow="1">
                <a:tableStyleId>{5C22544A-7EE6-4342-B048-85BDC9FD1C3A}</a:tableStyleId>
              </a:tblPr>
              <a:tblGrid>
                <a:gridCol w="1782764"/>
                <a:gridCol w="9643544"/>
              </a:tblGrid>
              <a:tr h="365760">
                <a:tc>
                  <a:txBody>
                    <a:bodyPr/>
                    <a:lstStyle/>
                    <a:p>
                      <a:pPr algn="ctr">
                        <a:buNone/>
                      </a:pPr>
                      <a:r>
                        <a:rPr sz="1800" b="1">
                          <a:solidFill>
                            <a:srgbClr val="FFFFFF"/>
                          </a:solidFill>
                          <a:latin typeface="맑은 고딕"/>
                          <a:ea typeface="맑은 고딕"/>
                          <a:cs typeface="맑은 고딕"/>
                        </a:rPr>
                        <a:t>핵심 기능 5</a:t>
                      </a:r>
                      <a:endParaRPr b="1">
                        <a:solidFill>
                          <a:schemeClr val="bg1"/>
                        </a:solidFill>
                      </a:endParaRPr>
                    </a:p>
                  </a:txBody>
                  <a:tcPr marL="38100" marR="38100" marT="28575" marB="285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A401"/>
                    </a:solidFill>
                  </a:tcPr>
                </a:tc>
                <a:tc>
                  <a:txBody>
                    <a:bodyPr/>
                    <a:lstStyle/>
                    <a:p>
                      <a:pPr algn="l">
                        <a:buNone/>
                      </a:pPr>
                      <a:r>
                        <a:rPr sz="1875" b="1">
                          <a:solidFill>
                            <a:srgbClr val="171717"/>
                          </a:solidFill>
                          <a:latin typeface="맑은 고딕"/>
                          <a:ea typeface="맑은 고딕"/>
                          <a:cs typeface="맑은 고딕"/>
                        </a:rPr>
                        <a:t>무장애 정보 갭 리포트</a:t>
                      </a:r>
                      <a:endParaRPr b="0">
                        <a:solidFill>
                          <a:schemeClr val="tx1"/>
                        </a:solidFill>
                      </a:endParaRPr>
                    </a:p>
                  </a:txBody>
                  <a:tcPr marL="133350" marR="133350" marT="28575" marB="285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365760">
                <a:tc>
                  <a:txBody>
                    <a:bodyPr/>
                    <a:lstStyle/>
                    <a:p>
                      <a:pPr algn="ctr">
                        <a:buNone/>
                      </a:pPr>
                      <a:r>
                        <a:rPr sz="1800" b="1">
                          <a:solidFill>
                            <a:srgbClr val="FFFFFF"/>
                          </a:solidFill>
                          <a:latin typeface="맑은 고딕"/>
                          <a:ea typeface="맑은 고딕"/>
                          <a:cs typeface="맑은 고딕"/>
                        </a:rPr>
                        <a:t>기능 설명</a:t>
                      </a:r>
                      <a:endParaRPr b="1">
                        <a:solidFill>
                          <a:schemeClr val="bg1"/>
                        </a:solidFill>
                      </a:endParaRPr>
                    </a:p>
                  </a:txBody>
                  <a:tcPr marL="38100" marR="38100" marT="28575" marB="285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A401"/>
                    </a:solidFill>
                  </a:tcPr>
                </a:tc>
                <a:tc>
                  <a:txBody>
                    <a:bodyPr/>
                    <a:lstStyle/>
                    <a:p>
                      <a:pPr marL="0" marR="0" lvl="0" indent="0" algn="l" defTabSz="914400">
                        <a:lnSpc>
                          <a:spcPct val="100000"/>
                        </a:lnSpc>
                        <a:spcBef>
                          <a:spcPts val="0"/>
                        </a:spcBef>
                        <a:spcAft>
                          <a:spcPts val="0"/>
                        </a:spcAft>
                        <a:buClrTx/>
                        <a:buSzTx/>
                        <a:buFontTx/>
                        <a:buNone/>
                      </a:pPr>
                      <a:r>
                        <a:rPr sz="1725" b="0">
                          <a:solidFill>
                            <a:srgbClr val="171717"/>
                          </a:solidFill>
                          <a:latin typeface="맑은 고딕"/>
                          <a:ea typeface="맑은 고딕"/>
                          <a:cs typeface="맑은 고딕"/>
                        </a:rPr>
                        <a:t>여행 안내에 사용한 데이터에서 미확인 항목을 모아, 다음에 확인할 일을 정리합니다.</a:t>
                      </a:r>
                      <a:endParaRPr b="0">
                        <a:solidFill>
                          <a:schemeClr val="tx1"/>
                        </a:solidFill>
                      </a:endParaRPr>
                    </a:p>
                  </a:txBody>
                  <a:tcPr marL="133350" marR="133350" marT="28575" marB="285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bl>
          </a:graphicData>
        </a:graphic>
      </p:graphicFrame>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cf9be1118b834ef1"/>
          <a:srcRect xmlns:a="http://schemas.openxmlformats.org/drawingml/2006/main" l="12569" t="4651" r="46013" b="86773"/>
          <a:stretch xmlns:a="http://schemas.openxmlformats.org/drawingml/2006/main"/>
        </p:blipFill>
        <p:spPr>
          <a:xfrm xmlns:a="http://schemas.openxmlformats.org/drawingml/2006/main">
            <a:off x="417195" y="3145103"/>
            <a:ext cx="2627948" cy="1036423"/>
          </a:xfrm>
          <a:prstGeom xmlns:a="http://schemas.openxmlformats.org/drawingml/2006/main" prst="rect">
            <a:avLst/>
          </a:prstGeom>
        </p:spPr>
      </p:pic>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dee0bd6d4365436b"/>
          <a:srcRect xmlns:a="http://schemas.openxmlformats.org/drawingml/2006/main" l="18882" t="58043" r="54928" b="7297"/>
          <a:stretch xmlns:a="http://schemas.openxmlformats.org/drawingml/2006/main"/>
        </p:blipFill>
        <p:spPr>
          <a:xfrm xmlns:a="http://schemas.openxmlformats.org/drawingml/2006/main">
            <a:off x="3273743" y="2502129"/>
            <a:ext cx="2627948" cy="2322372"/>
          </a:xfrm>
          <a:prstGeom xmlns:a="http://schemas.openxmlformats.org/drawingml/2006/main" prst="rect">
            <a:avLst/>
          </a:prstGeom>
        </p:spPr>
      </p:pic>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06bc37e29d584669"/>
          <a:srcRect xmlns:a="http://schemas.openxmlformats.org/drawingml/2006/main" l="18826" t="18740" r="62348" b="60199"/>
          <a:stretch xmlns:a="http://schemas.openxmlformats.org/drawingml/2006/main"/>
        </p:blipFill>
        <p:spPr>
          <a:xfrm xmlns:a="http://schemas.openxmlformats.org/drawingml/2006/main">
            <a:off x="6130290" y="2681699"/>
            <a:ext cx="2627948" cy="1963231"/>
          </a:xfrm>
          <a:prstGeom xmlns:a="http://schemas.openxmlformats.org/drawingml/2006/main" prst="rect">
            <a:avLst/>
          </a:prstGeom>
        </p:spPr>
      </p:pic>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ea1d3948a2424242"/>
          <a:srcRect xmlns:a="http://schemas.openxmlformats.org/drawingml/2006/main" l="18826" t="62023" r="61240" b="29768"/>
          <a:stretch xmlns:a="http://schemas.openxmlformats.org/drawingml/2006/main"/>
        </p:blipFill>
        <p:spPr>
          <a:xfrm xmlns:a="http://schemas.openxmlformats.org/drawingml/2006/main">
            <a:off x="8986837" y="3301972"/>
            <a:ext cx="2627948" cy="722686"/>
          </a:xfrm>
          <a:prstGeom xmlns:a="http://schemas.openxmlformats.org/drawingml/2006/main" prst="rect">
            <a:avLst/>
          </a:prstGeom>
        </p:spPr>
      </p:pic>
    </p:spTree>
    <p:extLst>
      <p:ext uri="{BB962C8B-B14F-4D97-AF65-F5344CB8AC3E}">
        <p14:creationId xmlns:p14="http://schemas.microsoft.com/office/powerpoint/2010/main" val="6719406"/>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3" name="TextBox 2">
            <a:extLst xmlns:a="http://schemas.openxmlformats.org/drawingml/2006/main">
              <a:ext uri="{FF2B5EF4-FFF2-40B4-BE49-F238E27FC236}">
                <a16:creationId xmlns:a16="http://schemas.microsoft.com/office/drawing/2014/main" id="{E03309C6-EA06-4B2F-816B-3D5605CA9240}"/>
              </a:ext>
            </a:extLst>
          </p:cNvPr>
          <p:cNvSpPr>
            <a:spLocks xmlns:a="http://schemas.openxmlformats.org/drawingml/2006/main" noGrp="1"/>
          </p:cNvSpPr>
          <p:nvPr/>
        </p:nvSpPr>
        <p:spPr>
          <a:xfrm xmlns:a="http://schemas.openxmlformats.org/drawingml/2006/main">
            <a:off x="174567" y="1101012"/>
            <a:ext cx="4770658" cy="307777"/>
          </a:xfrm>
          <a:prstGeom xmlns:a="http://schemas.openxmlformats.org/drawingml/2006/main" prst="rect">
            <a:avLst/>
          </a:prstGeom>
          <a:solidFill xmlns:a="http://schemas.openxmlformats.org/drawingml/2006/main">
            <a:srgbClr val="FF6F00"/>
          </a:solidFill>
        </p:spPr>
        <p:txBody>
          <a:bodyPr xmlns:a="http://schemas.openxmlformats.org/drawingml/2006/main" wrap="square">
            <a:spAutoFit/>
          </a:bodyPr>
          <a:lstStyle xmlns:a="http://schemas.openxmlformats.org/drawingml/2006/main"/>
          <a:p xmlns:a="http://schemas.openxmlformats.org/drawingml/2006/main">
            <a:pPr algn="ctr">
              <a:buNone/>
            </a:pPr>
            <a:r>
              <a:rPr sz="1400" b="1">
                <a:solidFill>
                  <a:schemeClr val="bg1"/>
                </a:solidFill>
              </a:rPr>
              <a:t>서비스 개발에 활용한 한국관광공사 </a:t>
            </a:r>
            <a:r>
              <a:rPr sz="1400" b="1">
                <a:solidFill>
                  <a:schemeClr val="bg1"/>
                </a:solidFill>
              </a:rPr>
              <a:t>OpenAPI </a:t>
            </a:r>
            <a:r>
              <a:rPr sz="1400" b="1">
                <a:solidFill>
                  <a:schemeClr val="bg1"/>
                </a:solidFill>
              </a:rPr>
              <a:t>리스트</a:t>
            </a:r>
            <a:endParaRPr sz="1400" b="1">
              <a:solidFill>
                <a:schemeClr val="bg1"/>
              </a:solidFill>
            </a:endParaRPr>
          </a:p>
        </p:txBody>
      </p:sp>
      <p:graphicFrame>
        <p:nvGraphicFramePr>
          <p:cNvPr id="6" name="표 6"/>
          <p:cNvGraphicFramePr/>
          <p:nvPr/>
        </p:nvGraphicFramePr>
        <p:xfrm>
          <a:off xmlns:a="http://schemas.openxmlformats.org/drawingml/2006/main" x="174566" y="1646098"/>
          <a:ext xmlns:a="http://schemas.openxmlformats.org/drawingml/2006/main" cx="11628657" cy="3789680"/>
        </p:xfrm>
        <a:graphic xmlns:a="http://schemas.openxmlformats.org/drawingml/2006/main">
          <a:graphicData uri="http://schemas.openxmlformats.org/drawingml/2006/table">
            <a:tbl>
              <a:tblPr firstRow="1" bandRow="1">
                <a:tableStyleId>{5C22544A-7EE6-4342-B048-85BDC9FD1C3A}</a:tableStyleId>
              </a:tblPr>
              <a:tblGrid>
                <a:gridCol w="821150"/>
                <a:gridCol w="1816388"/>
                <a:gridCol w="8991119"/>
              </a:tblGrid>
              <a:tr h="370840">
                <a:tc rowSpan="2">
                  <a:txBody>
                    <a:bodyPr/>
                    <a:lstStyle/>
                    <a:p>
                      <a:pPr algn="ctr">
                        <a:buNone/>
                      </a:pPr>
                      <a:r>
                        <a:rPr sz="3200" b="1">
                          <a:solidFill>
                            <a:schemeClr val="tx1"/>
                          </a:solidFill>
                        </a:rPr>
                        <a:t>1</a:t>
                      </a:r>
                      <a:endParaRPr sz="3200" b="1">
                        <a:solidFill>
                          <a:schemeClr val="tx1"/>
                        </a:solidFill>
                      </a:endParaRPr>
                    </a:p>
                  </a:txBody>
                  <a:tcPr marL="91440" marR="91440" marT="45720" marB="45720" anchor="ctr">
                    <a:lnL w="12700" cmpd="sng">
                      <a:noFill/>
                      <a:prstDash val="solid"/>
                    </a:lnL>
                    <a:lnR w="12700" cmpd="sng">
                      <a:solidFill>
                        <a:schemeClr val="bg1">
                          <a:lumMod val="85000"/>
                        </a:schemeClr>
                      </a:solidFill>
                      <a:prstDash val="solid"/>
                    </a:lnR>
                    <a:lnT w="12700" cmpd="sng">
                      <a:noFill/>
                      <a:prstDash val="solid"/>
                    </a:lnT>
                    <a:lnB w="12700" cmpd="sng">
                      <a:noFill/>
                      <a:prstDash val="solid"/>
                    </a:lnB>
                    <a:noFill/>
                  </a:tcPr>
                </a:tc>
                <a:tc>
                  <a:txBody>
                    <a:bodyPr/>
                    <a:lstStyle/>
                    <a:p>
                      <a:pPr algn="ctr">
                        <a:buNone/>
                      </a:pPr>
                      <a:r>
                        <a:rPr b="1">
                          <a:solidFill>
                            <a:schemeClr val="bg1"/>
                          </a:solidFill>
                        </a:rPr>
                        <a:t>API</a:t>
                      </a:r>
                      <a:r>
                        <a:rPr b="1">
                          <a:solidFill>
                            <a:schemeClr val="bg1"/>
                          </a:solidFill>
                        </a:rPr>
                        <a:t>명</a:t>
                      </a:r>
                      <a:endParaRPr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A401"/>
                    </a:solidFill>
                  </a:tcPr>
                </a:tc>
                <a:tc>
                  <a:txBody>
                    <a:bodyPr/>
                    <a:lstStyle/>
                    <a:p>
                      <a:pPr marL="0" marR="0" lvl="0" indent="0" algn="l" defTabSz="914400">
                        <a:lnSpc>
                          <a:spcPct val="100000"/>
                        </a:lnSpc>
                        <a:spcBef>
                          <a:spcPts val="0"/>
                        </a:spcBef>
                        <a:spcAft>
                          <a:spcPts val="0"/>
                        </a:spcAft>
                        <a:buClrTx/>
                        <a:buSzTx/>
                        <a:buFontTx/>
                        <a:buNone/>
                      </a:pPr>
                      <a:r>
                        <a:rPr sz="1763" b="1">
                          <a:solidFill>
                            <a:srgbClr val="171717"/>
                          </a:solidFill>
                          <a:latin typeface="맑은 고딕"/>
                          <a:ea typeface="맑은 고딕"/>
                          <a:cs typeface="맑은 고딕"/>
                        </a:rPr>
                        <a:t>국문 무장애여행 정보 (KorWithService2)</a:t>
                      </a:r>
                    </a:p>
                  </a:txBody>
                  <a:tcPr marL="123825" marR="123825"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370840">
                <a:tc vMerge="1">
                  <a:txBody>
                    <a:bodyPr/>
                    <a:lstStyle/>
                    <a:p>
                      <a:pPr>
                        <a:buNone/>
                      </a:pPr>
                      <a:endParaRPr/>
                    </a:p>
                  </a:txBody>
                  <a:tcPr marL="91440" marR="91440" marT="45720" marB="45720"/>
                </a:tc>
                <a:tc>
                  <a:txBody>
                    <a:bodyPr/>
                    <a:lstStyle/>
                    <a:p>
                      <a:pPr algn="ctr">
                        <a:buNone/>
                      </a:pPr>
                      <a:r>
                        <a:rPr b="1">
                          <a:solidFill>
                            <a:schemeClr val="bg1"/>
                          </a:solidFill>
                        </a:rPr>
                        <a:t>상세설명</a:t>
                      </a:r>
                      <a:endParaRPr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A401"/>
                    </a:solidFill>
                  </a:tcPr>
                </a:tc>
                <a:tc>
                  <a:txBody>
                    <a:bodyPr/>
                    <a:lstStyle/>
                    <a:p>
                      <a:pPr marL="0" marR="0" lvl="0" indent="0" algn="l" defTabSz="914400">
                        <a:lnSpc>
                          <a:spcPct val="100000"/>
                        </a:lnSpc>
                        <a:spcBef>
                          <a:spcPts val="0"/>
                        </a:spcBef>
                        <a:spcAft>
                          <a:spcPts val="0"/>
                        </a:spcAft>
                        <a:buClrTx/>
                        <a:buSzTx/>
                        <a:buFontTx/>
                        <a:buNone/>
                      </a:pPr>
                      <a:r>
                        <a:rPr sz="1725" b="0">
                          <a:solidFill>
                            <a:srgbClr val="171717"/>
                          </a:solidFill>
                          <a:latin typeface="맑은 고딕"/>
                          <a:ea typeface="맑은 고딕"/>
                          <a:cs typeface="맑은 고딕"/>
                        </a:rPr>
                        <a:t>접근로·출입통로 등의 원문을 조건별 판정과 갭 리포트에 사용합니다.</a:t>
                      </a:r>
                    </a:p>
                  </a:txBody>
                  <a:tcPr marL="123825" marR="123825"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381000">
                <a:tc rowSpan="2">
                  <a:txBody>
                    <a:bodyPr/>
                    <a:lstStyle/>
                    <a:p>
                      <a:pPr algn="ctr">
                        <a:buNone/>
                      </a:pPr>
                      <a:r>
                        <a:rPr sz="3200" b="1">
                          <a:solidFill>
                            <a:schemeClr val="tx1"/>
                          </a:solidFill>
                        </a:rPr>
                        <a:t>2</a:t>
                      </a:r>
                      <a:endParaRPr sz="3200" b="1">
                        <a:solidFill>
                          <a:schemeClr val="tx1"/>
                        </a:solidFill>
                      </a:endParaRPr>
                    </a:p>
                  </a:txBody>
                  <a:tcPr marL="91440" marR="91440" marT="45720" marB="45720" anchor="ctr">
                    <a:lnL w="12700" cmpd="sng">
                      <a:noFill/>
                      <a:prstDash val="solid"/>
                    </a:lnL>
                    <a:lnR w="12700" cmpd="sng">
                      <a:solidFill>
                        <a:schemeClr val="bg1">
                          <a:lumMod val="85000"/>
                        </a:schemeClr>
                      </a:solidFill>
                      <a:prstDash val="solid"/>
                    </a:lnR>
                    <a:lnT w="12700" cmpd="sng">
                      <a:noFill/>
                      <a:prstDash val="solid"/>
                    </a:lnT>
                    <a:lnB w="12700" cmpd="sng">
                      <a:noFill/>
                      <a:prstDash val="solid"/>
                    </a:lnB>
                    <a:noFill/>
                  </a:tcPr>
                </a:tc>
                <a:tc>
                  <a:txBody>
                    <a:bodyPr/>
                    <a:lstStyle/>
                    <a:p>
                      <a:pPr algn="ctr">
                        <a:buNone/>
                      </a:pPr>
                      <a:r>
                        <a:rPr b="1">
                          <a:solidFill>
                            <a:schemeClr val="bg1"/>
                          </a:solidFill>
                        </a:rPr>
                        <a:t>API</a:t>
                      </a:r>
                      <a:r>
                        <a:rPr b="1">
                          <a:solidFill>
                            <a:schemeClr val="bg1"/>
                          </a:solidFill>
                        </a:rPr>
                        <a:t>명</a:t>
                      </a:r>
                      <a:endParaRPr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A401"/>
                    </a:solidFill>
                  </a:tcPr>
                </a:tc>
                <a:tc>
                  <a:txBody>
                    <a:bodyPr/>
                    <a:lstStyle/>
                    <a:p>
                      <a:pPr algn="l">
                        <a:buNone/>
                      </a:pPr>
                      <a:r>
                        <a:rPr sz="1763" b="1">
                          <a:solidFill>
                            <a:srgbClr val="171717"/>
                          </a:solidFill>
                          <a:latin typeface="맑은 고딕"/>
                          <a:ea typeface="맑은 고딕"/>
                          <a:cs typeface="맑은 고딕"/>
                        </a:rPr>
                        <a:t>국문 관광정보 / 관광사진갤러리</a:t>
                      </a:r>
                      <a:endParaRPr b="0">
                        <a:solidFill>
                          <a:schemeClr val="tx1"/>
                        </a:solidFill>
                      </a:endParaRPr>
                    </a:p>
                  </a:txBody>
                  <a:tcPr marL="123825" marR="123825"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381000">
                <a:tc vMerge="1">
                  <a:txBody>
                    <a:bodyPr/>
                    <a:lstStyle/>
                    <a:p>
                      <a:pPr>
                        <a:buNone/>
                      </a:pPr>
                      <a:endParaRPr/>
                    </a:p>
                  </a:txBody>
                  <a:tcPr marL="91440" marR="91440" marT="45720" marB="45720"/>
                </a:tc>
                <a:tc>
                  <a:txBody>
                    <a:bodyPr/>
                    <a:lstStyle/>
                    <a:p>
                      <a:pPr algn="ctr">
                        <a:buNone/>
                      </a:pPr>
                      <a:r>
                        <a:rPr b="1">
                          <a:solidFill>
                            <a:schemeClr val="bg1"/>
                          </a:solidFill>
                        </a:rPr>
                        <a:t>상세설명</a:t>
                      </a:r>
                      <a:endParaRPr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A401"/>
                    </a:solidFill>
                  </a:tcPr>
                </a:tc>
                <a:tc>
                  <a:txBody>
                    <a:bodyPr/>
                    <a:lstStyle/>
                    <a:p>
                      <a:pPr algn="l">
                        <a:buNone/>
                      </a:pPr>
                      <a:r>
                        <a:rPr sz="1725" b="0">
                          <a:solidFill>
                            <a:srgbClr val="171717"/>
                          </a:solidFill>
                          <a:latin typeface="맑은 고딕"/>
                          <a:ea typeface="맑은 고딕"/>
                          <a:cs typeface="맑은 고딕"/>
                        </a:rPr>
                        <a:t>관광지 소개·주소·분류와 사진을 안내에 사용하고 출처를 표시합니다.</a:t>
                      </a:r>
                      <a:endParaRPr b="0">
                        <a:solidFill>
                          <a:schemeClr val="tx1"/>
                        </a:solidFill>
                      </a:endParaRPr>
                    </a:p>
                  </a:txBody>
                  <a:tcPr marL="123825" marR="123825"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381000">
                <a:tc rowSpan="2">
                  <a:txBody>
                    <a:bodyPr/>
                    <a:lstStyle/>
                    <a:p>
                      <a:pPr algn="ctr">
                        <a:buNone/>
                      </a:pPr>
                      <a:r>
                        <a:rPr sz="3200" b="1">
                          <a:solidFill>
                            <a:schemeClr val="tx1"/>
                          </a:solidFill>
                        </a:rPr>
                        <a:t>3</a:t>
                      </a:r>
                      <a:endParaRPr sz="3200" b="1">
                        <a:solidFill>
                          <a:schemeClr val="tx1"/>
                        </a:solidFill>
                      </a:endParaRPr>
                    </a:p>
                  </a:txBody>
                  <a:tcPr marL="91440" marR="91440" marT="45720" marB="45720" anchor="ctr">
                    <a:lnL w="12700" cmpd="sng">
                      <a:noFill/>
                      <a:prstDash val="solid"/>
                    </a:lnL>
                    <a:lnR w="12700" cmpd="sng">
                      <a:solidFill>
                        <a:schemeClr val="bg1">
                          <a:lumMod val="85000"/>
                        </a:schemeClr>
                      </a:solidFill>
                      <a:prstDash val="solid"/>
                    </a:lnR>
                    <a:lnT w="12700" cmpd="sng">
                      <a:noFill/>
                      <a:prstDash val="solid"/>
                    </a:lnT>
                    <a:lnB w="12700" cmpd="sng">
                      <a:noFill/>
                      <a:prstDash val="solid"/>
                    </a:lnB>
                    <a:noFill/>
                  </a:tcPr>
                </a:tc>
                <a:tc>
                  <a:txBody>
                    <a:bodyPr/>
                    <a:lstStyle/>
                    <a:p>
                      <a:pPr algn="ctr">
                        <a:buNone/>
                      </a:pPr>
                      <a:r>
                        <a:rPr b="1">
                          <a:solidFill>
                            <a:schemeClr val="bg1"/>
                          </a:solidFill>
                        </a:rPr>
                        <a:t>API</a:t>
                      </a:r>
                      <a:r>
                        <a:rPr b="1">
                          <a:solidFill>
                            <a:schemeClr val="bg1"/>
                          </a:solidFill>
                        </a:rPr>
                        <a:t>명</a:t>
                      </a:r>
                      <a:endParaRPr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A401"/>
                    </a:solidFill>
                  </a:tcPr>
                </a:tc>
                <a:tc>
                  <a:txBody>
                    <a:bodyPr/>
                    <a:lstStyle/>
                    <a:p>
                      <a:pPr algn="l">
                        <a:buNone/>
                      </a:pPr>
                      <a:r>
                        <a:rPr sz="1763" b="1">
                          <a:solidFill>
                            <a:srgbClr val="171717"/>
                          </a:solidFill>
                          <a:latin typeface="맑은 고딕"/>
                          <a:ea typeface="맑은 고딕"/>
                          <a:cs typeface="맑은 고딕"/>
                        </a:rPr>
                        <a:t>관광지 오디오 가이드 (Odii)</a:t>
                      </a:r>
                      <a:endParaRPr b="0">
                        <a:solidFill>
                          <a:schemeClr val="tx1"/>
                        </a:solidFill>
                      </a:endParaRPr>
                    </a:p>
                  </a:txBody>
                  <a:tcPr marL="123825" marR="123825"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381000">
                <a:tc vMerge="1">
                  <a:txBody>
                    <a:bodyPr/>
                    <a:lstStyle/>
                    <a:p>
                      <a:pPr algn="ctr">
                        <a:buNone/>
                      </a:pPr>
                      <a:endParaRPr sz="3200"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chemeClr val="tx1"/>
                    </a:solidFill>
                  </a:tcPr>
                </a:tc>
                <a:tc>
                  <a:txBody>
                    <a:bodyPr/>
                    <a:lstStyle/>
                    <a:p>
                      <a:pPr algn="ctr">
                        <a:buNone/>
                      </a:pPr>
                      <a:r>
                        <a:rPr b="1">
                          <a:solidFill>
                            <a:schemeClr val="bg1"/>
                          </a:solidFill>
                        </a:rPr>
                        <a:t>상세설명</a:t>
                      </a:r>
                      <a:endParaRPr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A401"/>
                    </a:solidFill>
                  </a:tcPr>
                </a:tc>
                <a:tc>
                  <a:txBody>
                    <a:bodyPr/>
                    <a:lstStyle/>
                    <a:p>
                      <a:pPr algn="l">
                        <a:buNone/>
                      </a:pPr>
                      <a:r>
                        <a:rPr sz="1725" b="0">
                          <a:solidFill>
                            <a:srgbClr val="171717"/>
                          </a:solidFill>
                          <a:latin typeface="맑은 고딕"/>
                          <a:ea typeface="맑은 고딕"/>
                          <a:cs typeface="맑은 고딕"/>
                        </a:rPr>
                        <a:t>관광지에 맞는 백제 해설을 연결하고, 오디오와 대본을 제공합니다.</a:t>
                      </a:r>
                      <a:endParaRPr b="0">
                        <a:solidFill>
                          <a:schemeClr val="tx1"/>
                        </a:solidFill>
                      </a:endParaRPr>
                    </a:p>
                  </a:txBody>
                  <a:tcPr marL="123825" marR="123825"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381000">
                <a:tc rowSpan="2">
                  <a:txBody>
                    <a:bodyPr/>
                    <a:lstStyle/>
                    <a:p>
                      <a:pPr algn="ctr">
                        <a:buNone/>
                      </a:pPr>
                      <a:r>
                        <a:rPr sz="3200" b="1">
                          <a:solidFill>
                            <a:schemeClr val="tx1"/>
                          </a:solidFill>
                        </a:rPr>
                        <a:t>4</a:t>
                      </a:r>
                      <a:endParaRPr sz="3200" b="1">
                        <a:solidFill>
                          <a:schemeClr val="tx1"/>
                        </a:solidFill>
                      </a:endParaRPr>
                    </a:p>
                  </a:txBody>
                  <a:tcPr marL="91440" marR="91440" marT="45720" marB="45720" anchor="ctr">
                    <a:lnL w="12700" cmpd="sng">
                      <a:noFill/>
                      <a:prstDash val="solid"/>
                    </a:lnL>
                    <a:lnR w="12700" cmpd="sng">
                      <a:solidFill>
                        <a:schemeClr val="bg1">
                          <a:lumMod val="85000"/>
                        </a:schemeClr>
                      </a:solidFill>
                      <a:prstDash val="solid"/>
                    </a:lnR>
                    <a:lnT w="12700" cmpd="sng">
                      <a:noFill/>
                      <a:prstDash val="solid"/>
                    </a:lnT>
                    <a:lnB w="12700" cmpd="sng">
                      <a:noFill/>
                      <a:prstDash val="solid"/>
                    </a:lnB>
                    <a:noFill/>
                  </a:tcPr>
                </a:tc>
                <a:tc>
                  <a:txBody>
                    <a:bodyPr/>
                    <a:lstStyle/>
                    <a:p>
                      <a:pPr algn="ctr">
                        <a:buNone/>
                      </a:pPr>
                      <a:r>
                        <a:rPr b="1">
                          <a:solidFill>
                            <a:schemeClr val="bg1"/>
                          </a:solidFill>
                        </a:rPr>
                        <a:t>API</a:t>
                      </a:r>
                      <a:r>
                        <a:rPr b="1">
                          <a:solidFill>
                            <a:schemeClr val="bg1"/>
                          </a:solidFill>
                        </a:rPr>
                        <a:t>명</a:t>
                      </a:r>
                      <a:endParaRPr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A401"/>
                    </a:solidFill>
                  </a:tcPr>
                </a:tc>
                <a:tc>
                  <a:txBody>
                    <a:bodyPr/>
                    <a:lstStyle/>
                    <a:p>
                      <a:pPr algn="l">
                        <a:buNone/>
                      </a:pPr>
                      <a:r>
                        <a:rPr sz="1763" b="1">
                          <a:solidFill>
                            <a:srgbClr val="171717"/>
                          </a:solidFill>
                          <a:latin typeface="맑은 고딕"/>
                          <a:ea typeface="맑은 고딕"/>
                          <a:cs typeface="맑은 고딕"/>
                        </a:rPr>
                        <a:t>관광지 집중률 / 관광 빅데이터</a:t>
                      </a:r>
                      <a:endParaRPr b="0">
                        <a:solidFill>
                          <a:schemeClr val="tx1"/>
                        </a:solidFill>
                      </a:endParaRPr>
                    </a:p>
                  </a:txBody>
                  <a:tcPr marL="123825" marR="123825"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381000">
                <a:tc vMerge="1">
                  <a:txBody>
                    <a:bodyPr/>
                    <a:lstStyle/>
                    <a:p>
                      <a:pPr algn="ctr">
                        <a:buNone/>
                      </a:pPr>
                      <a:endParaRPr sz="3200"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chemeClr val="tx1"/>
                    </a:solidFill>
                  </a:tcPr>
                </a:tc>
                <a:tc>
                  <a:txBody>
                    <a:bodyPr/>
                    <a:lstStyle/>
                    <a:p>
                      <a:pPr algn="ctr">
                        <a:buNone/>
                      </a:pPr>
                      <a:r>
                        <a:rPr b="1">
                          <a:solidFill>
                            <a:schemeClr val="bg1"/>
                          </a:solidFill>
                        </a:rPr>
                        <a:t>상세설명</a:t>
                      </a:r>
                      <a:endParaRPr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A401"/>
                    </a:solidFill>
                  </a:tcPr>
                </a:tc>
                <a:tc>
                  <a:txBody>
                    <a:bodyPr/>
                    <a:lstStyle/>
                    <a:p>
                      <a:pPr algn="l">
                        <a:buNone/>
                      </a:pPr>
                      <a:r>
                        <a:rPr sz="1725" b="0">
                          <a:solidFill>
                            <a:srgbClr val="171717"/>
                          </a:solidFill>
                          <a:latin typeface="맑은 고딕"/>
                          <a:ea typeface="맑은 고딕"/>
                          <a:cs typeface="맑은 고딕"/>
                        </a:rPr>
                        <a:t>30일 예측 혼잡도와 공주·부여 외지인 방문자 일평균을 기준일과 함께 제공합니다.</a:t>
                      </a:r>
                      <a:endParaRPr b="0">
                        <a:solidFill>
                          <a:schemeClr val="tx1"/>
                        </a:solidFill>
                      </a:endParaRPr>
                    </a:p>
                  </a:txBody>
                  <a:tcPr marL="123825" marR="123825"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381000">
                <a:tc rowSpan="2">
                  <a:txBody>
                    <a:bodyPr/>
                    <a:lstStyle/>
                    <a:p>
                      <a:pPr algn="ctr">
                        <a:buNone/>
                      </a:pPr>
                      <a:r>
                        <a:rPr sz="3200" b="1">
                          <a:solidFill>
                            <a:schemeClr val="tx1"/>
                          </a:solidFill>
                        </a:rPr>
                        <a:t>5</a:t>
                      </a:r>
                      <a:endParaRPr sz="3200" b="1">
                        <a:solidFill>
                          <a:schemeClr val="tx1"/>
                        </a:solidFill>
                      </a:endParaRPr>
                    </a:p>
                  </a:txBody>
                  <a:tcPr marL="91440" marR="91440" marT="45720" marB="45720" anchor="ctr">
                    <a:lnL w="12700" cmpd="sng">
                      <a:noFill/>
                      <a:prstDash val="solid"/>
                    </a:lnL>
                    <a:lnR w="12700" cmpd="sng">
                      <a:solidFill>
                        <a:schemeClr val="bg1">
                          <a:lumMod val="85000"/>
                        </a:schemeClr>
                      </a:solidFill>
                      <a:prstDash val="solid"/>
                    </a:lnR>
                    <a:lnT w="12700" cmpd="sng">
                      <a:noFill/>
                      <a:prstDash val="solid"/>
                    </a:lnT>
                    <a:lnB w="12700" cmpd="sng">
                      <a:noFill/>
                      <a:prstDash val="solid"/>
                    </a:lnB>
                    <a:noFill/>
                  </a:tcPr>
                </a:tc>
                <a:tc>
                  <a:txBody>
                    <a:bodyPr/>
                    <a:lstStyle/>
                    <a:p>
                      <a:pPr algn="ctr">
                        <a:buNone/>
                      </a:pPr>
                      <a:r>
                        <a:rPr b="1">
                          <a:solidFill>
                            <a:schemeClr val="bg1"/>
                          </a:solidFill>
                        </a:rPr>
                        <a:t>API</a:t>
                      </a:r>
                      <a:r>
                        <a:rPr b="1">
                          <a:solidFill>
                            <a:schemeClr val="bg1"/>
                          </a:solidFill>
                        </a:rPr>
                        <a:t>명</a:t>
                      </a:r>
                      <a:endParaRPr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A401"/>
                    </a:solidFill>
                  </a:tcPr>
                </a:tc>
                <a:tc>
                  <a:txBody>
                    <a:bodyPr/>
                    <a:lstStyle/>
                    <a:p>
                      <a:pPr algn="l">
                        <a:buNone/>
                      </a:pPr>
                      <a:r>
                        <a:rPr sz="1763" b="1">
                          <a:solidFill>
                            <a:srgbClr val="171717"/>
                          </a:solidFill>
                          <a:latin typeface="맑은 고딕"/>
                          <a:ea typeface="맑은 고딕"/>
                          <a:cs typeface="맑은 고딕"/>
                        </a:rPr>
                        <a:t>관광지별 연관관광지</a:t>
                      </a:r>
                      <a:endParaRPr b="0">
                        <a:solidFill>
                          <a:schemeClr val="tx1"/>
                        </a:solidFill>
                      </a:endParaRPr>
                    </a:p>
                  </a:txBody>
                  <a:tcPr marL="123825" marR="123825"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381000">
                <a:tc vMerge="1">
                  <a:txBody>
                    <a:bodyPr/>
                    <a:lstStyle/>
                    <a:p>
                      <a:pPr algn="ctr">
                        <a:buNone/>
                      </a:pPr>
                      <a:endParaRPr sz="3200" b="1">
                        <a:solidFill>
                          <a:schemeClr val="tx1"/>
                        </a:solidFill>
                      </a:endParaRPr>
                    </a:p>
                  </a:txBody>
                  <a:tcPr marL="91440" marR="91440" marT="45720" marB="45720" anchor="ctr">
                    <a:lnL w="12700" cmpd="sng">
                      <a:noFill/>
                      <a:prstDash val="solid"/>
                    </a:lnL>
                    <a:lnR w="12700" cmpd="sng">
                      <a:solidFill>
                        <a:schemeClr val="bg1">
                          <a:lumMod val="85000"/>
                        </a:schemeClr>
                      </a:solidFill>
                      <a:prstDash val="solid"/>
                    </a:lnR>
                    <a:lnT w="12700" cmpd="sng">
                      <a:noFill/>
                      <a:prstDash val="solid"/>
                    </a:lnT>
                    <a:lnB w="12700" cmpd="sng">
                      <a:noFill/>
                      <a:prstDash val="solid"/>
                    </a:lnB>
                    <a:noFill/>
                  </a:tcPr>
                </a:tc>
                <a:tc>
                  <a:txBody>
                    <a:bodyPr/>
                    <a:lstStyle/>
                    <a:p>
                      <a:pPr algn="ctr">
                        <a:buNone/>
                      </a:pPr>
                      <a:r>
                        <a:rPr b="1">
                          <a:solidFill>
                            <a:schemeClr val="bg1"/>
                          </a:solidFill>
                        </a:rPr>
                        <a:t>상세설명</a:t>
                      </a:r>
                      <a:endParaRPr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A401"/>
                    </a:solidFill>
                  </a:tcPr>
                </a:tc>
                <a:tc>
                  <a:txBody>
                    <a:bodyPr/>
                    <a:lstStyle/>
                    <a:p>
                      <a:pPr algn="l">
                        <a:buNone/>
                      </a:pPr>
                      <a:r>
                        <a:rPr sz="1725" b="0">
                          <a:solidFill>
                            <a:srgbClr val="171717"/>
                          </a:solidFill>
                          <a:latin typeface="맑은 고딕"/>
                          <a:ea typeface="맑은 고딕"/>
                          <a:cs typeface="맑은 고딕"/>
                        </a:rPr>
                        <a:t>관련 관광지 목록을 보여주며, 접근성을 확인한 대안 관광지와 구분합니다.</a:t>
                      </a:r>
                      <a:endParaRPr b="0">
                        <a:solidFill>
                          <a:schemeClr val="tx1"/>
                        </a:solidFill>
                      </a:endParaRPr>
                    </a:p>
                  </a:txBody>
                  <a:tcPr marL="123825" marR="123825"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bl>
          </a:graphicData>
        </a:graphic>
      </p:graphicFrame>
    </p:spTree>
    <p:extLst>
      <p:ext uri="{BB962C8B-B14F-4D97-AF65-F5344CB8AC3E}">
        <p14:creationId xmlns:p14="http://schemas.microsoft.com/office/powerpoint/2010/main" val="2222947038"/>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3" name="TextBox 2">
            <a:extLst xmlns:a="http://schemas.openxmlformats.org/drawingml/2006/main">
              <a:ext uri="{FF2B5EF4-FFF2-40B4-BE49-F238E27FC236}">
                <a16:creationId xmlns:a16="http://schemas.microsoft.com/office/drawing/2014/main" id="{7353C835-E0D9-4DDF-95F6-1106B9BE1429}"/>
              </a:ext>
            </a:extLst>
          </p:cNvPr>
          <p:cNvSpPr>
            <a:spLocks xmlns:a="http://schemas.openxmlformats.org/drawingml/2006/main" noGrp="1"/>
          </p:cNvSpPr>
          <p:nvPr/>
        </p:nvSpPr>
        <p:spPr>
          <a:xfrm xmlns:a="http://schemas.openxmlformats.org/drawingml/2006/main">
            <a:off x="174567" y="1101012"/>
            <a:ext cx="3893580" cy="307777"/>
          </a:xfrm>
          <a:prstGeom xmlns:a="http://schemas.openxmlformats.org/drawingml/2006/main" prst="rect">
            <a:avLst/>
          </a:prstGeom>
          <a:solidFill xmlns:a="http://schemas.openxmlformats.org/drawingml/2006/main">
            <a:srgbClr val="FF6F00"/>
          </a:solidFill>
        </p:spPr>
        <p:txBody>
          <a:bodyPr xmlns:a="http://schemas.openxmlformats.org/drawingml/2006/main" wrap="square">
            <a:spAutoFit/>
          </a:bodyPr>
          <a:lstStyle xmlns:a="http://schemas.openxmlformats.org/drawingml/2006/main"/>
          <a:p xmlns:a="http://schemas.openxmlformats.org/drawingml/2006/main">
            <a:pPr algn="ctr">
              <a:buNone/>
            </a:pPr>
            <a:r>
              <a:rPr sz="1400" b="1">
                <a:solidFill>
                  <a:schemeClr val="bg1"/>
                </a:solidFill>
              </a:rPr>
              <a:t>서비스 개발에 활용한 기타 </a:t>
            </a:r>
            <a:r>
              <a:rPr sz="1400" b="1">
                <a:solidFill>
                  <a:schemeClr val="bg1"/>
                </a:solidFill>
              </a:rPr>
              <a:t>API, </a:t>
            </a:r>
            <a:r>
              <a:rPr sz="1400" b="1">
                <a:solidFill>
                  <a:schemeClr val="bg1"/>
                </a:solidFill>
              </a:rPr>
              <a:t>파일데이터</a:t>
            </a:r>
            <a:endParaRPr sz="1400" b="1">
              <a:solidFill>
                <a:schemeClr val="bg1"/>
              </a:solidFill>
            </a:endParaRPr>
          </a:p>
        </p:txBody>
      </p:sp>
      <p:graphicFrame>
        <p:nvGraphicFramePr>
          <p:cNvPr id="9" name="표 6"/>
          <p:cNvGraphicFramePr/>
          <p:nvPr/>
        </p:nvGraphicFramePr>
        <p:xfrm>
          <a:off xmlns:a="http://schemas.openxmlformats.org/drawingml/2006/main" x="174566" y="1646098"/>
          <a:ext xmlns:a="http://schemas.openxmlformats.org/drawingml/2006/main" cx="11628657" cy="2265680"/>
        </p:xfrm>
        <a:graphic xmlns:a="http://schemas.openxmlformats.org/drawingml/2006/main">
          <a:graphicData uri="http://schemas.openxmlformats.org/drawingml/2006/table">
            <a:tbl>
              <a:tblPr firstRow="1" bandRow="1">
                <a:tableStyleId>{5C22544A-7EE6-4342-B048-85BDC9FD1C3A}</a:tableStyleId>
              </a:tblPr>
              <a:tblGrid>
                <a:gridCol w="821150"/>
                <a:gridCol w="1816388"/>
                <a:gridCol w="8991119"/>
              </a:tblGrid>
              <a:tr h="370840">
                <a:tc rowSpan="2">
                  <a:txBody>
                    <a:bodyPr/>
                    <a:lstStyle/>
                    <a:p>
                      <a:pPr algn="ctr">
                        <a:buNone/>
                      </a:pPr>
                      <a:r>
                        <a:rPr sz="3200" b="1">
                          <a:solidFill>
                            <a:schemeClr val="tx1"/>
                          </a:solidFill>
                        </a:rPr>
                        <a:t>1</a:t>
                      </a:r>
                      <a:endParaRPr sz="3200" b="1">
                        <a:solidFill>
                          <a:schemeClr val="tx1"/>
                        </a:solidFill>
                      </a:endParaRPr>
                    </a:p>
                  </a:txBody>
                  <a:tcPr marL="91440" marR="91440" marT="45720" marB="45720" anchor="ctr">
                    <a:lnL w="12700" cmpd="sng">
                      <a:noFill/>
                      <a:prstDash val="solid"/>
                    </a:lnL>
                    <a:lnR w="12700" cmpd="sng">
                      <a:solidFill>
                        <a:schemeClr val="bg1">
                          <a:lumMod val="85000"/>
                        </a:schemeClr>
                      </a:solidFill>
                      <a:prstDash val="solid"/>
                    </a:lnR>
                    <a:lnT w="12700" cmpd="sng">
                      <a:noFill/>
                      <a:prstDash val="solid"/>
                    </a:lnT>
                    <a:lnB w="12700" cmpd="sng">
                      <a:noFill/>
                      <a:prstDash val="solid"/>
                    </a:lnB>
                    <a:noFill/>
                  </a:tcPr>
                </a:tc>
                <a:tc>
                  <a:txBody>
                    <a:bodyPr/>
                    <a:lstStyle/>
                    <a:p>
                      <a:pPr algn="ctr">
                        <a:buNone/>
                      </a:pPr>
                      <a:r>
                        <a:rPr b="1">
                          <a:solidFill>
                            <a:schemeClr val="bg1"/>
                          </a:solidFill>
                        </a:rPr>
                        <a:t>데이터명</a:t>
                      </a:r>
                      <a:endParaRPr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A401"/>
                    </a:solidFill>
                  </a:tcPr>
                </a:tc>
                <a:tc>
                  <a:txBody>
                    <a:bodyPr/>
                    <a:lstStyle/>
                    <a:p>
                      <a:pPr marL="0" marR="0" lvl="0" indent="0" algn="l" defTabSz="914400">
                        <a:lnSpc>
                          <a:spcPct val="100000"/>
                        </a:lnSpc>
                        <a:spcBef>
                          <a:spcPts val="0"/>
                        </a:spcBef>
                        <a:spcAft>
                          <a:spcPts val="0"/>
                        </a:spcAft>
                        <a:buClrTx/>
                        <a:buSzTx/>
                        <a:buFontTx/>
                        <a:buNone/>
                      </a:pPr>
                      <a:r>
                        <a:rPr sz="1763" b="1">
                          <a:solidFill>
                            <a:srgbClr val="171717"/>
                          </a:solidFill>
                          <a:latin typeface="맑은 고딕"/>
                          <a:ea typeface="맑은 고딕"/>
                          <a:cs typeface="맑은 고딕"/>
                        </a:rPr>
                        <a:t>기상청 기상특보·단기예보 OpenAPI</a:t>
                      </a:r>
                      <a:endParaRPr b="0">
                        <a:solidFill>
                          <a:schemeClr val="tx1"/>
                        </a:solidFill>
                      </a:endParaRPr>
                    </a:p>
                  </a:txBody>
                  <a:tcPr marL="123825" marR="123825"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370840">
                <a:tc vMerge="1">
                  <a:txBody>
                    <a:bodyPr/>
                    <a:lstStyle/>
                    <a:p>
                      <a:pPr>
                        <a:buNone/>
                      </a:pPr>
                      <a:endParaRPr/>
                    </a:p>
                  </a:txBody>
                  <a:tcPr marL="91440" marR="91440" marT="45720" marB="45720"/>
                </a:tc>
                <a:tc>
                  <a:txBody>
                    <a:bodyPr/>
                    <a:lstStyle/>
                    <a:p>
                      <a:pPr algn="ctr">
                        <a:buNone/>
                      </a:pPr>
                      <a:r>
                        <a:rPr b="1">
                          <a:solidFill>
                            <a:schemeClr val="bg1"/>
                          </a:solidFill>
                        </a:rPr>
                        <a:t>상세설명</a:t>
                      </a:r>
                      <a:endParaRPr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A401"/>
                    </a:solidFill>
                  </a:tcPr>
                </a:tc>
                <a:tc>
                  <a:txBody>
                    <a:bodyPr/>
                    <a:lstStyle/>
                    <a:p>
                      <a:pPr marL="0" marR="0" lvl="0" indent="0" algn="l" defTabSz="914400">
                        <a:lnSpc>
                          <a:spcPct val="100000"/>
                        </a:lnSpc>
                        <a:spcBef>
                          <a:spcPts val="0"/>
                        </a:spcBef>
                        <a:spcAft>
                          <a:spcPts val="0"/>
                        </a:spcAft>
                        <a:buClrTx/>
                        <a:buSzTx/>
                        <a:buFontTx/>
                        <a:buNone/>
                      </a:pPr>
                      <a:r>
                        <a:rPr sz="1725" b="0">
                          <a:solidFill>
                            <a:srgbClr val="171717"/>
                          </a:solidFill>
                          <a:latin typeface="맑은 고딕"/>
                          <a:ea typeface="맑은 고딕"/>
                          <a:cs typeface="맑은 고딕"/>
                        </a:rPr>
                        <a:t>공주·부여의 발효 특보와 당일 예보를 관광지 안내에 반영합니다.</a:t>
                      </a:r>
                      <a:endParaRPr b="0">
                        <a:solidFill>
                          <a:schemeClr val="tx1"/>
                        </a:solidFill>
                      </a:endParaRPr>
                    </a:p>
                  </a:txBody>
                  <a:tcPr marL="123825" marR="123825"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381000">
                <a:tc rowSpan="2">
                  <a:txBody>
                    <a:bodyPr/>
                    <a:lstStyle/>
                    <a:p>
                      <a:pPr algn="ctr">
                        <a:buNone/>
                      </a:pPr>
                      <a:r>
                        <a:rPr sz="3200" b="1">
                          <a:solidFill>
                            <a:schemeClr val="tx1"/>
                          </a:solidFill>
                        </a:rPr>
                        <a:t>2</a:t>
                      </a:r>
                      <a:endParaRPr sz="3200" b="1">
                        <a:solidFill>
                          <a:schemeClr val="tx1"/>
                        </a:solidFill>
                      </a:endParaRPr>
                    </a:p>
                  </a:txBody>
                  <a:tcPr marL="91440" marR="91440" marT="45720" marB="45720" anchor="ctr">
                    <a:lnL w="12700" cmpd="sng">
                      <a:noFill/>
                      <a:prstDash val="solid"/>
                    </a:lnL>
                    <a:lnR w="12700" cmpd="sng">
                      <a:solidFill>
                        <a:schemeClr val="bg1">
                          <a:lumMod val="85000"/>
                        </a:schemeClr>
                      </a:solidFill>
                      <a:prstDash val="solid"/>
                    </a:lnR>
                    <a:lnT w="12700" cmpd="sng">
                      <a:noFill/>
                      <a:prstDash val="solid"/>
                    </a:lnT>
                    <a:lnB w="12700" cmpd="sng">
                      <a:noFill/>
                      <a:prstDash val="solid"/>
                    </a:lnB>
                    <a:noFill/>
                  </a:tcPr>
                </a:tc>
                <a:tc>
                  <a:txBody>
                    <a:bodyPr/>
                    <a:lstStyle/>
                    <a:p>
                      <a:pPr algn="ctr">
                        <a:buNone/>
                      </a:pPr>
                      <a:r>
                        <a:rPr b="1">
                          <a:solidFill>
                            <a:schemeClr val="bg1"/>
                          </a:solidFill>
                        </a:rPr>
                        <a:t>데이터명</a:t>
                      </a:r>
                      <a:endParaRPr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A401"/>
                    </a:solidFill>
                  </a:tcPr>
                </a:tc>
                <a:tc>
                  <a:txBody>
                    <a:bodyPr/>
                    <a:lstStyle/>
                    <a:p>
                      <a:pPr algn="l">
                        <a:buNone/>
                      </a:pPr>
                      <a:r>
                        <a:rPr sz="1763" b="1">
                          <a:solidFill>
                            <a:srgbClr val="171717"/>
                          </a:solidFill>
                          <a:latin typeface="맑은 고딕"/>
                          <a:ea typeface="맑은 고딕"/>
                          <a:cs typeface="맑은 고딕"/>
                        </a:rPr>
                        <a:t>관광지·지역기관의 공식 공개자료</a:t>
                      </a:r>
                      <a:endParaRPr b="0">
                        <a:solidFill>
                          <a:schemeClr val="tx1"/>
                        </a:solidFill>
                      </a:endParaRPr>
                    </a:p>
                  </a:txBody>
                  <a:tcPr marL="123825" marR="123825"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381000">
                <a:tc vMerge="1">
                  <a:txBody>
                    <a:bodyPr/>
                    <a:lstStyle/>
                    <a:p>
                      <a:pPr>
                        <a:buNone/>
                      </a:pPr>
                      <a:endParaRPr/>
                    </a:p>
                  </a:txBody>
                  <a:tcPr marL="91440" marR="91440" marT="45720" marB="45720"/>
                </a:tc>
                <a:tc>
                  <a:txBody>
                    <a:bodyPr/>
                    <a:lstStyle/>
                    <a:p>
                      <a:pPr algn="ctr">
                        <a:buNone/>
                      </a:pPr>
                      <a:r>
                        <a:rPr b="1">
                          <a:solidFill>
                            <a:schemeClr val="bg1"/>
                          </a:solidFill>
                        </a:rPr>
                        <a:t>상세설명</a:t>
                      </a:r>
                      <a:endParaRPr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A401"/>
                    </a:solidFill>
                  </a:tcPr>
                </a:tc>
                <a:tc>
                  <a:txBody>
                    <a:bodyPr/>
                    <a:lstStyle/>
                    <a:p>
                      <a:pPr algn="l">
                        <a:buNone/>
                      </a:pPr>
                      <a:r>
                        <a:rPr sz="1725" b="0">
                          <a:solidFill>
                            <a:srgbClr val="171717"/>
                          </a:solidFill>
                          <a:latin typeface="맑은 고딕"/>
                          <a:ea typeface="맑은 고딕"/>
                          <a:cs typeface="맑은 고딕"/>
                        </a:rPr>
                        <a:t>공주시·부여군과 시설 운영기관 자료로 관람 동선·편의시설·연락처를 보완합니다.</a:t>
                      </a:r>
                      <a:endParaRPr b="0">
                        <a:solidFill>
                          <a:schemeClr val="tx1"/>
                        </a:solidFill>
                      </a:endParaRPr>
                    </a:p>
                  </a:txBody>
                  <a:tcPr marL="123825" marR="123825"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381000">
                <a:tc rowSpan="2">
                  <a:txBody>
                    <a:bodyPr/>
                    <a:lstStyle/>
                    <a:p>
                      <a:pPr algn="ctr">
                        <a:buNone/>
                      </a:pPr>
                      <a:r>
                        <a:rPr sz="3200" b="1">
                          <a:solidFill>
                            <a:schemeClr val="tx1"/>
                          </a:solidFill>
                        </a:rPr>
                        <a:t>3</a:t>
                      </a:r>
                      <a:endParaRPr sz="3200" b="1">
                        <a:solidFill>
                          <a:schemeClr val="tx1"/>
                        </a:solidFill>
                      </a:endParaRPr>
                    </a:p>
                  </a:txBody>
                  <a:tcPr marL="91440" marR="91440" marT="45720" marB="45720" anchor="ctr">
                    <a:lnL w="12700" cmpd="sng">
                      <a:noFill/>
                      <a:prstDash val="solid"/>
                    </a:lnL>
                    <a:lnR w="12700" cmpd="sng">
                      <a:solidFill>
                        <a:schemeClr val="bg1">
                          <a:lumMod val="85000"/>
                        </a:schemeClr>
                      </a:solidFill>
                      <a:prstDash val="solid"/>
                    </a:lnR>
                    <a:lnT w="12700" cmpd="sng">
                      <a:noFill/>
                      <a:prstDash val="solid"/>
                    </a:lnT>
                    <a:lnB w="12700" cmpd="sng">
                      <a:noFill/>
                      <a:prstDash val="solid"/>
                    </a:lnB>
                    <a:noFill/>
                  </a:tcPr>
                </a:tc>
                <a:tc>
                  <a:txBody>
                    <a:bodyPr/>
                    <a:lstStyle/>
                    <a:p>
                      <a:pPr algn="ctr">
                        <a:buNone/>
                      </a:pPr>
                      <a:r>
                        <a:rPr b="1">
                          <a:solidFill>
                            <a:schemeClr val="bg1"/>
                          </a:solidFill>
                        </a:rPr>
                        <a:t>데이터명</a:t>
                      </a:r>
                      <a:endParaRPr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A401"/>
                    </a:solidFill>
                  </a:tcPr>
                </a:tc>
                <a:tc>
                  <a:txBody>
                    <a:bodyPr/>
                    <a:lstStyle/>
                    <a:p>
                      <a:pPr algn="l">
                        <a:buNone/>
                      </a:pPr>
                      <a:r>
                        <a:rPr sz="1763" b="1">
                          <a:solidFill>
                            <a:srgbClr val="171717"/>
                          </a:solidFill>
                          <a:latin typeface="맑은 고딕"/>
                          <a:ea typeface="맑은 고딕"/>
                          <a:cs typeface="맑은 고딕"/>
                        </a:rPr>
                        <a:t>네이버 지도 JavaScript API</a:t>
                      </a:r>
                      <a:endParaRPr b="0">
                        <a:solidFill>
                          <a:schemeClr val="tx1"/>
                        </a:solidFill>
                      </a:endParaRPr>
                    </a:p>
                  </a:txBody>
                  <a:tcPr marL="123825" marR="123825"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381000">
                <a:tc vMerge="1">
                  <a:txBody>
                    <a:bodyPr/>
                    <a:lstStyle/>
                    <a:p>
                      <a:pPr algn="ctr">
                        <a:buNone/>
                      </a:pPr>
                      <a:endParaRPr sz="3200"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chemeClr val="tx1"/>
                    </a:solidFill>
                  </a:tcPr>
                </a:tc>
                <a:tc>
                  <a:txBody>
                    <a:bodyPr/>
                    <a:lstStyle/>
                    <a:p>
                      <a:pPr algn="ctr">
                        <a:buNone/>
                      </a:pPr>
                      <a:r>
                        <a:rPr b="1">
                          <a:solidFill>
                            <a:schemeClr val="bg1"/>
                          </a:solidFill>
                        </a:rPr>
                        <a:t>상세설명</a:t>
                      </a:r>
                      <a:endParaRPr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A401"/>
                    </a:solidFill>
                  </a:tcPr>
                </a:tc>
                <a:tc>
                  <a:txBody>
                    <a:bodyPr/>
                    <a:lstStyle/>
                    <a:p>
                      <a:pPr algn="l">
                        <a:buNone/>
                      </a:pPr>
                      <a:r>
                        <a:rPr sz="1725" b="0">
                          <a:solidFill>
                            <a:srgbClr val="171717"/>
                          </a:solidFill>
                          <a:latin typeface="맑은 고딕"/>
                          <a:ea typeface="맑은 고딕"/>
                          <a:cs typeface="맑은 고딕"/>
                        </a:rPr>
                        <a:t>관광지와 주변 시설의 위치를 표시하며, 지도와 별도로 목록을 제공합니다.</a:t>
                      </a:r>
                      <a:endParaRPr b="0">
                        <a:solidFill>
                          <a:schemeClr val="tx1"/>
                        </a:solidFill>
                      </a:endParaRPr>
                    </a:p>
                  </a:txBody>
                  <a:tcPr marL="123825" marR="123825"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bl>
          </a:graphicData>
        </a:graphic>
      </p:graphicFrame>
    </p:spTree>
    <p:extLst>
      <p:ext uri="{BB962C8B-B14F-4D97-AF65-F5344CB8AC3E}">
        <p14:creationId xmlns:p14="http://schemas.microsoft.com/office/powerpoint/2010/main" val="3177356487"/>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graphicFrame>
        <p:nvGraphicFramePr>
          <p:cNvPr id="2" name="표 2"/>
          <p:cNvGraphicFramePr/>
          <p:nvPr/>
        </p:nvGraphicFramePr>
        <p:xfrm>
          <a:off xmlns:a="http://schemas.openxmlformats.org/drawingml/2006/main" x="287250" y="1218429"/>
          <a:ext xmlns:a="http://schemas.openxmlformats.org/drawingml/2006/main" cx="11649825" cy="5074306"/>
        </p:xfrm>
        <a:graphic xmlns:a="http://schemas.openxmlformats.org/drawingml/2006/main">
          <a:graphicData uri="http://schemas.openxmlformats.org/drawingml/2006/table">
            <a:tbl>
              <a:tblPr firstRow="1" bandRow="1">
                <a:tableStyleId>{5C22544A-7EE6-4342-B048-85BDC9FD1C3A}</a:tableStyleId>
              </a:tblPr>
              <a:tblGrid>
                <a:gridCol w="1955222"/>
                <a:gridCol w="9694603"/>
              </a:tblGrid>
              <a:tr h="2466075">
                <a:tc>
                  <a:txBody>
                    <a:bodyPr/>
                    <a:lstStyle/>
                    <a:p>
                      <a:pPr algn="ctr">
                        <a:buNone/>
                      </a:pPr>
                      <a:r>
                        <a:rPr b="1">
                          <a:solidFill>
                            <a:schemeClr val="bg1"/>
                          </a:solidFill>
                        </a:rPr>
                        <a:t>차별성</a:t>
                      </a:r>
                      <a:endParaRPr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c>
                  <a:txBody>
                    <a:bodyPr/>
                    <a:lstStyle/>
                    <a:p>
                      <a:pPr algn="l">
                        <a:spcBef>
                          <a:spcPts val="0"/>
                        </a:spcBef>
                        <a:spcAft>
                          <a:spcPts val="300"/>
                        </a:spcAft>
                      </a:pPr>
                      <a:r>
                        <a:rPr sz="1763" b="1">
                          <a:solidFill>
                            <a:srgbClr val="171717"/>
                          </a:solidFill>
                          <a:latin typeface="맑은 고딕"/>
                          <a:ea typeface="맑은 고딕"/>
                          <a:cs typeface="맑은 고딕"/>
                        </a:rPr>
                        <a:t>같은 장소를 동행 조건별로 확인합니다.</a:t>
                      </a:r>
                    </a:p>
                    <a:p>
                      <a:pPr algn="l">
                        <a:spcAft>
                          <a:spcPts val="0"/>
                        </a:spcAft>
                      </a:pPr>
                      <a:r>
                        <a:rPr sz="1763" b="0">
                          <a:solidFill>
                            <a:srgbClr val="171717"/>
                          </a:solidFill>
                          <a:latin typeface="맑은 고딕"/>
                          <a:ea typeface="맑은 고딕"/>
                          <a:cs typeface="맑은 고딕"/>
                        </a:rPr>
                        <a:t>복수 조건에서도 각각의 판정과 이유를 읽고, 무엇을 더 확인해야 하는지 알 수 있습니다.</a:t>
                      </a:r>
                    </a:p>
                    <a:p>
                      <a:pPr algn="l">
                        <a:spcBef>
                          <a:spcPts val="550"/>
                        </a:spcBef>
                        <a:spcAft>
                          <a:spcPts val="300"/>
                        </a:spcAft>
                      </a:pPr>
                      <a:r>
                        <a:rPr sz="1763" b="1">
                          <a:solidFill>
                            <a:srgbClr val="171717"/>
                          </a:solidFill>
                          <a:latin typeface="맑은 고딕"/>
                          <a:ea typeface="맑은 고딕"/>
                          <a:cs typeface="맑은 고딕"/>
                        </a:rPr>
                        <a:t>판정의 근거와 남은 질문을 함께 보여줍니다.</a:t>
                      </a:r>
                    </a:p>
                    <a:p>
                      <a:pPr algn="l">
                        <a:spcAft>
                          <a:spcPts val="0"/>
                        </a:spcAft>
                      </a:pPr>
                      <a:r>
                        <a:rPr sz="1763" b="0">
                          <a:solidFill>
                            <a:srgbClr val="171717"/>
                          </a:solidFill>
                          <a:latin typeface="맑은 고딕"/>
                          <a:ea typeface="맑은 고딕"/>
                          <a:cs typeface="맑은 고딕"/>
                        </a:rPr>
                        <a:t>원문·출처·확인일을 공개하고, 미확인 정보와 확인된 이용 제한을 구분합니다.</a:t>
                      </a:r>
                    </a:p>
                    <a:p>
                      <a:pPr algn="l">
                        <a:spcBef>
                          <a:spcPts val="550"/>
                        </a:spcBef>
                        <a:spcAft>
                          <a:spcPts val="300"/>
                        </a:spcAft>
                      </a:pPr>
                      <a:r>
                        <a:rPr sz="1763" b="1">
                          <a:solidFill>
                            <a:srgbClr val="171717"/>
                          </a:solidFill>
                          <a:latin typeface="맑은 고딕"/>
                          <a:ea typeface="맑은 고딕"/>
                          <a:cs typeface="맑은 고딕"/>
                        </a:rPr>
                        <a:t>여행 안내에 쓴 정보를 운영 담당자의 확인 목록으로 제공합니다.</a:t>
                      </a:r>
                    </a:p>
                    <a:p>
                      <a:pPr algn="l">
                        <a:spcAft>
                          <a:spcPts val="0"/>
                        </a:spcAft>
                      </a:pPr>
                      <a:r>
                        <a:rPr sz="1763" b="0">
                          <a:solidFill>
                            <a:srgbClr val="171717"/>
                          </a:solidFill>
                          <a:latin typeface="맑은 고딕"/>
                          <a:ea typeface="맑은 고딕"/>
                          <a:cs typeface="맑은 고딕"/>
                        </a:rPr>
                        <a:t>같은 데이터로 관광지별 미확인 항목을 모으고, 출처가 남은 CSV로 내보냅니다.</a:t>
                      </a:r>
                    </a:p>
                  </a:txBody>
                  <a:tcPr marL="209550" marR="20955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2608231">
                <a:tc>
                  <a:txBody>
                    <a:bodyPr/>
                    <a:lstStyle/>
                    <a:p>
                      <a:pPr algn="ctr">
                        <a:buNone/>
                      </a:pPr>
                      <a:r>
                        <a:rPr b="1">
                          <a:solidFill>
                            <a:schemeClr val="bg1"/>
                          </a:solidFill>
                        </a:rPr>
                        <a:t>발전계획</a:t>
                      </a:r>
                      <a:endParaRPr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c>
                  <a:txBody>
                    <a:bodyPr/>
                    <a:lstStyle/>
                    <a:p>
                      <a:pPr algn="l">
                        <a:spcBef>
                          <a:spcPts val="0"/>
                        </a:spcBef>
                        <a:spcAft>
                          <a:spcPts val="300"/>
                        </a:spcAft>
                      </a:pPr>
                      <a:r>
                        <a:rPr sz="1763" b="1">
                          <a:solidFill>
                            <a:srgbClr val="171717"/>
                          </a:solidFill>
                          <a:latin typeface="맑은 고딕"/>
                          <a:ea typeface="맑은 고딕"/>
                          <a:cs typeface="맑은 고딕"/>
                        </a:rPr>
                        <a:t>현장 확인으로 안내를 보완하겠습니다.</a:t>
                      </a:r>
                    </a:p>
                    <a:p>
                      <a:pPr algn="l">
                        <a:spcAft>
                          <a:spcPts val="0"/>
                        </a:spcAft>
                      </a:pPr>
                      <a:r>
                        <a:rPr sz="1763" b="0">
                          <a:solidFill>
                            <a:srgbClr val="171717"/>
                          </a:solidFill>
                          <a:latin typeface="맑은 고딕"/>
                          <a:ea typeface="맑은 고딕"/>
                          <a:cs typeface="맑은 고딕"/>
                        </a:rPr>
                        <a:t>관광약자와 이동 구간을 함께 살펴보고, 접근성 전문가 검토를 거쳐 근거를 보강하겠습니다.</a:t>
                      </a:r>
                    </a:p>
                    <a:p>
                      <a:pPr algn="l">
                        <a:spcBef>
                          <a:spcPts val="600"/>
                        </a:spcBef>
                        <a:spcAft>
                          <a:spcPts val="300"/>
                        </a:spcAft>
                      </a:pPr>
                      <a:r>
                        <a:rPr sz="1763" b="1">
                          <a:solidFill>
                            <a:srgbClr val="171717"/>
                          </a:solidFill>
                          <a:latin typeface="맑은 고딕"/>
                          <a:ea typeface="맑은 고딕"/>
                          <a:cs typeface="맑은 고딕"/>
                        </a:rPr>
                        <a:t>리포트를 정보 수정 업무에 연결하겠습니다.</a:t>
                      </a:r>
                    </a:p>
                    <a:p>
                      <a:pPr algn="l">
                        <a:spcAft>
                          <a:spcPts val="0"/>
                        </a:spcAft>
                      </a:pPr>
                      <a:r>
                        <a:rPr sz="1763" b="0">
                          <a:solidFill>
                            <a:srgbClr val="171717"/>
                          </a:solidFill>
                          <a:latin typeface="맑은 고딕"/>
                          <a:ea typeface="맑은 고딕"/>
                          <a:cs typeface="맑은 고딕"/>
                        </a:rPr>
                        <a:t>관광지별 확인 담당자와 전달 형식을 협의하고, 답변을 받은 항목의 갱신 여부를 추적하겠습니다.</a:t>
                      </a:r>
                    </a:p>
                    <a:p>
                      <a:pPr algn="l">
                        <a:spcBef>
                          <a:spcPts val="600"/>
                        </a:spcBef>
                        <a:spcAft>
                          <a:spcPts val="300"/>
                        </a:spcAft>
                      </a:pPr>
                      <a:r>
                        <a:rPr sz="1763" b="1">
                          <a:solidFill>
                            <a:srgbClr val="171717"/>
                          </a:solidFill>
                          <a:latin typeface="맑은 고딕"/>
                          <a:ea typeface="맑은 고딕"/>
                          <a:cs typeface="맑은 고딕"/>
                        </a:rPr>
                        <a:t>정기 수집을 유지하며 충남 관광지로 넓히겠습니다.</a:t>
                      </a:r>
                    </a:p>
                    <a:p>
                      <a:pPr algn="l">
                        <a:spcAft>
                          <a:spcPts val="0"/>
                        </a:spcAft>
                      </a:pPr>
                      <a:r>
                        <a:rPr sz="1763" b="0">
                          <a:solidFill>
                            <a:srgbClr val="171717"/>
                          </a:solidFill>
                          <a:latin typeface="맑은 고딕"/>
                          <a:ea typeface="맑은 고딕"/>
                          <a:cs typeface="맑은 고딕"/>
                        </a:rPr>
                        <a:t>새 관광지도 출처 확인, 조건별 안내, 갭 리포트를 함께 제공하겠습니다.</a:t>
                      </a:r>
                    </a:p>
                  </a:txBody>
                  <a:tcPr marL="209550" marR="20955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bl>
          </a:graphicData>
        </a:graphic>
      </p:graphicFrame>
    </p:spTree>
    <p:extLst>
      <p:ext uri="{BB962C8B-B14F-4D97-AF65-F5344CB8AC3E}">
        <p14:creationId xmlns:p14="http://schemas.microsoft.com/office/powerpoint/2010/main" val="3988568962"/>
      </p:ext>
    </p:extLst>
  </p:cSld>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2026-09-19T16:51:33.1630000Z</dcterms:created>
  <dcterms:modified xsi:type="dcterms:W3CDTF">2026-09-19T16:51:33.1630000Z</dcterms:modified>
</coreProperties>
</file>