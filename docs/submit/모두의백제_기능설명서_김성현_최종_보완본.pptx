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23db67846d4568" /><Relationship Type="http://schemas.openxmlformats.org/officeDocument/2006/relationships/extended-properties" Target="/docProps/app.xml" Id="R6bbca0b3f8cd481c" /><Relationship Type="http://schemas.openxmlformats.org/officeDocument/2006/relationships/officeDocument" Target="/ppt/presentation.xml" Id="R09fae01448df4015" /></Relationships>
</file>

<file path=ppt/presentation.xml><?xml version="1.0" encoding="utf-8"?>
<p:presentation xmlns:p="http://schemas.openxmlformats.org/presentationml/2006/main">
  <p:sldMasterIdLst>
    <p:sldMasterId xmlns:r="http://schemas.openxmlformats.org/officeDocument/2006/relationships" id="2147483648" r:id="R34395486a9104ec1"/>
  </p:sldMasterIdLst>
  <p:notesMasterIdLst>
    <p:notesMasterId xmlns:r="http://schemas.openxmlformats.org/officeDocument/2006/relationships" r:id="R25431cb733f24b50"/>
  </p:notesMasterIdLst>
  <p:sldIdLst>
    <p:sldId xmlns:r="http://schemas.openxmlformats.org/officeDocument/2006/relationships" id="256" r:id="R941bdcfdcd554a6a"/>
    <p:sldId xmlns:r="http://schemas.openxmlformats.org/officeDocument/2006/relationships" id="257" r:id="Rfdffc486418241f1"/>
    <p:sldId xmlns:r="http://schemas.openxmlformats.org/officeDocument/2006/relationships" id="258" r:id="R5d99b7d704344cb9"/>
    <p:sldId xmlns:r="http://schemas.openxmlformats.org/officeDocument/2006/relationships" id="259" r:id="R472876b345f54a2a"/>
    <p:sldId xmlns:r="http://schemas.openxmlformats.org/officeDocument/2006/relationships" id="260" r:id="R75fbc046a5874a42"/>
    <p:sldId xmlns:r="http://schemas.openxmlformats.org/officeDocument/2006/relationships" id="261" r:id="R887166fbbf9f4c9b"/>
    <p:sldId xmlns:r="http://schemas.openxmlformats.org/officeDocument/2006/relationships" id="262" r:id="Rf17a7711996d4583"/>
    <p:sldId xmlns:r="http://schemas.openxmlformats.org/officeDocument/2006/relationships" id="263" r:id="R2d680e2dae594a2f"/>
    <p:sldId xmlns:r="http://schemas.openxmlformats.org/officeDocument/2006/relationships" id="264" r:id="R9ea7a2987d334fe1"/>
    <p:sldId xmlns:r="http://schemas.openxmlformats.org/officeDocument/2006/relationships" id="265" r:id="Rd8c5e077f5184355"/>
    <p:sldId xmlns:r="http://schemas.openxmlformats.org/officeDocument/2006/relationships" id="266" r:id="Ra16e8ae892bd44bf"/>
    <p:sldId xmlns:r="http://schemas.openxmlformats.org/officeDocument/2006/relationships" id="267" r:id="Re4e5ef9cea404c8a"/>
    <p:sldId xmlns:r="http://schemas.openxmlformats.org/officeDocument/2006/relationships" id="268" r:id="R9a4c7e660e6143a5"/>
    <p:sldId xmlns:r="http://schemas.openxmlformats.org/officeDocument/2006/relationships" id="269" r:id="R8254602cab5d4e75"/>
    <p:sldId xmlns:r="http://schemas.openxmlformats.org/officeDocument/2006/relationships" id="270" r:id="R88d4be83aa5647f2"/>
    <p:sldId xmlns:r="http://schemas.openxmlformats.org/officeDocument/2006/relationships" id="271" r:id="Rfb940f2e02c74ea2"/>
    <p:sldId xmlns:r="http://schemas.openxmlformats.org/officeDocument/2006/relationships" id="272" r:id="R54537145e4fc468c"/>
    <p:sldId xmlns:r="http://schemas.openxmlformats.org/officeDocument/2006/relationships" id="273" r:id="R5ade6e15faa24a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e6faa6a28c14b91" /><Relationship Type="http://schemas.openxmlformats.org/officeDocument/2006/relationships/slideMaster" Target="/ppt/slideMasters/slideMaster1.xml" Id="R34395486a9104ec1" /><Relationship Type="http://schemas.openxmlformats.org/officeDocument/2006/relationships/notesMaster" Target="/ppt/notesMasters/notesMaster1.xml" Id="R25431cb733f24b50" /><Relationship Type="http://schemas.openxmlformats.org/officeDocument/2006/relationships/presProps" Target="/ppt/presProps.xml" Id="R19f512c47a054ff8" /><Relationship Type="http://schemas.openxmlformats.org/officeDocument/2006/relationships/viewProps" Target="/ppt/viewProps.xml" Id="R49e24c26c86945b9" /><Relationship Type="http://schemas.openxmlformats.org/officeDocument/2006/relationships/tableStyles" Target="/ppt/tableStyles.xml" Id="R8932a47d0eb14607" /><Relationship Type="http://schemas.openxmlformats.org/officeDocument/2006/relationships/slide" Target="/ppt/slides/slide1.xml" Id="R941bdcfdcd554a6a" /><Relationship Type="http://schemas.openxmlformats.org/officeDocument/2006/relationships/slide" Target="/ppt/slides/slide2.xml" Id="Rfdffc486418241f1" /><Relationship Type="http://schemas.openxmlformats.org/officeDocument/2006/relationships/slide" Target="/ppt/slides/slide3.xml" Id="R5d99b7d704344cb9" /><Relationship Type="http://schemas.openxmlformats.org/officeDocument/2006/relationships/slide" Target="/ppt/slides/slide4.xml" Id="R472876b345f54a2a" /><Relationship Type="http://schemas.openxmlformats.org/officeDocument/2006/relationships/slide" Target="/ppt/slides/slide5.xml" Id="R75fbc046a5874a42" /><Relationship Type="http://schemas.openxmlformats.org/officeDocument/2006/relationships/slide" Target="/ppt/slides/slide6.xml" Id="R887166fbbf9f4c9b" /><Relationship Type="http://schemas.openxmlformats.org/officeDocument/2006/relationships/slide" Target="/ppt/slides/slide7.xml" Id="Rf17a7711996d4583" /><Relationship Type="http://schemas.openxmlformats.org/officeDocument/2006/relationships/slide" Target="/ppt/slides/slide8.xml" Id="R2d680e2dae594a2f" /><Relationship Type="http://schemas.openxmlformats.org/officeDocument/2006/relationships/slide" Target="/ppt/slides/slide9.xml" Id="R9ea7a2987d334fe1" /><Relationship Type="http://schemas.openxmlformats.org/officeDocument/2006/relationships/slide" Target="/ppt/slides/slide10.xml" Id="Rd8c5e077f5184355" /><Relationship Type="http://schemas.openxmlformats.org/officeDocument/2006/relationships/slide" Target="/ppt/slides/slide11.xml" Id="Ra16e8ae892bd44bf" /><Relationship Type="http://schemas.openxmlformats.org/officeDocument/2006/relationships/slide" Target="/ppt/slides/slide12.xml" Id="Re4e5ef9cea404c8a" /><Relationship Type="http://schemas.openxmlformats.org/officeDocument/2006/relationships/slide" Target="/ppt/slides/slide13.xml" Id="R9a4c7e660e6143a5" /><Relationship Type="http://schemas.openxmlformats.org/officeDocument/2006/relationships/slide" Target="/ppt/slides/slide14.xml" Id="R8254602cab5d4e75" /><Relationship Type="http://schemas.openxmlformats.org/officeDocument/2006/relationships/slide" Target="/ppt/slides/slide15.xml" Id="R88d4be83aa5647f2" /><Relationship Type="http://schemas.openxmlformats.org/officeDocument/2006/relationships/slide" Target="/ppt/slides/slide16.xml" Id="Rfb940f2e02c74ea2" /><Relationship Type="http://schemas.openxmlformats.org/officeDocument/2006/relationships/slide" Target="/ppt/slides/slide17.xml" Id="R54537145e4fc468c" /><Relationship Type="http://schemas.openxmlformats.org/officeDocument/2006/relationships/slide" Target="/ppt/slides/slide18.xml" Id="R5ade6e15faa24a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7ebd8c8cd649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9bdde594944fec" /><Relationship Type="http://schemas.openxmlformats.org/officeDocument/2006/relationships/notesMaster" Target="/ppt/notesMasters/notesMaster1.xml" Id="R111602f5cd5841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c219972ee14a08" /><Relationship Type="http://schemas.openxmlformats.org/officeDocument/2006/relationships/notesMaster" Target="/ppt/notesMasters/notesMaster1.xml" Id="R1a443abd47554b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4e6bcbd6ba479a" /><Relationship Type="http://schemas.openxmlformats.org/officeDocument/2006/relationships/notesMaster" Target="/ppt/notesMasters/notesMaster1.xml" Id="R7305966d8b5b4e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420121f2c94cba" /><Relationship Type="http://schemas.openxmlformats.org/officeDocument/2006/relationships/notesMaster" Target="/ppt/notesMasters/notesMaster1.xml" Id="R06f733ae60ca47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137314c5da44c5" /><Relationship Type="http://schemas.openxmlformats.org/officeDocument/2006/relationships/notesMaster" Target="/ppt/notesMasters/notesMaster1.xml" Id="R9f15034d85fe47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caf2e251f0417b" /><Relationship Type="http://schemas.openxmlformats.org/officeDocument/2006/relationships/notesMaster" Target="/ppt/notesMasters/notesMaster1.xml" Id="R421b03fb2f8244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6c2e36f5074385" /><Relationship Type="http://schemas.openxmlformats.org/officeDocument/2006/relationships/notesMaster" Target="/ppt/notesMasters/notesMaster1.xml" Id="Rf363f3dfdbe646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dea65a15454d03" /><Relationship Type="http://schemas.openxmlformats.org/officeDocument/2006/relationships/notesMaster" Target="/ppt/notesMasters/notesMaster1.xml" Id="Rb4e7efeaf1874a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cb4984323c4908" /><Relationship Type="http://schemas.openxmlformats.org/officeDocument/2006/relationships/notesMaster" Target="/ppt/notesMasters/notesMaster1.xml" Id="R749420686c114e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0f48c591974e2c" /><Relationship Type="http://schemas.openxmlformats.org/officeDocument/2006/relationships/notesMaster" Target="/ppt/notesMasters/notesMaster1.xml" Id="R8381fb783f5140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a18a01f16c43dd" /><Relationship Type="http://schemas.openxmlformats.org/officeDocument/2006/relationships/notesMaster" Target="/ppt/notesMasters/notesMaster1.xml" Id="Rd9f94ee413e543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ff272bda6c4792" /><Relationship Type="http://schemas.openxmlformats.org/officeDocument/2006/relationships/notesMaster" Target="/ppt/notesMasters/notesMaster1.xml" Id="R07188d641bd446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ef7158c5eb4385" /><Relationship Type="http://schemas.openxmlformats.org/officeDocument/2006/relationships/notesMaster" Target="/ppt/notesMasters/notesMaster1.xml" Id="Rf0d2a36ee66d4f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0fbe6c34fd4a7e" /><Relationship Type="http://schemas.openxmlformats.org/officeDocument/2006/relationships/notesMaster" Target="/ppt/notesMasters/notesMaster1.xml" Id="R265c9de4f48640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8d3bb562fc4b8a" /><Relationship Type="http://schemas.openxmlformats.org/officeDocument/2006/relationships/notesMaster" Target="/ppt/notesMasters/notesMaster1.xml" Id="R5c214a87d0c640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2e638fd06a40ac" /><Relationship Type="http://schemas.openxmlformats.org/officeDocument/2006/relationships/notesMaster" Target="/ppt/notesMasters/notesMaster1.xml" Id="R1621110b44384e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e6b43af7ff4dff" /><Relationship Type="http://schemas.openxmlformats.org/officeDocument/2006/relationships/notesMaster" Target="/ppt/notesMasters/notesMaster1.xml" Id="Ra60b0df844dc4c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da8962921b4d20" /><Relationship Type="http://schemas.openxmlformats.org/officeDocument/2006/relationships/notesMaster" Target="/ppt/notesMasters/notesMaster1.xml" Id="R1b1ec5731b944e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https://www.modubaekje.com</a:t>
            </a:r>
          </a:p>
          <a:p xmlns:a="http://schemas.openxmlformats.org/drawingml/2006/main">
            <a:r>
              <a:t>원본 공모전 기능설명서의 표지와 서식을 유지했습니다.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대상은 휠체어 이용자, 보행·시청각에 불편이 있는 여행자와 유아차 동행자입니다. 산성·유적·박물관이 연결된 공주·부여에서 장소별 관람 조건을 대조하는 필요성을 설명했습니다. 공산성 출입통로 원문과 관람 동선 자료를 검토해 정리한 문제의식입니다. 특정 개인의 실제 이용 후기나 관광약자 인터뷰를 인용한 문장이 아닙니다.</a:t>
            </a:r>
          </a:p>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한국어·영어 인터페이스를 제공하며, 주요 기능에 키보드 조작과 스크린리더 안내를 적용했습니다.</a:t>
            </a:r>
          </a:p>
          <a:p xmlns:a="http://schemas.openxmlformats.org/drawingml/2006/main">
            <a:r>
              <a:t>한국어·영어는 인터페이스의 제공 범위입니다. 오디 원문 전체의 영어 번역, 수어, 점자 지원을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2026-09-20 실제 운영 서비스의 밝은 화면입니다. 대표 화면은 로고·조건·여행 시간·진입 버튼을 함께 담았고 상세 화면은 각 기능의 입력과 결과가 함께 보이는 영역입니다. 화면 내용은 합성하지 않았습니다. 조건별 판정은 휠체어 이용 단독 기준입니다.</a:t>
            </a:r>
          </a:p>
          <a:p xmlns:a="http://schemas.openxmlformats.org/drawingml/2006/main">
            <a:r>
              <a:t>https://www.modubaekje.com/ko</a:t>
            </a:r>
          </a:p>
          <a:p xmlns:a="http://schemas.openxmlformats.org/drawingml/2006/main">
            <a:r>
              <a:t>https://www.modubaekje.com/ko/places/gongsanseong</a:t>
            </a:r>
          </a:p>
          <a:p xmlns:a="http://schemas.openxmlformats.org/drawingml/2006/main">
            <a:r>
              <a:t>https://www.modubaekje.com/ko/courses</a:t>
            </a:r>
          </a:p>
          <a:p xmlns:a="http://schemas.openxmlformats.org/drawingml/2006/main">
            <a:r>
              <a:t>https://www.modubaekje.com/ko/gap-report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13곳은 공주 4곳·부여 9곳이며 13곳 모두가 세계유산 구성유산은 아닙니다. 박물관·주변 관광지를 포함합니다. 세계유산 해당 표시는 관광지별 메타데이터에 따릅니다.</a:t>
            </a:r>
          </a:p>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a:p xmlns:a="http://schemas.openxmlformats.org/drawingml/2006/main">
            <a:r>
              <a:t>화면 흐름 1/2.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사례는 휠체어 이용 단독 선택 기준입니다. 공산성은 출입통로와 관람 동선에 조건이 있고, 같은 조건의 국립공주박물관은 방문 가능으로 표시됩니다. 귀가 잘 안 들림을 함께 선택하면 공산성의 전체 결과는 정보 없음이지만 휠체어의 주의 필요와 청각 조건의 미확인 항목을 각각 확인할 수 있습니다. 구드래조각공원은 휠체어 기준 4개 중 3개가 미확인입니다. 판정은 수집 자료와 자체 규칙에 따른 안내이며 무장애 인증이나 안전 보장은 아닙니다.</a:t>
            </a:r>
          </a:p>
          <a:p xmlns:a="http://schemas.openxmlformats.org/drawingml/2006/main">
            <a:r>
              <a:t>화면: https://www.modubaekje.com/ko/places/gongsanseong</a:t>
            </a:r>
          </a:p>
          <a:p xmlns:a="http://schemas.openxmlformats.org/drawingml/2006/main">
            <a:r>
              <a:t>원문: https://access.visitkorea.or.kr/ms/detail.do?cotId=e9a2d704-24ee-429d-bf0f-4964f9f372de</a:t>
            </a:r>
          </a:p>
          <a:p xmlns:a="http://schemas.openxmlformats.org/drawingml/2006/main">
            <a:r>
              <a:t>화면 흐름 2/2.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코스는 사전 작성한 3개 템플릿입니다. 선택한 조건에 맞춰 체류 시간을 보정하고 이동 부담을 안내합니다. 표시 시간은 체류·이동 예상치로, 추가 휴식 시간은 포함하지 않습니다. 공산성·부소산성 각 5단계 안내는 공개 자료 기반이며 현장 실측 경로나 실시간 길찾기가 아닙니다.</a:t>
            </a:r>
          </a:p>
          <a:p xmlns:a="http://schemas.openxmlformats.org/drawingml/2006/main">
            <a:r>
              <a:t>화면: https://www.modubaekje.com/ko/courses</a:t>
            </a:r>
          </a:p>
          <a:p xmlns:a="http://schemas.openxmlformats.org/drawingml/2006/main">
            <a:r>
              <a:t>화면: https://www.modubaekje.com/ko/places/gongsanseong/route-guide</a:t>
            </a:r>
          </a:p>
          <a:p xmlns:a="http://schemas.openxmlformats.org/drawingml/2006/main">
            <a:r>
              <a:t>화면 흐름 1/2.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코스는 사전 작성한 3개 템플릿입니다. 선택한 조건에 맞춰 체류 시간을 보정하고 이동 부담을 안내합니다. 표시 시간은 체류·이동 예상치로, 추가 휴식 시간은 포함하지 않습니다. 공산성·부소산성 각 5단계 안내는 공개 자료 기반이며 현장 실측 경로나 실시간 길찾기가 아닙니다.</a:t>
            </a:r>
          </a:p>
          <a:p xmlns:a="http://schemas.openxmlformats.org/drawingml/2006/main">
            <a:r>
              <a:t>화면: https://www.modubaekje.com/ko/courses</a:t>
            </a:r>
          </a:p>
          <a:p xmlns:a="http://schemas.openxmlformats.org/drawingml/2006/main">
            <a:r>
              <a:t>화면: https://www.modubaekje.com/ko/places/gongsanseong/route-guide</a:t>
            </a:r>
          </a:p>
          <a:p xmlns:a="http://schemas.openxmlformats.org/drawingml/2006/main">
            <a:r>
              <a:t>화면 흐름 2/2.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오디 원음이 없거나 재생에 실패하면 기기 음성 합성을 사용할 수 있습니다. 대본은 재생 없이도 읽을 수 있습니다. PDF는 브라우저 인쇄의 저장 기능을 사용합니다. GPX는 저장된 장소 좌표를 내보내며 방문자의 GPS 이동 궤적을 기록하지 않습니다. 화면의 메모는 시연용이며 방문 완료 체크는 해제했습니다. 텍스트·GPX 변환 요청은 서버로 전송되지만 저장하지 않습니다.</a:t>
            </a:r>
          </a:p>
          <a:p xmlns:a="http://schemas.openxmlformats.org/drawingml/2006/main">
            <a:r>
              <a:t>화면: https://www.modubaekje.com/ko/places/gongsanseong/docent</a:t>
            </a:r>
          </a:p>
          <a:p xmlns:a="http://schemas.openxmlformats.org/drawingml/2006/main">
            <a:r>
              <a:t>화면: https://www.modubaekje.com/ko/diary</a:t>
            </a:r>
          </a:p>
          <a:p xmlns:a="http://schemas.openxmlformats.org/drawingml/2006/main">
            <a:r>
              <a:t>화면: https://www.modubaekje.com/ko/diary/print</a:t>
            </a:r>
          </a:p>
          <a:p xmlns:a="http://schemas.openxmlformats.org/drawingml/2006/main">
            <a:r>
              <a:t>해설·사진 출처: 한국관광공사 TourAPI, Odii</a:t>
            </a:r>
          </a:p>
          <a:p xmlns:a="http://schemas.openxmlformats.org/drawingml/2006/main">
            <a:r>
              <a:t>화면 흐름 1/2.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오디 원음이 없거나 재생에 실패하면 기기 음성 합성을 사용할 수 있습니다. 대본은 재생 없이도 읽을 수 있습니다. PDF는 브라우저 인쇄의 저장 기능을 사용합니다. GPX는 저장된 장소 좌표를 내보내며 방문자의 GPS 이동 궤적을 기록하지 않습니다. 화면의 메모는 시연용이며 방문 완료 체크는 해제했습니다. 텍스트·GPX 변환 요청은 서버로 전송되지만 저장하지 않습니다.</a:t>
            </a:r>
          </a:p>
          <a:p xmlns:a="http://schemas.openxmlformats.org/drawingml/2006/main">
            <a:r>
              <a:t>화면: https://www.modubaekje.com/ko/places/gongsanseong/docent</a:t>
            </a:r>
          </a:p>
          <a:p xmlns:a="http://schemas.openxmlformats.org/drawingml/2006/main">
            <a:r>
              <a:t>화면: https://www.modubaekje.com/ko/diary</a:t>
            </a:r>
          </a:p>
          <a:p xmlns:a="http://schemas.openxmlformats.org/drawingml/2006/main">
            <a:r>
              <a:t>화면: https://www.modubaekje.com/ko/diary/print</a:t>
            </a:r>
          </a:p>
          <a:p xmlns:a="http://schemas.openxmlformats.org/drawingml/2006/main">
            <a:r>
              <a:t>해설·사진 출처: 한국관광공사 TourAPI, Odii</a:t>
            </a:r>
          </a:p>
          <a:p xmlns:a="http://schemas.openxmlformats.org/drawingml/2006/main">
            <a:r>
              <a:t>화면 흐름 2/2.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제보는 사전 검수 없이 공개되며 확인된 무장애 정보와 별도 영역에서 보여줍니다. 운영자는 신고 내용을 숨기거나 복원할 수 있고, 정식 안내 반영에는 별도 출처 확인이 필요합니다. 캡처는 입력 양식과 공개 방식 안내입니다. 허구의 상황을 운영 서비스에 등록하지 않았습니다.</a:t>
            </a:r>
          </a:p>
          <a:p xmlns:a="http://schemas.openxmlformats.org/drawingml/2006/main">
            <a:r>
              <a:t>화면: https://www.modubaekje.com/ko/report?poi=gongsanseong</a:t>
            </a:r>
          </a:p>
          <a:p xmlns:a="http://schemas.openxmlformats.org/drawingml/2006/main">
            <a:r>
              <a:t>화면: https://www.modubaekje.com/ko/places/gongsanseong#visitor-reports</a:t>
            </a:r>
          </a:p>
          <a:p xmlns:a="http://schemas.openxmlformats.org/drawingml/2006/main">
            <a:r>
              <a:t>화면 흐름 1/2.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제보는 사전 검수 없이 공개되며 확인된 무장애 정보와 별도 영역에서 보여줍니다. 운영자는 신고 내용을 숨기거나 복원할 수 있고, 정식 안내 반영에는 별도 출처 확인이 필요합니다. 캡처는 입력 양식과 공개 방식 안내입니다. 허구의 상황을 운영 서비스에 등록하지 않았습니다.</a:t>
            </a:r>
          </a:p>
          <a:p xmlns:a="http://schemas.openxmlformats.org/drawingml/2006/main">
            <a:r>
              <a:t>화면: https://www.modubaekje.com/ko/report?poi=gongsanseong</a:t>
            </a:r>
          </a:p>
          <a:p xmlns:a="http://schemas.openxmlformats.org/drawingml/2006/main">
            <a:r>
              <a:t>화면: https://www.modubaekje.com/ko/places/gongsanseong#visitor-reports</a:t>
            </a:r>
          </a:p>
          <a:p xmlns:a="http://schemas.openxmlformats.org/drawingml/2006/main">
            <a:r>
              <a:t>화면 흐름 2/2.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리포트의 대상은 수록한 13곳입니다. 한국관광공사 항목 중 해당 없음인 객실 2개를 제외해 관광지당 21개, 전체 273칸을 집계합니다. 현재 저장본은 한국관광공사 확인 46, 별도 공개자료 확인 67, 미확인 160입니다. 별도 자료 확인 수는 지자체의 정보 개선 실적이 아닙니다. CSV 168행은 미확인 160행과 이용 불가 8행을 함께 담아 상태로 구분합니다. 자막 영상 안내 13/13곳 미확인은 시설이 없다는 의미가 아닙니다. 기관과의 정기 전달·정보 수정 협의는 향후 계획입니다.</a:t>
            </a:r>
          </a:p>
          <a:p xmlns:a="http://schemas.openxmlformats.org/drawingml/2006/main">
            <a:r>
              <a:t>화면: https://www.modubaekje.com/ko/gap-report</a:t>
            </a:r>
          </a:p>
          <a:p xmlns:a="http://schemas.openxmlformats.org/drawingml/2006/main">
            <a:r>
              <a:t>CSV: https://www.modubaekje.com/api/gap-report/csv?locale=ko</a:t>
            </a:r>
          </a:p>
          <a:p xmlns:a="http://schemas.openxmlformats.org/drawingml/2006/main">
            <a:r>
              <a:t>화면 흐름 1/2. 두 단계씩 큰 화면으로 구성했습니다. 캡처: 2026-09-20, 밝은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리포트의 대상은 수록한 13곳입니다. 한국관광공사 항목 중 해당 없음인 객실 2개를 제외해 관광지당 21개, 전체 273칸을 집계합니다. 현재 저장본은 한국관광공사 확인 46, 별도 공개자료 확인 67, 미확인 160입니다. 별도 자료 확인 수는 지자체의 정보 개선 실적이 아닙니다. CSV 168행은 미확인 160행과 이용 불가 8행을 함께 담아 상태로 구분합니다. 자막 영상 안내 13/13곳 미확인은 시설이 없다는 의미가 아닙니다. 기관과의 정기 전달·정보 수정 협의는 향후 계획입니다.</a:t>
            </a:r>
          </a:p>
          <a:p xmlns:a="http://schemas.openxmlformats.org/drawingml/2006/main">
            <a:r>
              <a:t>화면: https://www.modubaekje.com/ko/gap-report</a:t>
            </a:r>
          </a:p>
          <a:p xmlns:a="http://schemas.openxmlformats.org/drawingml/2006/main">
            <a:r>
              <a:t>CSV: https://www.modubaekje.com/api/gap-report/csv?locale=ko</a:t>
            </a:r>
          </a:p>
          <a:p xmlns:a="http://schemas.openxmlformats.org/drawingml/2006/main">
            <a:r>
              <a:t>화면 흐름 2/2. 두 단계씩 큰 화면으로 구성했습니다. 캡처: 2026-09-20, 밝은 화면.</a:t>
            </a:r>
          </a:p>
          <a:p xmlns:a="http://schemas.openxmlformats.org/drawingml/2006/main">
            <a:r>
              <a:t>CSV 표는 실제 내려받은 168행 중 미확인 2행과 이용 불가 2행, 주요 5열을 발췌한 편집 가능한 표입니다. 데이터 값은 원문 그대로입니다.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관광정보는 정기 수집한 스냅샷을 읽습니다. API별 연결 근거는 src/lib/kto/services.ts와 scripts/ingest.ts입니다.</a:t>
            </a:r>
          </a:p>
          <a:p xmlns:a="http://schemas.openxmlformats.org/drawingml/2006/main">
            <a:r>
              <a:t>KorWithService2 → 접근성 원문·판정·갭 리포트</a:t>
            </a:r>
          </a:p>
          <a:p xmlns:a="http://schemas.openxmlformats.org/drawingml/2006/main">
            <a:r>
              <a:t>KorService2 / PhotoGalleryService1 → 관광지 기본정보·사진</a:t>
            </a:r>
          </a:p>
          <a:p xmlns:a="http://schemas.openxmlformats.org/drawingml/2006/main">
            <a:r>
              <a:t>Odii → 오디오·대본</a:t>
            </a:r>
          </a:p>
          <a:p xmlns:a="http://schemas.openxmlformats.org/drawingml/2006/main">
            <a:r>
              <a:t>TatsCnctrRateService / DataLabService → 예측 혼잡·방문자 일평균</a:t>
            </a:r>
          </a:p>
          <a:p xmlns:a="http://schemas.openxmlformats.org/drawingml/2006/main">
            <a:r>
              <a:t>TarRlteTarService1 → 연관관광지 이름 목록</a:t>
            </a:r>
          </a:p>
          <a:p xmlns:a="http://schemas.openxmlformats.org/drawingml/2006/main">
            <a:r>
              <a:t>출처: https://api.visitkorea.or.kr/</a:t>
            </a:r>
          </a:p>
          <a:p xmlns:a="http://schemas.openxmlformats.org/drawingml/2006/main">
            <a:r>
              <a:t>영문 조회는 현재 소개 데이터가 비어 있어 활용 실적에서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기상청 단기예보·특보 API: https://www.data.go.kr/</a:t>
            </a:r>
          </a:p>
          <a:p xmlns:a="http://schemas.openxmlformats.org/drawingml/2006/main">
            <a:r>
              <a:t>네이버 지도 JavaScript API: https://www.ncloud.com/product/applicationService/maps</a:t>
            </a:r>
          </a:p>
          <a:p xmlns:a="http://schemas.openxmlformats.org/drawingml/2006/main">
            <a:r>
              <a:t>지역 공식 자료의 개별 URL과 확인일은 서비스 상세의 원문 출처와 content/curated-facts.json에 보존했습니다. 공식 문서 큐레이션은 별도 API로 표시하지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차별성은 현재 제공하는 기능 구조를 설명하며 최초·유일성을 주장하지 않습니다. 발전계획의 관광약자·전문가 현장 검토, 기관 담당자·갱신 방식 협의, 충남 확대는 향후 과제입니다. 현재 협약이나 실사용 효과를 이미 달성했다고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66091823034e0d" /><Relationship Type="http://schemas.openxmlformats.org/officeDocument/2006/relationships/image" Target="/ppt/media/image.png" Id="Rebdfc170e72f44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3eb3de91ac4aee" /><Relationship Type="http://schemas.openxmlformats.org/officeDocument/2006/relationships/image" Target="/ppt/media/image2.png" Id="R772b753f30e446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2c6200d97b49c6" /><Relationship Type="http://schemas.openxmlformats.org/officeDocument/2006/relationships/image" Target="/ppt/media/image3.png" Id="Re16f62d089234e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8b3507ab8c448b" /><Relationship Type="http://schemas.openxmlformats.org/officeDocument/2006/relationships/image" Target="/ppt/media/image4.png" Id="Ra3306001412143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a2766008fa4d04" /><Relationship Type="http://schemas.openxmlformats.org/officeDocument/2006/relationships/image" Target="/ppt/media/image5.png" Id="Rfa2141a69a5f45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380f1bed5e4433" /><Relationship Type="http://schemas.openxmlformats.org/officeDocument/2006/relationships/image" Target="/ppt/media/image6.png" Id="Rcffc98de2e8643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3c28e7239b43a9" /><Relationship Type="http://schemas.openxmlformats.org/officeDocument/2006/relationships/image" Target="/ppt/media/image7.png" Id="R027bc10a2d9c49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6d7fa435b0d426f"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2" name="그림 1"/>
          <p:cNvPicPr>
            <a:picLocks xmlns:a="http://schemas.openxmlformats.org/drawingml/2006/main" noChangeAspect="1"/>
          </p:cNvPicPr>
          <p:nvPr/>
        </p:nvPicPr>
        <p:blipFill>
          <a:blip xmlns:r="http://schemas.openxmlformats.org/officeDocument/2006/relationships" xmlns:a="http://schemas.openxmlformats.org/drawingml/2006/main" r:embed="Rebdfc170e72f44e2"/>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서비스 소개">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772b753f30e44609"/>
          <a:stretch xmlns:a="http://schemas.openxmlformats.org/drawingml/2006/main">
            <a:fillRect l="0" t="0" r="0" b="0"/>
          </a:stretch>
        </p:blipFill>
        <p:spPr>
          <a:xfrm xmlns:a="http://schemas.openxmlformats.org/drawingml/2006/main">
            <a:off x="0" y="0"/>
            <a:ext cx="12192000" cy="6857999"/>
          </a:xfrm>
          <a:prstGeom xmlns:a="http://schemas.openxmlformats.org/drawingml/2006/main" prst="rect">
            <a:avLst/>
          </a:prstGeom>
        </p:spPr>
      </p:pic>
    </p:spTree>
  </p:cSld>
</p:sldLayout>
</file>

<file path=ppt/slideLayouts/slideLayout3.xml><?xml version="1.0" encoding="utf-8"?>
<p:sldLayout xmlns:p="http://schemas.openxmlformats.org/presentationml/2006/main" type="blank" preserve="1">
  <p:cSld name="지역 특화 서비스 구현 세부내용">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e16f62d089234eb7"/>
          <a:stretch xmlns:a="http://schemas.openxmlformats.org/drawingml/2006/main">
            <a:fillRect l="0" t="0" r="0" b="0"/>
          </a:stretch>
        </p:blipFill>
        <p:spPr>
          <a:xfrm xmlns:a="http://schemas.openxmlformats.org/drawingml/2006/main">
            <a:off x="0" y="0"/>
            <a:ext cx="12192000" cy="6840835"/>
          </a:xfrm>
          <a:prstGeom xmlns:a="http://schemas.openxmlformats.org/drawingml/2006/main" prst="rect">
            <a:avLst/>
          </a:prstGeom>
        </p:spPr>
      </p:pic>
    </p:spTree>
  </p:cSld>
</p:sldLayout>
</file>

<file path=ppt/slideLayouts/slideLayout4.xml><?xml version="1.0" encoding="utf-8"?>
<p:sldLayout xmlns:p="http://schemas.openxmlformats.org/presentationml/2006/main" type="blank" preserve="1">
  <p:cSld name="서비스 핵심 기능별 흐름도">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a3306001412143ae"/>
          <a:stretch xmlns:a="http://schemas.openxmlformats.org/drawingml/2006/main">
            <a:fillRect l="0" t="0" r="0" b="0"/>
          </a:stretch>
        </p:blipFill>
        <p:spPr>
          <a:xfrm xmlns:a="http://schemas.openxmlformats.org/drawingml/2006/main">
            <a:off x="13438" y="18574"/>
            <a:ext cx="12165123" cy="6839426"/>
          </a:xfrm>
          <a:prstGeom xmlns:a="http://schemas.openxmlformats.org/drawingml/2006/main" prst="rect">
            <a:avLst/>
          </a:prstGeom>
        </p:spPr>
      </p:pic>
    </p:spTree>
  </p:cSld>
</p:sldLayout>
</file>

<file path=ppt/slideLayouts/slideLayout5.xml><?xml version="1.0" encoding="utf-8"?>
<p:sldLayout xmlns:p="http://schemas.openxmlformats.org/presentationml/2006/main" type="blank" preserve="1">
  <p:cSld name="데이터 활용(한국관광공사 OpenAPI)">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fa2141a69a5f4538"/>
          <a:stretch xmlns:a="http://schemas.openxmlformats.org/drawingml/2006/main">
            <a:fillRect l="0" t="0" r="0" b="0"/>
          </a:stretch>
        </p:blipFill>
        <p:spPr>
          <a:xfrm xmlns:a="http://schemas.openxmlformats.org/drawingml/2006/main">
            <a:off x="3912" y="13811"/>
            <a:ext cx="12184175" cy="6830378"/>
          </a:xfrm>
          <a:prstGeom xmlns:a="http://schemas.openxmlformats.org/drawingml/2006/main" prst="rect">
            <a:avLst/>
          </a:prstGeom>
        </p:spPr>
      </p:pic>
    </p:spTree>
  </p:cSld>
</p:sldLayout>
</file>

<file path=ppt/slideLayouts/slideLayout6.xml><?xml version="1.0" encoding="utf-8"?>
<p:sldLayout xmlns:p="http://schemas.openxmlformats.org/presentationml/2006/main" type="blank" preserve="1">
  <p:cSld name="데이터 활용(기타)">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cffc98de2e864391"/>
          <a:stretch xmlns:a="http://schemas.openxmlformats.org/drawingml/2006/main">
            <a:fillRect l="0" t="0" r="0" b="0"/>
          </a:stretch>
        </p:blipFill>
        <p:spPr>
          <a:xfrm xmlns:a="http://schemas.openxmlformats.org/drawingml/2006/main">
            <a:off x="8675" y="9047"/>
            <a:ext cx="12174649" cy="6839905"/>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서비스 차별성&amp;발전계획">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027bc10a2d9c4971"/>
          <a:stretch xmlns:a="http://schemas.openxmlformats.org/drawingml/2006/main">
            <a:fillRect l="0" t="0" r="0" b="0"/>
          </a:stretch>
        </p:blipFill>
        <p:spPr>
          <a:xfrm xmlns:a="http://schemas.openxmlformats.org/drawingml/2006/main">
            <a:off x="3912" y="4284"/>
            <a:ext cx="12184175" cy="6849431"/>
          </a:xfrm>
          <a:prstGeom xmlns:a="http://schemas.openxmlformats.org/drawingml/2006/main" prst="rect">
            <a:avLst/>
          </a:prstGeom>
        </p:spPr>
      </p:pic>
    </p:spTree>
  </p:cSld>
</p:sldLayout>
</file>

<file path=ppt/slideLayouts/slideLayout8.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0A37F62A-0BFA-4F2E-B0AB-75A147AACD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38FB6A-844E-4645-B6B8-D2945F9927BB}" type="datetimeFigureOut">
              <a:t>2026-07-29</a:t>
            </a:fld>
            <a:endParaRPr/>
          </a:p>
        </p:txBody>
      </p:sp>
      <p:sp>
        <p:nvSpPr>
          <p:cNvPr id="3" name="바닥글 개체 틀 2">
            <a:extLst xmlns:a="http://schemas.openxmlformats.org/drawingml/2006/main">
              <a:ext uri="{FF2B5EF4-FFF2-40B4-BE49-F238E27FC236}">
                <a16:creationId xmlns:a16="http://schemas.microsoft.com/office/drawing/2014/main" id="{D5914580-D52C-4DF5-B754-A90E3E3DD1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BF39DD27-C8C7-41BE-86C8-A27824A692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32701-68F9-4777-ABB9-C14E97591467}" type="slidenum">
              <a:t>‹#›</a:t>
            </a:fld>
            <a:endParaRPr/>
          </a:p>
        </p:txBody>
      </p:sp>
      <p:sp>
        <p:nvSpPr>
          <p:cNvPr id="12" name="TextBox 11">
            <a:extLst xmlns:a="http://schemas.openxmlformats.org/drawingml/2006/main">
              <a:ext uri="{FF2B5EF4-FFF2-40B4-BE49-F238E27FC236}">
                <a16:creationId xmlns:a16="http://schemas.microsoft.com/office/drawing/2014/main" id="{5C1C256B-F494-4609-9E3E-213EE847D590}"/>
              </a:ext>
            </a:extLst>
          </p:cNvPr>
          <p:cNvSpPr>
            <a:spLocks xmlns:a="http://schemas.openxmlformats.org/drawingml/2006/main" noGrp="1"/>
          </p:cNvSpPr>
          <p:nvPr/>
        </p:nvSpPr>
        <p:spPr>
          <a:xfrm xmlns:a="http://schemas.openxmlformats.org/drawingml/2006/main" rot="0" flipH="0" flipV="0">
            <a:off x="8161715" y="256797"/>
            <a:ext cx="2419001" cy="340519"/>
          </a:xfrm>
          <a:prstGeom xmlns:a="http://schemas.openxmlformats.org/drawingml/2006/main" prst="round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a:solidFill>
                  <a:schemeClr val="bg1"/>
                </a:solidFill>
                <a:latin typeface="Noto Sans KR Medium"/>
                <a:ea typeface="Noto Sans KR Medium"/>
                <a:cs typeface="Noto Sans KR Medium"/>
              </a:rPr>
              <a:t>2026 </a:t>
            </a:r>
            <a:r>
              <a:rPr sz="1400">
                <a:solidFill>
                  <a:schemeClr val="bg1"/>
                </a:solidFill>
                <a:latin typeface="Noto Sans KR Medium"/>
                <a:ea typeface="Noto Sans KR Medium"/>
                <a:cs typeface="Noto Sans KR Medium"/>
              </a:rPr>
              <a:t>관광데이터 활용 공모전</a:t>
            </a:r>
            <a:endParaRPr sz="1400">
              <a:solidFill>
                <a:schemeClr val="bg1"/>
              </a:solidFill>
              <a:latin typeface="Noto Sans KR Medium"/>
              <a:ea typeface="Noto Sans KR Medium"/>
              <a:cs typeface="Noto Sans KR Medium"/>
            </a:endParaRPr>
          </a:p>
        </p:txBody>
      </p:sp>
      <p:sp>
        <p:nvSpPr>
          <p:cNvPr id="13" name="TextBox 12">
            <a:extLst xmlns:a="http://schemas.openxmlformats.org/drawingml/2006/main">
              <a:ext uri="{FF2B5EF4-FFF2-40B4-BE49-F238E27FC236}">
                <a16:creationId xmlns:a16="http://schemas.microsoft.com/office/drawing/2014/main" id="{A14DF8F0-A7ED-4DC1-B182-B38EB2DC1D81}"/>
              </a:ext>
            </a:extLst>
          </p:cNvPr>
          <p:cNvSpPr>
            <a:spLocks xmlns:a="http://schemas.openxmlformats.org/drawingml/2006/main" noGrp="1"/>
          </p:cNvSpPr>
          <p:nvPr/>
        </p:nvSpPr>
        <p:spPr>
          <a:xfrm xmlns:a="http://schemas.openxmlformats.org/drawingml/2006/main" rot="0" flipH="0" flipV="0">
            <a:off x="10674929" y="256797"/>
            <a:ext cx="1327264" cy="340519"/>
          </a:xfrm>
          <a:prstGeom xmlns:a="http://schemas.openxmlformats.org/drawingml/2006/main" prst="roundRect">
            <a:avLst/>
          </a:prstGeom>
          <a:solidFill xmlns:a="http://schemas.openxmlformats.org/drawingml/2006/main">
            <a:srgbClr val="FFFDE7"/>
          </a:solidFill>
        </p:spPr>
        <p:txBody>
          <a:bodyPr xmlns:a="http://schemas.openxmlformats.org/drawingml/2006/main" wrap="square">
            <a:spAutoFit/>
          </a:bodyPr>
          <a:lstStyle xmlns:a="http://schemas.openxmlformats.org/drawingml/2006/main"/>
          <a:p xmlns:a="http://schemas.openxmlformats.org/drawingml/2006/main">
            <a:pPr algn="ctr">
              <a:buNone/>
            </a:pPr>
            <a:r>
              <a:rPr sz="1400">
                <a:latin typeface="Noto Sans KR Medium"/>
                <a:ea typeface="Noto Sans KR Medium"/>
                <a:cs typeface="Noto Sans KR Medium"/>
              </a:rPr>
              <a:t>웹〮앱 개발 부문</a:t>
            </a:r>
            <a:endParaRPr sz="1400">
              <a:latin typeface="Noto Sans KR Medium"/>
              <a:ea typeface="Noto Sans KR Medium"/>
              <a:cs typeface="Noto Sans KR Medium"/>
            </a:endParaRPr>
          </a:p>
        </p:txBody>
      </p:sp>
      <p:sp>
        <p:nvSpPr>
          <p:cNvPr id="11" name="직사각형 10">
            <a:extLst xmlns:a="http://schemas.openxmlformats.org/drawingml/2006/main">
              <a:ext uri="{FF2B5EF4-FFF2-40B4-BE49-F238E27FC236}">
                <a16:creationId xmlns:a16="http://schemas.microsoft.com/office/drawing/2014/main" id="{476F7AD7-7837-4D82-A714-88EA27AFBB0F}"/>
              </a:ext>
            </a:extLst>
          </p:cNvPr>
          <p:cNvSpPr>
            <a:spLocks xmlns:a="http://schemas.openxmlformats.org/drawingml/2006/main" noGrp="1"/>
          </p:cNvSpPr>
          <p:nvPr/>
        </p:nvSpPr>
        <p:spPr>
          <a:xfrm xmlns:a="http://schemas.openxmlformats.org/drawingml/2006/main" rot="0" flipH="0" flipV="0">
            <a:off x="189807" y="791993"/>
            <a:ext cx="11812386" cy="45719"/>
          </a:xfrm>
          <a:prstGeom xmlns:a="http://schemas.openxmlformats.org/drawingml/2006/main" prst="rect">
            <a:avLst/>
          </a:prstGeom>
          <a:solidFill xmlns:a="http://schemas.openxmlformats.org/drawingml/2006/main">
            <a:srgbClr val="FF6F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a6a303b519440a" /><Relationship Type="http://schemas.openxmlformats.org/officeDocument/2006/relationships/slideLayout" Target="/ppt/slideLayouts/slideLayout1.xml" Id="R711e58a2218a450f" /><Relationship Type="http://schemas.openxmlformats.org/officeDocument/2006/relationships/slideLayout" Target="/ppt/slideLayouts/slideLayout2.xml" Id="R61b9a571e2b0448d" /><Relationship Type="http://schemas.openxmlformats.org/officeDocument/2006/relationships/slideLayout" Target="/ppt/slideLayouts/slideLayout3.xml" Id="Rc9da21161aa74baa" /><Relationship Type="http://schemas.openxmlformats.org/officeDocument/2006/relationships/slideLayout" Target="/ppt/slideLayouts/slideLayout4.xml" Id="R2fc0969a968449be" /><Relationship Type="http://schemas.openxmlformats.org/officeDocument/2006/relationships/slideLayout" Target="/ppt/slideLayouts/slideLayout5.xml" Id="Rc78efcebfc6e45a2" /><Relationship Type="http://schemas.openxmlformats.org/officeDocument/2006/relationships/slideLayout" Target="/ppt/slideLayouts/slideLayout6.xml" Id="Rdfa6b1b1d2f2481f" /><Relationship Type="http://schemas.openxmlformats.org/officeDocument/2006/relationships/slideLayout" Target="/ppt/slideLayouts/slideLayout7.xml" Id="Rceb9d8c85e6b4308" /><Relationship Type="http://schemas.openxmlformats.org/officeDocument/2006/relationships/slideLayout" Target="/ppt/slideLayouts/slideLayout8.xml" Id="R0cf58c907fb8484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52B58E5A-EBEF-4BE6-BCD8-60874325DDD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텍스트 개체 틀 2">
            <a:extLst xmlns:a="http://schemas.openxmlformats.org/drawingml/2006/main">
              <a:ext uri="{FF2B5EF4-FFF2-40B4-BE49-F238E27FC236}">
                <a16:creationId xmlns:a16="http://schemas.microsoft.com/office/drawing/2014/main" id="{344CF3F6-8641-4F3B-B401-D0DB174BC3E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날짜 개체 틀 3">
            <a:extLst xmlns:a="http://schemas.openxmlformats.org/drawingml/2006/main">
              <a:ext uri="{FF2B5EF4-FFF2-40B4-BE49-F238E27FC236}">
                <a16:creationId xmlns:a16="http://schemas.microsoft.com/office/drawing/2014/main" id="{1D3A5BD5-643F-4AE5-B3C7-54EA288D7C9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A38FB6A-844E-4645-B6B8-D2945F9927BB}" type="datetimeFigureOut">
              <a:t>2026-07-29</a:t>
            </a:fld>
            <a:endParaRPr/>
          </a:p>
        </p:txBody>
      </p:sp>
      <p:sp>
        <p:nvSpPr>
          <p:cNvPr id="5" name="바닥글 개체 틀 4">
            <a:extLst xmlns:a="http://schemas.openxmlformats.org/drawingml/2006/main">
              <a:ext uri="{FF2B5EF4-FFF2-40B4-BE49-F238E27FC236}">
                <a16:creationId xmlns:a16="http://schemas.microsoft.com/office/drawing/2014/main" id="{B80530AB-8085-48B7-BFBC-EEA01427910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26AB463C-D876-4460-9064-48C2A52277C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8832701-68F9-4777-ABB9-C14E9759146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1e58a2218a450f"/>
    <p:sldLayoutId xmlns:r="http://schemas.openxmlformats.org/officeDocument/2006/relationships" id="2147483650" r:id="R61b9a571e2b0448d"/>
    <p:sldLayoutId xmlns:r="http://schemas.openxmlformats.org/officeDocument/2006/relationships" id="2147483651" r:id="Rc9da21161aa74baa"/>
    <p:sldLayoutId xmlns:r="http://schemas.openxmlformats.org/officeDocument/2006/relationships" id="2147483652" r:id="R2fc0969a968449be"/>
    <p:sldLayoutId xmlns:r="http://schemas.openxmlformats.org/officeDocument/2006/relationships" id="2147483653" r:id="Rc78efcebfc6e45a2"/>
    <p:sldLayoutId xmlns:r="http://schemas.openxmlformats.org/officeDocument/2006/relationships" id="2147483654" r:id="Rdfa6b1b1d2f2481f"/>
    <p:sldLayoutId xmlns:r="http://schemas.openxmlformats.org/officeDocument/2006/relationships" id="2147483655" r:id="Rceb9d8c85e6b4308"/>
    <p:sldLayoutId xmlns:r="http://schemas.openxmlformats.org/officeDocument/2006/relationships" id="2147483656" r:id="R0cf58c907fb8484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e416203f8c4b0e" /><Relationship Type="http://schemas.openxmlformats.org/officeDocument/2006/relationships/notesSlide" Target="/ppt/notesSlides/notesSlide1.xml" Id="R4d3c836bf1fd45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81ec2f799274424" /><Relationship Type="http://schemas.openxmlformats.org/officeDocument/2006/relationships/notesSlide" Target="/ppt/notesSlides/notesSlide2.xml" Id="Re88bdd79f5f640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c06e94c6c944582" /><Relationship Type="http://schemas.openxmlformats.org/officeDocument/2006/relationships/notesSlide" Target="/ppt/notesSlides/notesSlide3.xml" Id="R326ddea035e74d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94a5be342874d3d" /><Relationship Type="http://schemas.openxmlformats.org/officeDocument/2006/relationships/image" Target="/ppt/media/image.jpeg" Id="R0afaf57646554102" /><Relationship Type="http://schemas.openxmlformats.org/officeDocument/2006/relationships/image" Target="/ppt/media/image2.jpeg" Id="Rfefb35bd2ca942d1" /><Relationship Type="http://schemas.openxmlformats.org/officeDocument/2006/relationships/image" Target="/ppt/media/image3.jpeg" Id="Rdc51756b9cce46ad" /><Relationship Type="http://schemas.openxmlformats.org/officeDocument/2006/relationships/image" Target="/ppt/media/image4.jpeg" Id="Re2defdd9e56e40e5" /><Relationship Type="http://schemas.openxmlformats.org/officeDocument/2006/relationships/notesSlide" Target="/ppt/notesSlides/notesSlide4.xml" Id="Rd9a24ca97c3743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35a49a83dd6453b" /><Relationship Type="http://schemas.openxmlformats.org/officeDocument/2006/relationships/notesSlide" Target="/ppt/notesSlides/notesSlide5.xml" Id="R2932ba3f86dd41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a0c26be85b0945ba" /><Relationship Type="http://schemas.openxmlformats.org/officeDocument/2006/relationships/image" Target="/ppt/media/image5.jpeg" Id="R0b334e84dfe44010" /><Relationship Type="http://schemas.openxmlformats.org/officeDocument/2006/relationships/image" Target="/ppt/media/image6.jpeg" Id="R2c288f613dc94a38" /><Relationship Type="http://schemas.openxmlformats.org/officeDocument/2006/relationships/notesSlide" Target="/ppt/notesSlides/notesSlide6.xml" Id="Rd7fc961c3fac45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384c0a571b454810" /><Relationship Type="http://schemas.openxmlformats.org/officeDocument/2006/relationships/image" Target="/ppt/media/image7.jpeg" Id="Rd1a323a77e394d61" /><Relationship Type="http://schemas.openxmlformats.org/officeDocument/2006/relationships/image" Target="/ppt/media/image8.jpeg" Id="Re866574b7bed4325" /><Relationship Type="http://schemas.openxmlformats.org/officeDocument/2006/relationships/notesSlide" Target="/ppt/notesSlides/notesSlide7.xml" Id="R7efd6b53c54440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e2233115bf824fed" /><Relationship Type="http://schemas.openxmlformats.org/officeDocument/2006/relationships/image" Target="/ppt/media/image9.jpeg" Id="Raccea3f789644493" /><Relationship Type="http://schemas.openxmlformats.org/officeDocument/2006/relationships/image" Target="/ppt/media/image10.jpeg" Id="R6be0d45439de4d1e" /><Relationship Type="http://schemas.openxmlformats.org/officeDocument/2006/relationships/notesSlide" Target="/ppt/notesSlides/notesSlide8.xml" Id="R3b12a32f923a44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19957a7e85be4f12" /><Relationship Type="http://schemas.openxmlformats.org/officeDocument/2006/relationships/image" Target="/ppt/media/image11.jpeg" Id="R5ae45eda3a97419b" /><Relationship Type="http://schemas.openxmlformats.org/officeDocument/2006/relationships/image" Target="/ppt/media/image12.jpeg" Id="R459573f85fde4df2" /><Relationship Type="http://schemas.openxmlformats.org/officeDocument/2006/relationships/notesSlide" Target="/ppt/notesSlides/notesSlide9.xml" Id="R6fe6549470d047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6b79f2acd0a5498f" /><Relationship Type="http://schemas.openxmlformats.org/officeDocument/2006/relationships/image" Target="/ppt/media/image13.jpeg" Id="Rfcefdd1a5f2041fb" /><Relationship Type="http://schemas.openxmlformats.org/officeDocument/2006/relationships/image" Target="/ppt/media/image14.jpeg" Id="R498d38771c034d0d" /><Relationship Type="http://schemas.openxmlformats.org/officeDocument/2006/relationships/notesSlide" Target="/ppt/notesSlides/notesSlide10.xml" Id="R02fddbf98bdd4f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b52c1fd72b7b4f88" /><Relationship Type="http://schemas.openxmlformats.org/officeDocument/2006/relationships/image" Target="/ppt/media/image15.jpeg" Id="Rfa64100c4e404952" /><Relationship Type="http://schemas.openxmlformats.org/officeDocument/2006/relationships/image" Target="/ppt/media/image16.jpeg" Id="R705dfeb479954430" /><Relationship Type="http://schemas.openxmlformats.org/officeDocument/2006/relationships/notesSlide" Target="/ppt/notesSlides/notesSlide11.xml" Id="Refeb01a1baa34a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02b6851987484714" /><Relationship Type="http://schemas.openxmlformats.org/officeDocument/2006/relationships/image" Target="/ppt/media/image17.jpeg" Id="R96bdca4285724874" /><Relationship Type="http://schemas.openxmlformats.org/officeDocument/2006/relationships/image" Target="/ppt/media/image18.jpeg" Id="Rfd03c15f4683446c" /><Relationship Type="http://schemas.openxmlformats.org/officeDocument/2006/relationships/notesSlide" Target="/ppt/notesSlides/notesSlide12.xml" Id="Rc3d070213e6b43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da047d682c344a98" /><Relationship Type="http://schemas.openxmlformats.org/officeDocument/2006/relationships/image" Target="/ppt/media/image19.jpeg" Id="R7693854576944e52" /><Relationship Type="http://schemas.openxmlformats.org/officeDocument/2006/relationships/image" Target="/ppt/media/image20.jpeg" Id="Rb619e35d1bd6423c" /><Relationship Type="http://schemas.openxmlformats.org/officeDocument/2006/relationships/notesSlide" Target="/ppt/notesSlides/notesSlide13.xml" Id="R08f1fa732c8b47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6150c53be266402f" /><Relationship Type="http://schemas.openxmlformats.org/officeDocument/2006/relationships/image" Target="/ppt/media/image21.jpeg" Id="Rcb4447d296ce4ba9" /><Relationship Type="http://schemas.openxmlformats.org/officeDocument/2006/relationships/image" Target="/ppt/media/image22.jpeg" Id="R025f2139175f427b" /><Relationship Type="http://schemas.openxmlformats.org/officeDocument/2006/relationships/notesSlide" Target="/ppt/notesSlides/notesSlide14.xml" Id="Rdd6f9534dc0747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be64e90836ef4c48" /><Relationship Type="http://schemas.openxmlformats.org/officeDocument/2006/relationships/image" Target="/ppt/media/image23.jpeg" Id="R09bf231b03134551" /><Relationship Type="http://schemas.openxmlformats.org/officeDocument/2006/relationships/image" Target="/ppt/media/image24.jpeg" Id="Radf028e93c674098" /><Relationship Type="http://schemas.openxmlformats.org/officeDocument/2006/relationships/notesSlide" Target="/ppt/notesSlides/notesSlide15.xml" Id="Rdf27da7c19714a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fd2effe62f5c4668" /><Relationship Type="http://schemas.openxmlformats.org/officeDocument/2006/relationships/notesSlide" Target="/ppt/notesSlides/notesSlide16.xml" Id="R79569057788d43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d99bd5e6e1d46e6" /><Relationship Type="http://schemas.openxmlformats.org/officeDocument/2006/relationships/notesSlide" Target="/ppt/notesSlides/notesSlide17.xml" Id="R8fc2f9a1771446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654c398a8b874e7d" /><Relationship Type="http://schemas.openxmlformats.org/officeDocument/2006/relationships/notesSlide" Target="/ppt/notesSlides/notesSlide18.xml" Id="R256192b00b534ad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5"/>
          <p:cNvGraphicFramePr/>
          <p:nvPr/>
        </p:nvGraphicFramePr>
        <p:xfrm>
          <a:off xmlns:a="http://schemas.openxmlformats.org/drawingml/2006/main" x="527397" y="4563687"/>
          <a:ext xmlns:a="http://schemas.openxmlformats.org/drawingml/2006/main" cx="6712988" cy="1112210"/>
        </p:xfrm>
        <a:graphic xmlns:a="http://schemas.openxmlformats.org/drawingml/2006/main">
          <a:graphicData uri="http://schemas.openxmlformats.org/drawingml/2006/table">
            <a:tbl>
              <a:tblPr firstRow="1" bandRow="1">
                <a:tableStyleId>{5C22544A-7EE6-4342-B048-85BDC9FD1C3A}</a:tableStyleId>
              </a:tblPr>
              <a:tblGrid>
                <a:gridCol w="1891569"/>
                <a:gridCol w="4821419"/>
              </a:tblGrid>
              <a:tr h="547792">
                <a:tc>
                  <a:txBody>
                    <a:bodyPr/>
                    <a:lstStyle/>
                    <a:p>
                      <a:pPr algn="ctr">
                        <a:buNone/>
                      </a:pPr>
                      <a:r>
                        <a:rPr sz="2400" b="1">
                          <a:solidFill>
                            <a:schemeClr val="bg1"/>
                          </a:solidFill>
                        </a:rPr>
                        <a:t>팀 명</a:t>
                      </a:r>
                      <a:endParaRPr sz="2400" b="1">
                        <a:solidFill>
                          <a:schemeClr val="bg1"/>
                        </a:solidFill>
                      </a:endParaRPr>
                    </a:p>
                  </a:txBody>
                  <a:tcPr marL="91440" marR="91440" marT="45720" marB="45720" anchor="ctr">
                    <a:lnR w="12700" cmpd="sng">
                      <a:solidFill>
                        <a:schemeClr val="bg1">
                          <a:lumMod val="85000"/>
                        </a:schemeClr>
                      </a:solidFill>
                      <a:prstDash val="solid"/>
                    </a:lnR>
                    <a:lnB w="12700" cmpd="sng">
                      <a:solidFill>
                        <a:schemeClr val="bg1">
                          <a:lumMod val="85000"/>
                        </a:schemeClr>
                      </a:solidFill>
                      <a:prstDash val="solid"/>
                    </a:lnB>
                    <a:solidFill>
                      <a:srgbClr val="FFA401"/>
                    </a:solidFill>
                  </a:tcPr>
                </a:tc>
                <a:tc>
                  <a:txBody>
                    <a:bodyPr/>
                    <a:lstStyle/>
                    <a:p>
                      <a:pPr algn="l">
                        <a:buNone/>
                      </a:pPr>
                      <a:r>
                        <a:rPr sz="2400" b="1">
                          <a:solidFill>
                            <a:srgbClr val="171717"/>
                          </a:solidFill>
                          <a:latin typeface="맑은 고딕"/>
                          <a:ea typeface="맑은 고딕"/>
                          <a:cs typeface="맑은 고딕"/>
                        </a:rPr>
                        <a:t>김성현</a:t>
                      </a:r>
                      <a:endParaRPr sz="2400" b="0">
                        <a:solidFill>
                          <a:schemeClr val="tx1"/>
                        </a:solidFill>
                      </a:endParaRPr>
                    </a:p>
                  </a:txBody>
                  <a:tcPr marL="152400" marR="152400" marT="66675" marB="66675" anchor="ctr">
                    <a:lnL w="12700" cmpd="sng">
                      <a:solidFill>
                        <a:schemeClr val="bg1">
                          <a:lumMod val="85000"/>
                        </a:schemeClr>
                      </a:solidFill>
                      <a:prstDash val="solid"/>
                    </a:lnL>
                    <a:lnB w="12700" cmpd="sng">
                      <a:solidFill>
                        <a:schemeClr val="bg1">
                          <a:lumMod val="85000"/>
                        </a:schemeClr>
                      </a:solidFill>
                      <a:prstDash val="solid"/>
                    </a:lnB>
                    <a:solidFill>
                      <a:srgbClr val="FFFDE7"/>
                    </a:solidFill>
                  </a:tcPr>
                </a:tc>
              </a:tr>
              <a:tr h="564418">
                <a:tc>
                  <a:txBody>
                    <a:bodyPr/>
                    <a:lstStyle/>
                    <a:p>
                      <a:pPr algn="ctr">
                        <a:buNone/>
                      </a:pPr>
                      <a:r>
                        <a:rPr sz="2400" b="1">
                          <a:solidFill>
                            <a:schemeClr val="bg1"/>
                          </a:solidFill>
                        </a:rPr>
                        <a:t>서비스</a:t>
                      </a:r>
                      <a:r>
                        <a:rPr sz="2400" b="1">
                          <a:solidFill>
                            <a:schemeClr val="bg1"/>
                          </a:solidFill>
                        </a:rPr>
                        <a:t> </a:t>
                      </a:r>
                      <a:r>
                        <a:rPr sz="2400" b="1">
                          <a:solidFill>
                            <a:schemeClr val="bg1"/>
                          </a:solidFill>
                        </a:rPr>
                        <a:t>명</a:t>
                      </a:r>
                      <a:endParaRPr sz="2400" b="1">
                        <a:solidFill>
                          <a:schemeClr val="bg1"/>
                        </a:solidFill>
                      </a:endParaRPr>
                    </a:p>
                  </a:txBody>
                  <a:tcPr marL="91440" marR="91440" marT="45720" marB="45720" anchor="ctr">
                    <a:lnR w="12700" cmpd="sng">
                      <a:solidFill>
                        <a:schemeClr val="bg1">
                          <a:lumMod val="85000"/>
                        </a:schemeClr>
                      </a:solidFill>
                      <a:prstDash val="solid"/>
                    </a:lnR>
                    <a:lnT w="12700" cmpd="sng">
                      <a:solidFill>
                        <a:schemeClr val="bg1">
                          <a:lumMod val="85000"/>
                        </a:schemeClr>
                      </a:solidFill>
                      <a:prstDash val="solid"/>
                    </a:lnT>
                    <a:solidFill>
                      <a:srgbClr val="FFA401"/>
                    </a:solidFill>
                  </a:tcPr>
                </a:tc>
                <a:tc>
                  <a:txBody>
                    <a:bodyPr/>
                    <a:lstStyle/>
                    <a:p>
                      <a:pPr algn="l">
                        <a:buNone/>
                      </a:pPr>
                      <a:r>
                        <a:rPr sz="2400" b="1">
                          <a:solidFill>
                            <a:srgbClr val="171717"/>
                          </a:solidFill>
                          <a:latin typeface="맑은 고딕"/>
                          <a:ea typeface="맑은 고딕"/>
                          <a:cs typeface="맑은 고딕"/>
                        </a:rPr>
                        <a:t>모두의 백제</a:t>
                      </a:r>
                      <a:endParaRPr sz="2400" b="0">
                        <a:solidFill>
                          <a:schemeClr val="tx1"/>
                        </a:solidFill>
                      </a:endParaRPr>
                    </a:p>
                  </a:txBody>
                  <a:tcPr marL="152400" marR="152400" marT="66675" marB="66675" anchor="ctr">
                    <a:lnL w="12700" cmpd="sng">
                      <a:solidFill>
                        <a:schemeClr val="bg1">
                          <a:lumMod val="85000"/>
                        </a:schemeClr>
                      </a:solidFill>
                      <a:prstDash val="solid"/>
                    </a:lnL>
                    <a:lnT w="12700" cmpd="sng">
                      <a:solidFill>
                        <a:schemeClr val="bg1">
                          <a:lumMod val="85000"/>
                        </a:schemeClr>
                      </a:solidFill>
                      <a:prstDash val="solid"/>
                    </a:lnT>
                    <a:solidFill>
                      <a:srgbClr val="FFFDE7"/>
                    </a:solidFill>
                  </a:tcPr>
                </a:tc>
              </a:tr>
            </a:tbl>
          </a:graphicData>
        </a:graphic>
      </p:graphicFrame>
    </p:spTree>
    <p:extLst>
      <p:ext uri="{BB962C8B-B14F-4D97-AF65-F5344CB8AC3E}">
        <p14:creationId xmlns:p14="http://schemas.microsoft.com/office/powerpoint/2010/main" val="1353449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16"/>
          <p:cNvGraphicFramePr/>
          <p:nvPr/>
        </p:nvGraphicFramePr>
        <p:xfrm>
          <a:off xmlns:a="http://schemas.openxmlformats.org/drawingml/2006/main" x="287250" y="1218429"/>
          <a:ext xmlns:a="http://schemas.openxmlformats.org/drawingml/2006/main" cx="11649825" cy="4750109"/>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547212">
                <a:tc>
                  <a:txBody>
                    <a:bodyPr/>
                    <a:lstStyle/>
                    <a:p>
                      <a:pPr algn="ctr">
                        <a:buNone/>
                      </a:pPr>
                      <a:r>
                        <a:rPr b="1">
                          <a:solidFill>
                            <a:schemeClr val="bg1"/>
                          </a:solidFill>
                        </a:rPr>
                        <a:t>서비스명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l">
                        <a:spcBef>
                          <a:spcPts val="0"/>
                        </a:spcBef>
                        <a:spcAft>
                          <a:spcPts val="0"/>
                        </a:spcAft>
                        <a:buNone/>
                      </a:pPr>
                      <a:r>
                        <a:rPr sz="2100" b="1">
                          <a:solidFill>
                            <a:srgbClr val="171717"/>
                          </a:solidFill>
                          <a:latin typeface="맑은 고딕"/>
                          <a:ea typeface="맑은 고딕"/>
                          <a:cs typeface="맑은 고딕"/>
                        </a:rPr>
                        <a:t>모두의 백제 (Modu Baekje)</a:t>
                      </a:r>
                      <a:endParaRPr sz="1800" b="0" baseline="0">
                        <a:solidFill>
                          <a:schemeClr val="tx1"/>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731060">
                <a:tc>
                  <a:txBody>
                    <a:bodyPr/>
                    <a:lstStyle/>
                    <a:p>
                      <a:pPr algn="ctr">
                        <a:buNone/>
                      </a:pPr>
                      <a:r>
                        <a:rPr b="1">
                          <a:solidFill>
                            <a:schemeClr val="bg1"/>
                          </a:solidFill>
                        </a:rPr>
                        <a:t>서비스 유형</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l">
                        <a:spcBef>
                          <a:spcPts val="0"/>
                        </a:spcBef>
                        <a:spcAft>
                          <a:spcPts val="0"/>
                        </a:spcAft>
                        <a:buNone/>
                      </a:pPr>
                      <a:r>
                        <a:rPr sz="1800" b="0">
                          <a:solidFill>
                            <a:srgbClr val="171717"/>
                          </a:solidFill>
                          <a:latin typeface="맑은 고딕"/>
                          <a:ea typeface="맑은 고딕"/>
                          <a:cs typeface="맑은 고딕"/>
                        </a:rPr>
                        <a:t>웹 서비스 / www.modubaekje.com</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30246">
                <a:tc>
                  <a:txBody>
                    <a:bodyPr/>
                    <a:lstStyle/>
                    <a:p>
                      <a:pPr algn="ctr">
                        <a:buNone/>
                      </a:pPr>
                      <a:r>
                        <a:rPr b="1">
                          <a:solidFill>
                            <a:schemeClr val="bg1"/>
                          </a:solidFill>
                        </a:rPr>
                        <a:t>서비스 개요</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l" defTabSz="914400">
                        <a:lnSpc>
                          <a:spcPct val="100000"/>
                        </a:lnSpc>
                        <a:spcBef>
                          <a:spcPts val="0"/>
                        </a:spcBef>
                        <a:spcAft>
                          <a:spcPts val="0"/>
                        </a:spcAft>
                        <a:buClrTx/>
                        <a:buSzTx/>
                        <a:buFontTx/>
                        <a:buNone/>
                      </a:pPr>
                      <a:r>
                        <a:rPr sz="1950" b="1">
                          <a:solidFill>
                            <a:srgbClr val="171717"/>
                          </a:solidFill>
                          <a:latin typeface="맑은 고딕"/>
                          <a:ea typeface="맑은 고딕"/>
                          <a:cs typeface="맑은 고딕"/>
                        </a:rPr>
                        <a:t>공주·부여 13곳의 무장애 정보를 동행 조건별로 해석해 방문 전 확인사항과 대안 관광지, 체류 시간을 조정한 여행 코스를 안내하는 웹 서비스</a:t>
                      </a: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441591">
                <a:tc>
                  <a:txBody>
                    <a:bodyPr/>
                    <a:lstStyle/>
                    <a:p>
                      <a:pPr algn="ctr">
                        <a:buNone/>
                      </a:pPr>
                      <a:r>
                        <a:rPr b="1">
                          <a:solidFill>
                            <a:schemeClr val="bg1"/>
                          </a:solidFill>
                        </a:rPr>
                        <a:t>주제 선정 이유</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Aft>
                          <a:spcPts val="550"/>
                        </a:spcAft>
                      </a:pPr>
                      <a:r>
                        <a:rPr sz="1800" b="1">
                          <a:solidFill>
                            <a:srgbClr val="171717"/>
                          </a:solidFill>
                          <a:latin typeface="맑은 고딕"/>
                          <a:ea typeface="맑은 고딕"/>
                          <a:cs typeface="맑은 고딕"/>
                        </a:rPr>
                        <a:t>경사로 유무만으로는 동행과 관람할 수 있는 구간을 알기 어렵습니다. 휠체어·보행·시청각 조건에 따라 확인할 항목도 다릅니다.</a:t>
                      </a:r>
                    </a:p>
                    <a:p>
                      <a:pPr algn="l">
                        <a:spcAft>
                          <a:spcPts val="550"/>
                        </a:spcAft>
                      </a:pPr>
                      <a:r>
                        <a:rPr sz="1800" b="0">
                          <a:solidFill>
                            <a:srgbClr val="171717"/>
                          </a:solidFill>
                          <a:latin typeface="맑은 고딕"/>
                          <a:ea typeface="맑은 고딕"/>
                          <a:cs typeface="맑은 고딕"/>
                        </a:rPr>
                        <a:t>공주·부여는 백제 유적과 박물관을 함께 여행하지만, 산성의 흙길과 실내 전시실의 관람 환경은 다릅니다. 장소마다 동행 조건을 대조할 필요가 있습니다.</a:t>
                      </a:r>
                    </a:p>
                    <a:p>
                      <a:pPr algn="l">
                        <a:spcAft>
                          <a:spcPts val="0"/>
                        </a:spcAft>
                      </a:pPr>
                      <a:r>
                        <a:rPr sz="1800" b="0">
                          <a:solidFill>
                            <a:srgbClr val="171717"/>
                          </a:solidFill>
                          <a:latin typeface="맑은 고딕"/>
                          <a:ea typeface="맑은 고딕"/>
                          <a:cs typeface="맑은 고딕"/>
                        </a:rPr>
                        <a:t>관광데이터의 원문과 출처를 방문 판단과 대안 안내에 연결하고, 미확인 항목을 따로 모았습니다. 여행자는 방문 전 질문을, 담당자는 보완할 정보를 확인할 수 있습니다.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1526000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3" name="표 16"/>
          <p:cNvGraphicFramePr/>
          <p:nvPr/>
        </p:nvGraphicFramePr>
        <p:xfrm>
          <a:off xmlns:a="http://schemas.openxmlformats.org/drawingml/2006/main" x="287250" y="1218429"/>
          <a:ext xmlns:a="http://schemas.openxmlformats.org/drawingml/2006/main" cx="11649826" cy="4733484"/>
        </p:xfrm>
        <a:graphic xmlns:a="http://schemas.openxmlformats.org/drawingml/2006/main">
          <a:graphicData uri="http://schemas.openxmlformats.org/drawingml/2006/table">
            <a:tbl>
              <a:tblPr firstRow="1" bandRow="1">
                <a:tableStyleId>{5C22544A-7EE6-4342-B048-85BDC9FD1C3A}</a:tableStyleId>
              </a:tblPr>
              <a:tblGrid>
                <a:gridCol w="1955222"/>
                <a:gridCol w="9694604"/>
              </a:tblGrid>
              <a:tr h="4733484">
                <a:tc>
                  <a:txBody>
                    <a:bodyPr/>
                    <a:lstStyle/>
                    <a:p>
                      <a:pPr marL="0" marR="0" lvl="0" indent="0" algn="ctr" defTabSz="914400">
                        <a:lnSpc>
                          <a:spcPct val="100000"/>
                        </a:lnSpc>
                        <a:spcBef>
                          <a:spcPts val="0"/>
                        </a:spcBef>
                        <a:spcAft>
                          <a:spcPts val="0"/>
                        </a:spcAft>
                        <a:buClrTx/>
                        <a:buSzTx/>
                        <a:buFontTx/>
                        <a:buNone/>
                      </a:pPr>
                      <a:r>
                        <a:rPr b="1">
                          <a:solidFill>
                            <a:schemeClr val="bg1"/>
                          </a:solidFill>
                        </a:rPr>
                        <a:t>서비스 핵심기능</a:t>
                      </a:r>
                    </a:p>
                    <a:p>
                      <a:pPr algn="ctr">
                        <a:buNone/>
                      </a:pP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800" b="1">
                          <a:solidFill>
                            <a:srgbClr val="171717"/>
                          </a:solidFill>
                          <a:latin typeface="맑은 고딕"/>
                          <a:ea typeface="맑은 고딕"/>
                          <a:cs typeface="맑은 고딕"/>
                        </a:rPr>
                        <a:t>1. 동행 조건에 따른 방문 판단</a:t>
                      </a:r>
                    </a:p>
                    <a:p>
                      <a:pPr algn="l">
                        <a:spcAft>
                          <a:spcPts val="0"/>
                        </a:spcAft>
                      </a:pPr>
                      <a:r>
                        <a:rPr sz="1800" b="0">
                          <a:solidFill>
                            <a:srgbClr val="171717"/>
                          </a:solidFill>
                          <a:latin typeface="맑은 고딕"/>
                          <a:ea typeface="맑은 고딕"/>
                          <a:cs typeface="맑은 고딕"/>
                        </a:rPr>
                        <a:t>조건별 판정과 이유를 확인하고, 같은 조건으로 살펴본 다른 관광지를 비교합니다.</a:t>
                      </a:r>
                    </a:p>
                    <a:p>
                      <a:pPr algn="l">
                        <a:spcBef>
                          <a:spcPts val="800"/>
                        </a:spcBef>
                        <a:spcAft>
                          <a:spcPts val="300"/>
                        </a:spcAft>
                      </a:pPr>
                      <a:r>
                        <a:rPr sz="1800" b="1">
                          <a:solidFill>
                            <a:srgbClr val="171717"/>
                          </a:solidFill>
                          <a:latin typeface="맑은 고딕"/>
                          <a:ea typeface="맑은 고딕"/>
                          <a:cs typeface="맑은 고딕"/>
                        </a:rPr>
                        <a:t>2. 시간에 맞춘 코스와 사전 경로 안내</a:t>
                      </a:r>
                    </a:p>
                    <a:p>
                      <a:pPr algn="l">
                        <a:spcAft>
                          <a:spcPts val="0"/>
                        </a:spcAft>
                      </a:pPr>
                      <a:r>
                        <a:rPr sz="1800" b="0">
                          <a:solidFill>
                            <a:srgbClr val="171717"/>
                          </a:solidFill>
                          <a:latin typeface="맑은 고딕"/>
                          <a:ea typeface="맑은 고딕"/>
                          <a:cs typeface="맑은 고딕"/>
                        </a:rPr>
                        <a:t>반나절·당일·1박 2일 코스의 체류·이동 시간을 보고, 산성 진입 과정을 미리 읽습니다.</a:t>
                      </a:r>
                    </a:p>
                    <a:p>
                      <a:pPr algn="l">
                        <a:spcBef>
                          <a:spcPts val="800"/>
                        </a:spcBef>
                        <a:spcAft>
                          <a:spcPts val="300"/>
                        </a:spcAft>
                      </a:pPr>
                      <a:r>
                        <a:rPr sz="1800" b="1">
                          <a:solidFill>
                            <a:srgbClr val="171717"/>
                          </a:solidFill>
                          <a:latin typeface="맑은 고딕"/>
                          <a:ea typeface="맑은 고딕"/>
                          <a:cs typeface="맑은 고딕"/>
                        </a:rPr>
                        <a:t>3. 백제 해설과 여행 기록</a:t>
                      </a:r>
                    </a:p>
                    <a:p>
                      <a:pPr algn="l">
                        <a:spcAft>
                          <a:spcPts val="0"/>
                        </a:spcAft>
                      </a:pPr>
                      <a:r>
                        <a:rPr sz="1800" b="0">
                          <a:solidFill>
                            <a:srgbClr val="171717"/>
                          </a:solidFill>
                          <a:latin typeface="맑은 고딕"/>
                          <a:ea typeface="맑은 고딕"/>
                          <a:cs typeface="맑은 고딕"/>
                        </a:rPr>
                        <a:t>오디 해설을 듣거나 대본으로 읽고, 장소와 메모를 인쇄물·파일로 남깁니다.</a:t>
                      </a:r>
                    </a:p>
                    <a:p>
                      <a:pPr algn="l">
                        <a:spcBef>
                          <a:spcPts val="800"/>
                        </a:spcBef>
                        <a:spcAft>
                          <a:spcPts val="300"/>
                        </a:spcAft>
                      </a:pPr>
                      <a:r>
                        <a:rPr sz="1800" b="1">
                          <a:solidFill>
                            <a:srgbClr val="171717"/>
                          </a:solidFill>
                          <a:latin typeface="맑은 고딕"/>
                          <a:ea typeface="맑은 고딕"/>
                          <a:cs typeface="맑은 고딕"/>
                        </a:rPr>
                        <a:t>4. 현장 상황 제보</a:t>
                      </a:r>
                    </a:p>
                    <a:p>
                      <a:pPr algn="l">
                        <a:spcAft>
                          <a:spcPts val="0"/>
                        </a:spcAft>
                      </a:pPr>
                      <a:r>
                        <a:rPr sz="1800" b="0">
                          <a:solidFill>
                            <a:srgbClr val="171717"/>
                          </a:solidFill>
                          <a:latin typeface="맑은 고딕"/>
                          <a:ea typeface="맑은 고딕"/>
                          <a:cs typeface="맑은 고딕"/>
                        </a:rPr>
                        <a:t>방문자가 본 상황을 공유하되, 제보와 확인된 무장애 정보를 구분합니다.</a:t>
                      </a:r>
                    </a:p>
                    <a:p>
                      <a:pPr algn="l">
                        <a:spcBef>
                          <a:spcPts val="800"/>
                        </a:spcBef>
                        <a:spcAft>
                          <a:spcPts val="300"/>
                        </a:spcAft>
                      </a:pPr>
                      <a:r>
                        <a:rPr sz="1800" b="1">
                          <a:solidFill>
                            <a:srgbClr val="171717"/>
                          </a:solidFill>
                          <a:latin typeface="맑은 고딕"/>
                          <a:ea typeface="맑은 고딕"/>
                          <a:cs typeface="맑은 고딕"/>
                        </a:rPr>
                        <a:t>5. 무장애 정보 갭 리포트</a:t>
                      </a:r>
                    </a:p>
                    <a:p>
                      <a:pPr algn="l">
                        <a:spcAft>
                          <a:spcPts val="0"/>
                        </a:spcAft>
                      </a:pPr>
                      <a:r>
                        <a:rPr sz="1800" b="0">
                          <a:solidFill>
                            <a:srgbClr val="171717"/>
                          </a:solidFill>
                          <a:latin typeface="맑은 고딕"/>
                          <a:ea typeface="맑은 고딕"/>
                          <a:cs typeface="맑은 고딕"/>
                        </a:rPr>
                        <a:t>관광지별 미확인 항목을 모아 우선 확인할 정보와 출처를 CSV로 제공합니다.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
        <p:nvSpPr>
          <p:cNvPr id="2" name="">
            <a:extLst xmlns:a="http://schemas.openxmlformats.org/drawingml/2006/main">
              <a:ext uri="{FF2B5EF4-FFF2-40B4-BE49-F238E27FC236}">
                <a16:creationId xmlns:a16="http://schemas.microsoft.com/office/drawing/2014/main" id="{EB8386EF-007B-44DB-A05E-1E8FEE5EBA53}"/>
              </a:ext>
            </a:extLst>
          </p:cNvPr>
          <p:cNvSpPr>
            <a:spLocks xmlns:a="http://schemas.openxmlformats.org/drawingml/2006/main" noGrp="1"/>
          </p:cNvSpPr>
          <p:nvPr/>
        </p:nvSpPr>
        <p:spPr>
          <a:xfrm xmlns:a="http://schemas.openxmlformats.org/drawingml/2006/main">
            <a:off x="2400300" y="6105525"/>
            <a:ext cx="9334500" cy="3238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575" b="0">
                <a:solidFill>
                  <a:srgbClr val="171717"/>
                </a:solidFill>
                <a:latin typeface="맑은 고딕"/>
                <a:ea typeface="맑은 고딕"/>
                <a:cs typeface="맑은 고딕"/>
              </a:defRPr>
            </a:pPr>
            <a:r>
              <a:rPr sz="1575" b="0">
                <a:solidFill>
                  <a:srgbClr val="171717"/>
                </a:solidFill>
                <a:latin typeface="맑은 고딕"/>
                <a:ea typeface="맑은 고딕"/>
                <a:cs typeface="맑은 고딕"/>
              </a:rPr>
              <a:t>한국어·영어 인터페이스 · 키보드 조작 · 스크린리더 안내</a:t>
            </a:r>
          </a:p>
        </p:txBody>
      </p:sp>
    </p:spTree>
    <p:extLst>
      <p:ext uri="{BB962C8B-B14F-4D97-AF65-F5344CB8AC3E}">
        <p14:creationId xmlns:p14="http://schemas.microsoft.com/office/powerpoint/2010/main" val="40986881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graphicFrame>
        <p:nvGraphicFramePr>
          <p:cNvPr id="12" name="표 16"/>
          <p:cNvGraphicFramePr/>
          <p:nvPr/>
        </p:nvGraphicFramePr>
        <p:xfrm>
          <a:off xmlns:a="http://schemas.openxmlformats.org/drawingml/2006/main" x="287250" y="1218429"/>
          <a:ext xmlns:a="http://schemas.openxmlformats.org/drawingml/2006/main" cx="11649826" cy="4991178"/>
        </p:xfrm>
        <a:graphic xmlns:a="http://schemas.openxmlformats.org/drawingml/2006/main">
          <a:graphicData uri="http://schemas.openxmlformats.org/drawingml/2006/table">
            <a:tbl>
              <a:tblPr firstRow="1" bandRow="1">
                <a:tableStyleId>{5C22544A-7EE6-4342-B048-85BDC9FD1C3A}</a:tableStyleId>
              </a:tblPr>
              <a:tblGrid>
                <a:gridCol w="1955222"/>
                <a:gridCol w="9694604"/>
              </a:tblGrid>
              <a:tr h="1847697">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대표 이미지</a:t>
                      </a:r>
                      <a:endParaRPr b="1">
                        <a:solidFill>
                          <a:schemeClr val="bg1"/>
                        </a:solidFill>
                      </a:endParaRPr>
                    </a:p>
                    <a:p>
                      <a:pPr algn="ctr">
                        <a:buNone/>
                      </a:pPr>
                      <a:r>
                        <a:rPr b="1">
                          <a:solidFill>
                            <a:schemeClr val="bg1"/>
                          </a:solidFill>
                        </a:rPr>
                        <a:t>(</a:t>
                      </a:r>
                      <a:r>
                        <a:rPr b="1">
                          <a:solidFill>
                            <a:schemeClr val="bg1"/>
                          </a:solidFill>
                        </a:rPr>
                        <a:t>썸네일</a:t>
                      </a:r>
                      <a:r>
                        <a:rPr b="1">
                          <a:solidFill>
                            <a:schemeClr val="bg1"/>
                          </a:solidFill>
                        </a:rPr>
                        <a:t>)</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143481">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상세 이미지</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faf57646554102"/>
          <a:srcRect xmlns:a="http://schemas.openxmlformats.org/drawingml/2006/main" l="18826" t="995" r="19712" b="22139"/>
          <a:stretch xmlns:a="http://schemas.openxmlformats.org/drawingml/2006/main"/>
        </p:blipFill>
        <p:spPr>
          <a:xfrm xmlns:a="http://schemas.openxmlformats.org/drawingml/2006/main">
            <a:off x="3303510" y="1314450"/>
            <a:ext cx="1984529" cy="165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2F7D362-D1FF-4EAE-8E68-9C1DCD88DB74}"/>
              </a:ext>
            </a:extLst>
          </p:cNvPr>
          <p:cNvSpPr>
            <a:spLocks xmlns:a="http://schemas.openxmlformats.org/drawingml/2006/main" noGrp="1"/>
          </p:cNvSpPr>
          <p:nvPr/>
        </p:nvSpPr>
        <p:spPr>
          <a:xfrm xmlns:a="http://schemas.openxmlformats.org/drawingml/2006/main">
            <a:off x="6429375" y="1504950"/>
            <a:ext cx="4905375" cy="400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2550" b="1">
                <a:solidFill>
                  <a:srgbClr val="171717"/>
                </a:solidFill>
                <a:latin typeface="맑은 고딕"/>
                <a:ea typeface="맑은 고딕"/>
                <a:cs typeface="맑은 고딕"/>
              </a:defRPr>
            </a:pPr>
            <a:r>
              <a:rPr sz="2550" b="1">
                <a:solidFill>
                  <a:srgbClr val="171717"/>
                </a:solidFill>
                <a:latin typeface="맑은 고딕"/>
                <a:ea typeface="맑은 고딕"/>
                <a:cs typeface="맑은 고딕"/>
              </a:rPr>
              <a:t>모두의 백제</a:t>
            </a:r>
          </a:p>
        </p:txBody>
      </p:sp>
      <p:sp>
        <p:nvSpPr>
          <p:cNvPr id="4" name="">
            <a:extLst xmlns:a="http://schemas.openxmlformats.org/drawingml/2006/main">
              <a:ext uri="{FF2B5EF4-FFF2-40B4-BE49-F238E27FC236}">
                <a16:creationId xmlns:a16="http://schemas.microsoft.com/office/drawing/2014/main" id="{2044B246-432C-4FC7-BE34-5B067F9EE825}"/>
              </a:ext>
            </a:extLst>
          </p:cNvPr>
          <p:cNvSpPr>
            <a:spLocks xmlns:a="http://schemas.openxmlformats.org/drawingml/2006/main" noGrp="1"/>
          </p:cNvSpPr>
          <p:nvPr/>
        </p:nvSpPr>
        <p:spPr>
          <a:xfrm xmlns:a="http://schemas.openxmlformats.org/drawingml/2006/main">
            <a:off x="6429375" y="2000250"/>
            <a:ext cx="4953000" cy="3238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875" b="1">
                <a:solidFill>
                  <a:srgbClr val="171717"/>
                </a:solidFill>
                <a:latin typeface="맑은 고딕"/>
                <a:ea typeface="맑은 고딕"/>
                <a:cs typeface="맑은 고딕"/>
              </a:defRPr>
            </a:pPr>
            <a:r>
              <a:rPr sz="1875" b="1">
                <a:solidFill>
                  <a:srgbClr val="171717"/>
                </a:solidFill>
                <a:latin typeface="맑은 고딕"/>
                <a:ea typeface="맑은 고딕"/>
                <a:cs typeface="맑은 고딕"/>
              </a:rPr>
              <a:t>동행 조건으로 확인하는 공주·부여 여행</a:t>
            </a:r>
          </a:p>
        </p:txBody>
      </p:sp>
      <p:sp>
        <p:nvSpPr>
          <p:cNvPr id="5" name="">
            <a:extLst xmlns:a="http://schemas.openxmlformats.org/drawingml/2006/main">
              <a:ext uri="{FF2B5EF4-FFF2-40B4-BE49-F238E27FC236}">
                <a16:creationId xmlns:a16="http://schemas.microsoft.com/office/drawing/2014/main" id="{E2A81D5C-B33A-4639-9BE9-B159B9C645FF}"/>
              </a:ext>
            </a:extLst>
          </p:cNvPr>
          <p:cNvSpPr>
            <a:spLocks xmlns:a="http://schemas.openxmlformats.org/drawingml/2006/main" noGrp="1"/>
          </p:cNvSpPr>
          <p:nvPr/>
        </p:nvSpPr>
        <p:spPr>
          <a:xfrm xmlns:a="http://schemas.openxmlformats.org/drawingml/2006/main">
            <a:off x="6429375" y="2400300"/>
            <a:ext cx="5000625" cy="304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650" b="0">
                <a:solidFill>
                  <a:srgbClr val="171717"/>
                </a:solidFill>
                <a:latin typeface="맑은 고딕"/>
                <a:ea typeface="맑은 고딕"/>
                <a:cs typeface="맑은 고딕"/>
              </a:defRPr>
            </a:pPr>
            <a:r>
              <a:rPr sz="1650" b="0">
                <a:solidFill>
                  <a:srgbClr val="171717"/>
                </a:solidFill>
                <a:latin typeface="맑은 고딕"/>
                <a:ea typeface="맑은 고딕"/>
                <a:cs typeface="맑은 고딕"/>
              </a:rPr>
              <a:t>방문 전 확인사항과 대안, 여행 코스를 한곳에서</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efb35bd2ca942d1"/>
          <a:srcRect xmlns:a="http://schemas.openxmlformats.org/drawingml/2006/main" l="18826" t="40879" r="39092" b="3980"/>
          <a:stretch xmlns:a="http://schemas.openxmlformats.org/drawingml/2006/main"/>
        </p:blipFill>
        <p:spPr>
          <a:xfrm xmlns:a="http://schemas.openxmlformats.org/drawingml/2006/main">
            <a:off x="2457450" y="3209925"/>
            <a:ext cx="2819400" cy="24669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9DB96D2-131C-44A2-B14A-9B95404DD3F4}"/>
              </a:ext>
            </a:extLst>
          </p:cNvPr>
          <p:cNvSpPr>
            <a:spLocks xmlns:a="http://schemas.openxmlformats.org/drawingml/2006/main" noGrp="1"/>
          </p:cNvSpPr>
          <p:nvPr/>
        </p:nvSpPr>
        <p:spPr>
          <a:xfrm xmlns:a="http://schemas.openxmlformats.org/drawingml/2006/main">
            <a:off x="2390775" y="5791200"/>
            <a:ext cx="29527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1717"/>
                </a:solidFill>
                <a:latin typeface="맑은 고딕"/>
                <a:ea typeface="맑은 고딕"/>
                <a:cs typeface="맑은 고딕"/>
              </a:defRPr>
            </a:pPr>
            <a:r>
              <a:rPr sz="1650" b="1">
                <a:solidFill>
                  <a:srgbClr val="171717"/>
                </a:solidFill>
                <a:latin typeface="맑은 고딕"/>
                <a:ea typeface="맑은 고딕"/>
                <a:cs typeface="맑은 고딕"/>
              </a:rPr>
              <a:t>조건별 판정과 대안</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c51756b9cce46ad"/>
          <a:srcRect xmlns:a="http://schemas.openxmlformats.org/drawingml/2006/main" l="3797" t="14903" r="37104" b="48740"/>
          <a:stretch xmlns:a="http://schemas.openxmlformats.org/drawingml/2006/main"/>
        </p:blipFill>
        <p:spPr>
          <a:xfrm xmlns:a="http://schemas.openxmlformats.org/drawingml/2006/main">
            <a:off x="5534025" y="3445328"/>
            <a:ext cx="2952750" cy="199617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EA4CB3D-E015-4F71-B7D4-A86726C0A422}"/>
              </a:ext>
            </a:extLst>
          </p:cNvPr>
          <p:cNvSpPr>
            <a:spLocks xmlns:a="http://schemas.openxmlformats.org/drawingml/2006/main" noGrp="1"/>
          </p:cNvSpPr>
          <p:nvPr/>
        </p:nvSpPr>
        <p:spPr>
          <a:xfrm xmlns:a="http://schemas.openxmlformats.org/drawingml/2006/main">
            <a:off x="5534025" y="5791200"/>
            <a:ext cx="29527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1717"/>
                </a:solidFill>
                <a:latin typeface="맑은 고딕"/>
                <a:ea typeface="맑은 고딕"/>
                <a:cs typeface="맑은 고딕"/>
              </a:defRPr>
            </a:pPr>
            <a:r>
              <a:rPr sz="1650" b="1">
                <a:solidFill>
                  <a:srgbClr val="171717"/>
                </a:solidFill>
                <a:latin typeface="맑은 고딕"/>
                <a:ea typeface="맑은 고딕"/>
                <a:cs typeface="맑은 고딕"/>
              </a:rPr>
              <a:t>체류·이동 시간과 코스</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2defdd9e56e40e5"/>
          <a:srcRect xmlns:a="http://schemas.openxmlformats.org/drawingml/2006/main" l="5771" t="7303" r="34862" b="7022"/>
          <a:stretch xmlns:a="http://schemas.openxmlformats.org/drawingml/2006/main"/>
        </p:blipFill>
        <p:spPr>
          <a:xfrm xmlns:a="http://schemas.openxmlformats.org/drawingml/2006/main">
            <a:off x="8677275" y="3244226"/>
            <a:ext cx="2952750" cy="239837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D890257-C8F3-4116-BCB1-81A6F9717F14}"/>
              </a:ext>
            </a:extLst>
          </p:cNvPr>
          <p:cNvSpPr>
            <a:spLocks xmlns:a="http://schemas.openxmlformats.org/drawingml/2006/main" noGrp="1"/>
          </p:cNvSpPr>
          <p:nvPr/>
        </p:nvSpPr>
        <p:spPr>
          <a:xfrm xmlns:a="http://schemas.openxmlformats.org/drawingml/2006/main">
            <a:off x="8677275" y="5791200"/>
            <a:ext cx="29527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171717"/>
                </a:solidFill>
                <a:latin typeface="맑은 고딕"/>
                <a:ea typeface="맑은 고딕"/>
                <a:cs typeface="맑은 고딕"/>
              </a:defRPr>
            </a:pPr>
            <a:r>
              <a:rPr sz="1650" b="1">
                <a:solidFill>
                  <a:srgbClr val="171717"/>
                </a:solidFill>
                <a:latin typeface="맑은 고딕"/>
                <a:ea typeface="맑은 고딕"/>
                <a:cs typeface="맑은 고딕"/>
              </a:rPr>
              <a:t>미확인 항목과 동행 조건</a:t>
            </a:r>
          </a:p>
        </p:txBody>
      </p:sp>
    </p:spTree>
    <p:extLst>
      <p:ext uri="{BB962C8B-B14F-4D97-AF65-F5344CB8AC3E}">
        <p14:creationId xmlns:p14="http://schemas.microsoft.com/office/powerpoint/2010/main" val="28229692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7" name="표 2"/>
          <p:cNvGraphicFramePr/>
          <p:nvPr/>
        </p:nvGraphicFramePr>
        <p:xfrm>
          <a:off xmlns:a="http://schemas.openxmlformats.org/drawingml/2006/main" x="287250" y="1218429"/>
          <a:ext xmlns:a="http://schemas.openxmlformats.org/drawingml/2006/main" cx="11649825" cy="5079734"/>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1944404">
                <a:tc>
                  <a:txBody>
                    <a:bodyPr/>
                    <a:lstStyle/>
                    <a:p>
                      <a:pPr algn="ctr">
                        <a:buNone/>
                      </a:pPr>
                      <a:r>
                        <a:rPr b="1">
                          <a:solidFill>
                            <a:schemeClr val="bg1"/>
                          </a:solidFill>
                        </a:rPr>
                        <a:t>특화 </a:t>
                      </a:r>
                      <a:r>
                        <a:rPr b="1">
                          <a:solidFill>
                            <a:schemeClr val="bg1"/>
                          </a:solidFill>
                        </a:rPr>
                        <a:t>지역명</a:t>
                      </a:r>
                      <a:endParaRPr b="1">
                        <a:solidFill>
                          <a:schemeClr val="bg1"/>
                        </a:solidFill>
                      </a:endParaRPr>
                    </a:p>
                    <a:p>
                      <a:pPr algn="ctr">
                        <a:buNone/>
                      </a:pPr>
                      <a:r>
                        <a:rPr sz="1600" b="1">
                          <a:solidFill>
                            <a:schemeClr val="bg1"/>
                          </a:solidFill>
                        </a:rPr>
                        <a:t>* </a:t>
                      </a:r>
                      <a:r>
                        <a:rPr sz="1600" b="1">
                          <a:solidFill>
                            <a:schemeClr val="bg1"/>
                          </a:solidFill>
                        </a:rPr>
                        <a:t>서울 제외</a:t>
                      </a:r>
                      <a:endParaRPr sz="16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2250" b="1">
                          <a:solidFill>
                            <a:srgbClr val="171717"/>
                          </a:solidFill>
                          <a:latin typeface="맑은 고딕"/>
                          <a:ea typeface="맑은 고딕"/>
                          <a:cs typeface="맑은 고딕"/>
                        </a:rPr>
                        <a:t>충청남도 공주시·부여군</a:t>
                      </a:r>
                    </a:p>
                    <a:p>
                      <a:pPr algn="l">
                        <a:spcAft>
                          <a:spcPts val="0"/>
                        </a:spcAft>
                      </a:pPr>
                      <a:r>
                        <a:rPr sz="2250" b="0">
                          <a:solidFill>
                            <a:srgbClr val="171717"/>
                          </a:solidFill>
                          <a:latin typeface="맑은 고딕"/>
                          <a:ea typeface="맑은 고딕"/>
                          <a:cs typeface="맑은 고딕"/>
                        </a:rPr>
                        <a:t>공주 4곳과 부여 9곳, 총 13곳</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135330">
                <a:tc>
                  <a:txBody>
                    <a:bodyPr/>
                    <a:lstStyle/>
                    <a:p>
                      <a:pPr algn="ctr">
                        <a:buNone/>
                      </a:pPr>
                      <a:r>
                        <a:rPr b="1">
                          <a:solidFill>
                            <a:schemeClr val="bg1"/>
                          </a:solidFill>
                        </a:rPr>
                        <a:t>구현 내용</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763" b="1">
                          <a:solidFill>
                            <a:srgbClr val="171717"/>
                          </a:solidFill>
                          <a:latin typeface="맑은 고딕"/>
                          <a:ea typeface="맑은 고딕"/>
                          <a:cs typeface="맑은 고딕"/>
                        </a:rPr>
                        <a:t>백제 유적과 박물관을 함께 살펴봅니다.</a:t>
                      </a:r>
                    </a:p>
                    <a:p>
                      <a:pPr algn="l">
                        <a:spcAft>
                          <a:spcPts val="0"/>
                        </a:spcAft>
                      </a:pPr>
                      <a:r>
                        <a:rPr sz="1763" b="0">
                          <a:solidFill>
                            <a:srgbClr val="171717"/>
                          </a:solidFill>
                          <a:latin typeface="맑은 고딕"/>
                          <a:ea typeface="맑은 고딕"/>
                          <a:cs typeface="맑은 고딕"/>
                        </a:rPr>
                        <a:t>공산성·무령왕릉과 왕릉원·부소산성·정림사지 등 백제 유적과 주변 관광지를 연결했습니다. 세계유산 구성유산과 박물관은 구분해 표시합니다.</a:t>
                      </a:r>
                    </a:p>
                    <a:p>
                      <a:pPr algn="l">
                        <a:spcBef>
                          <a:spcPts val="700"/>
                        </a:spcBef>
                        <a:spcAft>
                          <a:spcPts val="300"/>
                        </a:spcAft>
                      </a:pPr>
                      <a:r>
                        <a:rPr sz="1763" b="1">
                          <a:solidFill>
                            <a:srgbClr val="171717"/>
                          </a:solidFill>
                          <a:latin typeface="맑은 고딕"/>
                          <a:ea typeface="맑은 고딕"/>
                          <a:cs typeface="맑은 고딕"/>
                        </a:rPr>
                        <a:t>산성과 박물관의 관람 조건 차이를 보여줍니다.</a:t>
                      </a:r>
                    </a:p>
                    <a:p>
                      <a:pPr algn="l">
                        <a:spcAft>
                          <a:spcPts val="0"/>
                        </a:spcAft>
                      </a:pPr>
                      <a:r>
                        <a:rPr sz="1763" b="0">
                          <a:solidFill>
                            <a:srgbClr val="171717"/>
                          </a:solidFill>
                          <a:latin typeface="맑은 고딕"/>
                          <a:ea typeface="맑은 고딕"/>
                          <a:cs typeface="맑은 고딕"/>
                        </a:rPr>
                        <a:t>휠체어 조건에서 공산성은 ‘주의 필요’, 국립공주박물관은 ‘방문 가능’으로 안내합니다. 공주·부여 사이 긴 이동 구간에는 휴식을 권합니다.</a:t>
                      </a:r>
                    </a:p>
                    <a:p>
                      <a:pPr algn="l">
                        <a:spcBef>
                          <a:spcPts val="700"/>
                        </a:spcBef>
                        <a:spcAft>
                          <a:spcPts val="300"/>
                        </a:spcAft>
                      </a:pPr>
                      <a:r>
                        <a:rPr sz="1763" b="1">
                          <a:solidFill>
                            <a:srgbClr val="171717"/>
                          </a:solidFill>
                          <a:latin typeface="맑은 고딕"/>
                          <a:ea typeface="맑은 고딕"/>
                          <a:cs typeface="맑은 고딕"/>
                        </a:rPr>
                        <a:t>지역의 이용 안내와 정보 보완 목록을 제공합니다.</a:t>
                      </a:r>
                    </a:p>
                    <a:p>
                      <a:pPr algn="l">
                        <a:spcAft>
                          <a:spcPts val="0"/>
                        </a:spcAft>
                      </a:pPr>
                      <a:r>
                        <a:rPr sz="1763" b="0">
                          <a:solidFill>
                            <a:srgbClr val="171717"/>
                          </a:solidFill>
                          <a:latin typeface="맑은 고딕"/>
                          <a:ea typeface="맑은 고딕"/>
                          <a:cs typeface="맑은 고딕"/>
                        </a:rPr>
                        <a:t>장애인 화장실과 안전시설, 충남광역이동지원센터 안내를 연결합니다. 갭 리포트에는 수록 관광지의 미확인 항목을 모읍니다.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192526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1. 동행 조건 선택</a:t>
                      </a:r>
                    </a:p>
                    <a:p>
                      <a:pPr algn="l">
                        <a:spcAft>
                          <a:spcPts val="0"/>
                        </a:spcAft>
                      </a:pPr>
                      <a:r>
                        <a:rPr sz="1725" b="0">
                          <a:solidFill>
                            <a:srgbClr val="171717"/>
                          </a:solidFill>
                          <a:latin typeface="맑은 고딕"/>
                          <a:ea typeface="맑은 고딕"/>
                          <a:cs typeface="맑은 고딕"/>
                        </a:rPr>
                        <a:t>본인과 동행에게 필요한 조건을 고릅니다. 여러 개 선택할 수 있습니다.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2. 방문 전 확인사항</a:t>
                      </a:r>
                    </a:p>
                    <a:p>
                      <a:pPr algn="l">
                        <a:spcAft>
                          <a:spcPts val="0"/>
                        </a:spcAft>
                      </a:pPr>
                      <a:r>
                        <a:rPr sz="1725" b="0">
                          <a:solidFill>
                            <a:srgbClr val="171717"/>
                          </a:solidFill>
                          <a:latin typeface="맑은 고딕"/>
                          <a:ea typeface="맑은 고딕"/>
                          <a:cs typeface="맑은 고딕"/>
                        </a:rPr>
                        <a:t>공산성은 출입통로와 관람 동선에 조건이 있어 ‘주의 필요’로 안내합니다.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1</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동행 조건에 따른 방문 판단 (1/2)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동행 조건별 판정과 주의할 항목을 보여주고, 원문과 출처로 이유를 확인합니다.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b334e84dfe44010"/>
          <a:srcRect xmlns:a="http://schemas.openxmlformats.org/drawingml/2006/main" l="18826" t="9287" r="40365" b="23549"/>
          <a:stretch xmlns:a="http://schemas.openxmlformats.org/drawingml/2006/main"/>
        </p:blipFill>
        <p:spPr>
          <a:xfrm xmlns:a="http://schemas.openxmlformats.org/drawingml/2006/main">
            <a:off x="1778857" y="2365058"/>
            <a:ext cx="2761171" cy="303466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c288f613dc94a38"/>
          <a:srcRect xmlns:a="http://schemas.openxmlformats.org/drawingml/2006/main" l="18826" t="40879" r="39092" b="3980"/>
          <a:stretch xmlns:a="http://schemas.openxmlformats.org/drawingml/2006/main"/>
        </p:blipFill>
        <p:spPr>
          <a:xfrm xmlns:a="http://schemas.openxmlformats.org/drawingml/2006/main">
            <a:off x="7138443" y="2365058"/>
            <a:ext cx="3468189" cy="30346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3. 판정의 근거 확인</a:t>
                      </a:r>
                    </a:p>
                    <a:p>
                      <a:pPr algn="l">
                        <a:spcAft>
                          <a:spcPts val="0"/>
                        </a:spcAft>
                      </a:pPr>
                      <a:r>
                        <a:rPr sz="1725" b="0">
                          <a:solidFill>
                            <a:srgbClr val="171717"/>
                          </a:solidFill>
                          <a:latin typeface="맑은 고딕"/>
                          <a:ea typeface="맑은 고딕"/>
                          <a:cs typeface="맑은 고딕"/>
                        </a:rPr>
                        <a:t>‘흙 구간 및 일부 구간 접근 어려움’이라는 원문과 출처·확인일을 읽습니다.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4. 같은 조건의 대안</a:t>
                      </a:r>
                    </a:p>
                    <a:p>
                      <a:pPr algn="l">
                        <a:spcAft>
                          <a:spcPts val="0"/>
                        </a:spcAft>
                      </a:pPr>
                      <a:r>
                        <a:rPr sz="1725" b="0">
                          <a:solidFill>
                            <a:srgbClr val="171717"/>
                          </a:solidFill>
                          <a:latin typeface="맑은 고딕"/>
                          <a:ea typeface="맑은 고딕"/>
                          <a:cs typeface="맑은 고딕"/>
                        </a:rPr>
                        <a:t>‘방문 가능’으로 안내한 국립공주박물관을 함께 살펴봅니다.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1</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동행 조건에 따른 방문 판단 (2/2)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동행 조건별 판정과 주의할 항목을 보여주고, 원문과 출처로 이유를 확인합니다.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1a323a77e394d61"/>
          <a:srcRect xmlns:a="http://schemas.openxmlformats.org/drawingml/2006/main" l="5771" t="23174" r="6877" b="12781"/>
          <a:stretch xmlns:a="http://schemas.openxmlformats.org/drawingml/2006/main"/>
        </p:blipFill>
        <p:spPr>
          <a:xfrm xmlns:a="http://schemas.openxmlformats.org/drawingml/2006/main">
            <a:off x="426720" y="2754678"/>
            <a:ext cx="5465445" cy="2255423"/>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866574b7bed4325"/>
          <a:srcRect xmlns:a="http://schemas.openxmlformats.org/drawingml/2006/main" l="18826" t="9287" r="19712" b="39884"/>
          <a:stretch xmlns:a="http://schemas.openxmlformats.org/drawingml/2006/main"/>
        </p:blipFill>
        <p:spPr>
          <a:xfrm xmlns:a="http://schemas.openxmlformats.org/drawingml/2006/main">
            <a:off x="6139815" y="2373238"/>
            <a:ext cx="5465445" cy="3018304"/>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1. 여행 시간 선택</a:t>
                      </a:r>
                    </a:p>
                    <a:p>
                      <a:pPr algn="l">
                        <a:spcAft>
                          <a:spcPts val="0"/>
                        </a:spcAft>
                      </a:pPr>
                      <a:r>
                        <a:rPr sz="1725" b="0">
                          <a:solidFill>
                            <a:srgbClr val="171717"/>
                          </a:solidFill>
                          <a:latin typeface="맑은 고딕"/>
                          <a:ea typeface="맑은 고딕"/>
                          <a:cs typeface="맑은 고딕"/>
                        </a:rPr>
                        <a:t>반나절·당일·1박 2일 가운데 여행 일정에 맞는 코스를 고릅니다.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2. 체류·이동 시간 확인</a:t>
                      </a:r>
                    </a:p>
                    <a:p>
                      <a:pPr algn="l">
                        <a:spcAft>
                          <a:spcPts val="0"/>
                        </a:spcAft>
                      </a:pPr>
                      <a:r>
                        <a:rPr sz="1725" b="0">
                          <a:solidFill>
                            <a:srgbClr val="171717"/>
                          </a:solidFill>
                          <a:latin typeface="맑은 고딕"/>
                          <a:ea typeface="맑은 고딕"/>
                          <a:cs typeface="맑은 고딕"/>
                        </a:rPr>
                        <a:t>동행 조건에 맞춘 체류 시간과 관광지별 판정, 긴 이동 구간을 확인합니다.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2</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시간에 맞춘 코스와 사전 경로 안내 (1/2)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체류 시간을 조정한 코스와 산성의 단계별 진입 안내를 제공합니다.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ccea3f789644493"/>
          <a:srcRect xmlns:a="http://schemas.openxmlformats.org/drawingml/2006/main" l="12905" t="6579" r="46074" b="58306"/>
          <a:stretch xmlns:a="http://schemas.openxmlformats.org/drawingml/2006/main"/>
        </p:blipFill>
        <p:spPr>
          <a:xfrm xmlns:a="http://schemas.openxmlformats.org/drawingml/2006/main">
            <a:off x="504999" y="2365058"/>
            <a:ext cx="5308887" cy="303466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be0d45439de4d1e"/>
          <a:srcRect xmlns:a="http://schemas.openxmlformats.org/drawingml/2006/main" l="3797" t="14903" r="37104" b="48740"/>
          <a:stretch xmlns:a="http://schemas.openxmlformats.org/drawingml/2006/main"/>
        </p:blipFill>
        <p:spPr>
          <a:xfrm xmlns:a="http://schemas.openxmlformats.org/drawingml/2006/main">
            <a:off x="6628087" y="2365058"/>
            <a:ext cx="4488901" cy="30346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3. 진입 과정 미리 보기</a:t>
                      </a:r>
                    </a:p>
                    <a:p>
                      <a:pPr algn="l">
                        <a:spcAft>
                          <a:spcPts val="0"/>
                        </a:spcAft>
                      </a:pPr>
                      <a:r>
                        <a:rPr sz="1725" b="0">
                          <a:solidFill>
                            <a:srgbClr val="171717"/>
                          </a:solidFill>
                          <a:latin typeface="맑은 고딕"/>
                          <a:ea typeface="맑은 고딕"/>
                          <a:cs typeface="맑은 고딕"/>
                        </a:rPr>
                        <a:t>공산성·부소산성의 주차장과 화장실, 진입 구간을 5단계로 살펴봅니다.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4. 한 번에 한 단계</a:t>
                      </a:r>
                    </a:p>
                    <a:p>
                      <a:pPr algn="l">
                        <a:spcAft>
                          <a:spcPts val="0"/>
                        </a:spcAft>
                      </a:pPr>
                      <a:r>
                        <a:rPr sz="1725" b="0">
                          <a:solidFill>
                            <a:srgbClr val="171717"/>
                          </a:solidFill>
                          <a:latin typeface="맑은 고딕"/>
                          <a:ea typeface="맑은 고딕"/>
                          <a:cs typeface="맑은 고딕"/>
                        </a:rPr>
                        <a:t>현재 단계의 설명과 노면을 읽고 이전·다음 버튼으로 이동합니다.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2</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시간에 맞춘 코스와 사전 경로 안내 (2/2)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체류 시간을 조정한 코스와 산성의 단계별 진입 안내를 제공합니다.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ae45eda3a97419b"/>
          <a:srcRect xmlns:a="http://schemas.openxmlformats.org/drawingml/2006/main" l="12569" t="12113" r="46013" b="64619"/>
          <a:stretch xmlns:a="http://schemas.openxmlformats.org/drawingml/2006/main"/>
        </p:blipFill>
        <p:spPr>
          <a:xfrm xmlns:a="http://schemas.openxmlformats.org/drawingml/2006/main">
            <a:off x="1034040" y="2365058"/>
            <a:ext cx="4250804" cy="303466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59573f85fde4df2"/>
          <a:srcRect xmlns:a="http://schemas.openxmlformats.org/drawingml/2006/main" l="5771" t="5197" r="6877" b="26404"/>
          <a:stretch xmlns:a="http://schemas.openxmlformats.org/drawingml/2006/main"/>
        </p:blipFill>
        <p:spPr>
          <a:xfrm xmlns:a="http://schemas.openxmlformats.org/drawingml/2006/main">
            <a:off x="6139815" y="2678014"/>
            <a:ext cx="5465445" cy="2408753"/>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1. 해설 듣기·대본 읽기</a:t>
                      </a:r>
                    </a:p>
                    <a:p>
                      <a:pPr algn="l">
                        <a:spcAft>
                          <a:spcPts val="0"/>
                        </a:spcAft>
                      </a:pPr>
                      <a:r>
                        <a:rPr sz="1725" b="0">
                          <a:solidFill>
                            <a:srgbClr val="171717"/>
                          </a:solidFill>
                          <a:latin typeface="맑은 고딕"/>
                          <a:ea typeface="맑은 고딕"/>
                          <a:cs typeface="맑은 고딕"/>
                        </a:rPr>
                        <a:t>한국관광공사 오디의 백제 해설을 듣거나 대본으로 읽습니다.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2. 관광지 담기</a:t>
                      </a:r>
                    </a:p>
                    <a:p>
                      <a:pPr algn="l">
                        <a:spcAft>
                          <a:spcPts val="0"/>
                        </a:spcAft>
                      </a:pPr>
                      <a:r>
                        <a:rPr sz="1725" b="0">
                          <a:solidFill>
                            <a:srgbClr val="171717"/>
                          </a:solidFill>
                          <a:latin typeface="맑은 고딕"/>
                          <a:ea typeface="맑은 고딕"/>
                          <a:cs typeface="맑은 고딕"/>
                        </a:rPr>
                        <a:t>기록에 남길 관광지를 고르고, 방문 여부와 경로 단계를 체크합니다.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3</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백제 해설과 여행 기록 (1/2)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오디 해설을 음성과 대본으로 제공하고, 장소와 메모를 여행 기록으로 남깁니다.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cefdd1a5f2041fb"/>
          <a:srcRect xmlns:a="http://schemas.openxmlformats.org/drawingml/2006/main" l="18826" t="9204" r="19657" b="42537"/>
          <a:stretch xmlns:a="http://schemas.openxmlformats.org/drawingml/2006/main"/>
        </p:blipFill>
        <p:spPr>
          <a:xfrm xmlns:a="http://schemas.openxmlformats.org/drawingml/2006/main">
            <a:off x="426720" y="2450847"/>
            <a:ext cx="5465445" cy="2863086"/>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98d38771c034d0d"/>
          <a:srcRect xmlns:a="http://schemas.openxmlformats.org/drawingml/2006/main" l="18826" t="4643" r="19712" b="41625"/>
          <a:stretch xmlns:a="http://schemas.openxmlformats.org/drawingml/2006/main"/>
        </p:blipFill>
        <p:spPr>
          <a:xfrm xmlns:a="http://schemas.openxmlformats.org/drawingml/2006/main">
            <a:off x="6273403" y="2365058"/>
            <a:ext cx="5198269" cy="30346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3. 메모 남기기</a:t>
                      </a:r>
                    </a:p>
                    <a:p>
                      <a:pPr algn="l">
                        <a:spcAft>
                          <a:spcPts val="0"/>
                        </a:spcAft>
                      </a:pPr>
                      <a:r>
                        <a:rPr sz="1725" b="0">
                          <a:solidFill>
                            <a:srgbClr val="171717"/>
                          </a:solidFill>
                          <a:latin typeface="맑은 고딕"/>
                          <a:ea typeface="맑은 고딕"/>
                          <a:cs typeface="맑은 고딕"/>
                        </a:rPr>
                        <a:t>기억할 내용과 이동 관련 메모를 적습니다. 기록은 브라우저에 보관합니다.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4. 인쇄물·파일로 보관</a:t>
                      </a:r>
                    </a:p>
                    <a:p>
                      <a:pPr algn="l">
                        <a:spcAft>
                          <a:spcPts val="0"/>
                        </a:spcAft>
                      </a:pPr>
                      <a:r>
                        <a:rPr sz="1725" b="0">
                          <a:solidFill>
                            <a:srgbClr val="171717"/>
                          </a:solidFill>
                          <a:latin typeface="맑은 고딕"/>
                          <a:ea typeface="맑은 고딕"/>
                          <a:cs typeface="맑은 고딕"/>
                        </a:rPr>
                        <a:t>인쇄 화면에서 PDF로 저장하거나 텍스트·GPX 파일로 내려받습니다.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3</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백제 해설과 여행 기록 (2/2)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오디 해설을 음성과 대본으로 제공하고, 장소와 메모를 여행 기록으로 남깁니다.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a64100c4e404952"/>
          <a:srcRect xmlns:a="http://schemas.openxmlformats.org/drawingml/2006/main" l="12569" t="11889" r="46013" b="66610"/>
          <a:stretch xmlns:a="http://schemas.openxmlformats.org/drawingml/2006/main"/>
        </p:blipFill>
        <p:spPr>
          <a:xfrm xmlns:a="http://schemas.openxmlformats.org/drawingml/2006/main">
            <a:off x="934021" y="2365058"/>
            <a:ext cx="4450842" cy="303466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05dfeb479954430"/>
          <a:srcRect xmlns:a="http://schemas.openxmlformats.org/drawingml/2006/main" l="5771" t="7303" r="36126" b="9270"/>
          <a:stretch xmlns:a="http://schemas.openxmlformats.org/drawingml/2006/main"/>
        </p:blipFill>
        <p:spPr>
          <a:xfrm xmlns:a="http://schemas.openxmlformats.org/drawingml/2006/main">
            <a:off x="6995030" y="2365058"/>
            <a:ext cx="3755015" cy="30346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1. 관광지에서 제보 진입</a:t>
                      </a:r>
                    </a:p>
                    <a:p>
                      <a:pPr algn="l">
                        <a:spcAft>
                          <a:spcPts val="0"/>
                        </a:spcAft>
                      </a:pPr>
                      <a:r>
                        <a:rPr sz="1725" b="0">
                          <a:solidFill>
                            <a:srgbClr val="171717"/>
                          </a:solidFill>
                          <a:latin typeface="맑은 고딕"/>
                          <a:ea typeface="맑은 고딕"/>
                          <a:cs typeface="맑은 고딕"/>
                        </a:rPr>
                        <a:t>관광지 상세의 ‘제보하기’로 해당 장소의 양식을 엽니다.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2. 상황과 목격일 입력</a:t>
                      </a:r>
                    </a:p>
                    <a:p>
                      <a:pPr algn="l">
                        <a:spcAft>
                          <a:spcPts val="0"/>
                        </a:spcAft>
                      </a:pPr>
                      <a:r>
                        <a:rPr sz="1725" b="0">
                          <a:solidFill>
                            <a:srgbClr val="171717"/>
                          </a:solidFill>
                          <a:latin typeface="맑은 고딕"/>
                          <a:ea typeface="맑은 고딕"/>
                          <a:cs typeface="맑은 고딕"/>
                        </a:rPr>
                        <a:t>경사로 막힘·공사 등 유형과 목격 날짜를 입력합니다.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4</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현장 상황 제보 (1/2)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방문자가 본 현장 상황을 공유하며, 제보를 확인된 무장애 정보와 구분합니다.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6bdca4285724874"/>
          <a:srcRect xmlns:a="http://schemas.openxmlformats.org/drawingml/2006/main" l="18826" t="40879" r="19712" b="23798"/>
          <a:stretch xmlns:a="http://schemas.openxmlformats.org/drawingml/2006/main"/>
        </p:blipFill>
        <p:spPr>
          <a:xfrm xmlns:a="http://schemas.openxmlformats.org/drawingml/2006/main">
            <a:off x="426720" y="2833615"/>
            <a:ext cx="5465445" cy="2097549"/>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d03c15f4683446c"/>
          <a:srcRect xmlns:a="http://schemas.openxmlformats.org/drawingml/2006/main" l="5771" t="8567" r="40632" b="13062"/>
          <a:stretch xmlns:a="http://schemas.openxmlformats.org/drawingml/2006/main"/>
        </p:blipFill>
        <p:spPr>
          <a:xfrm xmlns:a="http://schemas.openxmlformats.org/drawingml/2006/main">
            <a:off x="7028897" y="2365058"/>
            <a:ext cx="3687281" cy="30346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3. 설명 작성·공개 동의</a:t>
                      </a:r>
                    </a:p>
                    <a:p>
                      <a:pPr algn="l">
                        <a:spcAft>
                          <a:spcPts val="0"/>
                        </a:spcAft>
                      </a:pPr>
                      <a:r>
                        <a:rPr sz="1725" b="0">
                          <a:solidFill>
                            <a:srgbClr val="171717"/>
                          </a:solidFill>
                          <a:latin typeface="맑은 고딕"/>
                          <a:ea typeface="맑은 고딕"/>
                          <a:cs typeface="맑은 고딕"/>
                        </a:rPr>
                        <a:t>설명을 적고, 즉시 공개된다는 안내에 동의한 뒤 등록합니다.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4. 제보의 공개·관리 원칙</a:t>
                      </a:r>
                    </a:p>
                    <a:p>
                      <a:pPr algn="l">
                        <a:spcAft>
                          <a:spcPts val="0"/>
                        </a:spcAft>
                      </a:pPr>
                      <a:r>
                        <a:rPr sz="1725" b="0">
                          <a:solidFill>
                            <a:srgbClr val="171717"/>
                          </a:solidFill>
                          <a:latin typeface="맑은 고딕"/>
                          <a:ea typeface="맑은 고딕"/>
                          <a:cs typeface="맑은 고딕"/>
                        </a:rPr>
                        <a:t>방문자 제보는 별도 영역에 공개합니다. 판정에 넣지 않고, 신고가 들어오면 관리합니다.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4</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현장 상황 제보 (2/2)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방문자가 본 현장 상황을 공유하며, 제보를 확인된 무장애 정보와 구분합니다.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693854576944e52"/>
          <a:srcRect xmlns:a="http://schemas.openxmlformats.org/drawingml/2006/main" l="5771" t="1124" r="40632" b="45506"/>
          <a:stretch xmlns:a="http://schemas.openxmlformats.org/drawingml/2006/main"/>
        </p:blipFill>
        <p:spPr>
          <a:xfrm xmlns:a="http://schemas.openxmlformats.org/drawingml/2006/main">
            <a:off x="452202" y="2365058"/>
            <a:ext cx="5414481" cy="303466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619e35d1bd6423c"/>
          <a:srcRect xmlns:a="http://schemas.openxmlformats.org/drawingml/2006/main" l="5771" t="15590" r="6877" b="12360"/>
          <a:stretch xmlns:a="http://schemas.openxmlformats.org/drawingml/2006/main"/>
        </p:blipFill>
        <p:spPr>
          <a:xfrm xmlns:a="http://schemas.openxmlformats.org/drawingml/2006/main">
            <a:off x="6139815" y="2613714"/>
            <a:ext cx="5465445" cy="2537351"/>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1. 관광지별 현황 확인</a:t>
                      </a:r>
                    </a:p>
                    <a:p>
                      <a:pPr algn="l">
                        <a:spcAft>
                          <a:spcPts val="0"/>
                        </a:spcAft>
                      </a:pPr>
                      <a:r>
                        <a:rPr sz="1725" b="0">
                          <a:solidFill>
                            <a:srgbClr val="171717"/>
                          </a:solidFill>
                          <a:latin typeface="맑은 고딕"/>
                          <a:ea typeface="맑은 고딕"/>
                          <a:cs typeface="맑은 고딕"/>
                        </a:rPr>
                        <a:t>한국관광공사 확인, 별도 자료 확인, 정보 없음을 나누어 봅니다.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2. 우선 확인할 항목</a:t>
                      </a:r>
                    </a:p>
                    <a:p>
                      <a:pPr algn="l">
                        <a:spcAft>
                          <a:spcPts val="0"/>
                        </a:spcAft>
                      </a:pPr>
                      <a:r>
                        <a:rPr sz="1725" b="0">
                          <a:solidFill>
                            <a:srgbClr val="171717"/>
                          </a:solidFill>
                          <a:latin typeface="맑은 고딕"/>
                          <a:ea typeface="맑은 고딕"/>
                          <a:cs typeface="맑은 고딕"/>
                        </a:rPr>
                        <a:t>판정 기준이 되는 미확인 항목과 해당 관광지 수를 먼저 확인합니다.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5</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무장애 정보 갭 리포트 (1/2)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여행 안내에 사용한 데이터에서 미확인 항목을 모아, 다음에 확인할 일을 정리합니다.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b4447d296ce4ba9"/>
          <a:srcRect xmlns:a="http://schemas.openxmlformats.org/drawingml/2006/main" l="18826" t="9287" r="19712" b="15257"/>
          <a:stretch xmlns:a="http://schemas.openxmlformats.org/drawingml/2006/main"/>
        </p:blipFill>
        <p:spPr>
          <a:xfrm xmlns:a="http://schemas.openxmlformats.org/drawingml/2006/main">
            <a:off x="1308630" y="2365058"/>
            <a:ext cx="3701624" cy="303466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25f2139175f427b"/>
          <a:srcRect xmlns:a="http://schemas.openxmlformats.org/drawingml/2006/main" l="5771" t="7303" r="34862" b="7022"/>
          <a:stretch xmlns:a="http://schemas.openxmlformats.org/drawingml/2006/main"/>
        </p:blipFill>
        <p:spPr>
          <a:xfrm xmlns:a="http://schemas.openxmlformats.org/drawingml/2006/main">
            <a:off x="7004477" y="2365058"/>
            <a:ext cx="3736120" cy="3034665"/>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6"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3238500">
                <a:tc gridSpan="2">
                  <a:txBody>
                    <a:bodyPr/>
                    <a:lstStyle/>
                    <a:p>
                      <a:pPr marL="0" marR="0" lvl="0" indent="0" algn="ctr" defTabSz="914400">
                        <a:lnSpc>
                          <a:spcPct val="100000"/>
                        </a:lnSpc>
                        <a:spcBef>
                          <a:spcPts val="0"/>
                        </a:spcBef>
                        <a:spcAft>
                          <a:spcPts val="0"/>
                        </a:spcAft>
                        <a:buClrTx/>
                        <a:buSzTx/>
                        <a:buFontTx/>
                        <a:buNone/>
                      </a:pPr>
                      <a:r>
                        <a:rPr sz="1800" b="0">
                          <a:solidFill>
                            <a:srgbClr val="FF0000"/>
                          </a:solidFill>
                          <a:latin typeface="+mn-lt"/>
                          <a:ea typeface="+mn-lt"/>
                          <a:cs typeface="+mn-lt"/>
                        </a:rPr>
                        <a:t/>
                      </a:r>
                      <a:endParaRPr sz="1800" b="0">
                        <a:solidFill>
                          <a:srgbClr val="FF0000"/>
                        </a:solidFill>
                        <a:latin typeface="+mn-lt"/>
                        <a:ea typeface="+mn-lt"/>
                        <a:cs typeface="+mn-lt"/>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marL="0" marR="0" lvl="0" indent="0" algn="ctr" defTabSz="914400">
                        <a:lnSpc>
                          <a:spcPct val="100000"/>
                        </a:lnSpc>
                        <a:spcBef>
                          <a:spcPts val="0"/>
                        </a:spcBef>
                        <a:spcAft>
                          <a:spcPts val="0"/>
                        </a:spcAft>
                        <a:buClrTx/>
                        <a:buSzTx/>
                        <a:buFontTx/>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01649">
                <a:tc gridSpan="2">
                  <a:txBody>
                    <a:bodyPr/>
                    <a:lstStyle/>
                    <a:p>
                      <a:pPr algn="l">
                        <a:spcBef>
                          <a:spcPts val="0"/>
                        </a:spcBef>
                        <a:spcAft>
                          <a:spcPts val="300"/>
                        </a:spcAft>
                      </a:pPr>
                      <a:r>
                        <a:rPr sz="1725" b="1">
                          <a:solidFill>
                            <a:srgbClr val="171717"/>
                          </a:solidFill>
                          <a:latin typeface="맑은 고딕"/>
                          <a:ea typeface="맑은 고딕"/>
                          <a:cs typeface="맑은 고딕"/>
                        </a:rPr>
                        <a:t>3. 이용 제한 별도 확인</a:t>
                      </a:r>
                    </a:p>
                    <a:p>
                      <a:pPr algn="l">
                        <a:spcAft>
                          <a:spcPts val="0"/>
                        </a:spcAft>
                      </a:pPr>
                      <a:r>
                        <a:rPr sz="1725" b="0">
                          <a:solidFill>
                            <a:srgbClr val="171717"/>
                          </a:solidFill>
                          <a:latin typeface="맑은 고딕"/>
                          <a:ea typeface="맑은 고딕"/>
                          <a:cs typeface="맑은 고딕"/>
                        </a:rPr>
                        <a:t>이용 불가로 확인된 항목은 미확인 정보와 나누어 살펴봅니다.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gridSpan="2">
                  <a:txBody>
                    <a:bodyPr/>
                    <a:lstStyle/>
                    <a:p>
                      <a:pPr algn="l">
                        <a:spcBef>
                          <a:spcPts val="0"/>
                        </a:spcBef>
                        <a:spcAft>
                          <a:spcPts val="300"/>
                        </a:spcAft>
                      </a:pPr>
                      <a:r>
                        <a:rPr sz="1725" b="1">
                          <a:solidFill>
                            <a:srgbClr val="171717"/>
                          </a:solidFill>
                          <a:latin typeface="맑은 고딕"/>
                          <a:ea typeface="맑은 고딕"/>
                          <a:cs typeface="맑은 고딕"/>
                        </a:rPr>
                        <a:t>4. CSV로 확인 목록 저장</a:t>
                      </a:r>
                    </a:p>
                    <a:p>
                      <a:pPr algn="l">
                        <a:spcAft>
                          <a:spcPts val="0"/>
                        </a:spcAft>
                      </a:pPr>
                      <a:r>
                        <a:rPr sz="1725" b="0">
                          <a:solidFill>
                            <a:srgbClr val="171717"/>
                          </a:solidFill>
                          <a:latin typeface="맑은 고딕"/>
                          <a:ea typeface="맑은 고딕"/>
                          <a:cs typeface="맑은 고딕"/>
                        </a:rPr>
                        <a:t>관광지·항목·상태·출처·확인일을 내려받아 보완할 정보를 검토합니다.</a:t>
                      </a:r>
                    </a:p>
                  </a:txBody>
                  <a:tcPr marL="171450" marR="1714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hMerge="1">
                  <a:txBody>
                    <a:bodyPr/>
                    <a:lstStyle/>
                    <a:p>
                      <a:pPr algn="ctr">
                        <a:buNone/>
                      </a:pPr>
                      <a:r>
                        <a:rPr sz="1800" b="0">
                          <a:solidFill>
                            <a:srgbClr val="171717"/>
                          </a:solidFill>
                          <a:latin typeface="맑은 고딕"/>
                          <a:ea typeface="맑은 고딕"/>
                          <a:cs typeface="맑은 고딕"/>
                        </a:rPr>
                        <a:t/>
                      </a:r>
                      <a:endParaRPr b="0">
                        <a:solidFill>
                          <a:schemeClr val="tx1"/>
                        </a:solidFill>
                      </a:endParaRPr>
                    </a:p>
                  </a:txBody>
                  <a:tcPr marL="152400" marR="15240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27"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365760">
                <a:tc>
                  <a:txBody>
                    <a:bodyPr/>
                    <a:lstStyle/>
                    <a:p>
                      <a:pPr algn="ctr">
                        <a:buNone/>
                      </a:pPr>
                      <a:r>
                        <a:rPr sz="1800" b="1">
                          <a:solidFill>
                            <a:srgbClr val="FFFFFF"/>
                          </a:solidFill>
                          <a:latin typeface="맑은 고딕"/>
                          <a:ea typeface="맑은 고딕"/>
                          <a:cs typeface="맑은 고딕"/>
                        </a:rPr>
                        <a:t>핵심 기능 5</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875" b="1">
                          <a:solidFill>
                            <a:srgbClr val="171717"/>
                          </a:solidFill>
                          <a:latin typeface="맑은 고딕"/>
                          <a:ea typeface="맑은 고딕"/>
                          <a:cs typeface="맑은 고딕"/>
                        </a:rPr>
                        <a:t>무장애 정보 갭 리포트 (2/2)</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65760">
                <a:tc>
                  <a:txBody>
                    <a:bodyPr/>
                    <a:lstStyle/>
                    <a:p>
                      <a:pPr algn="ctr">
                        <a:buNone/>
                      </a:pPr>
                      <a:r>
                        <a:rPr sz="1800" b="1">
                          <a:solidFill>
                            <a:srgbClr val="FFFFFF"/>
                          </a:solidFill>
                          <a:latin typeface="맑은 고딕"/>
                          <a:ea typeface="맑은 고딕"/>
                          <a:cs typeface="맑은 고딕"/>
                        </a:rPr>
                        <a:t>기능 설명</a:t>
                      </a:r>
                      <a:endParaRPr b="1">
                        <a:solidFill>
                          <a:schemeClr val="bg1"/>
                        </a:solidFill>
                      </a:endParaRPr>
                    </a:p>
                  </a:txBody>
                  <a:tcPr marL="38100" marR="3810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여행 안내에 사용한 데이터에서 미확인 항목을 모아, 다음에 확인할 일을 정리합니다.</a:t>
                      </a:r>
                      <a:endParaRPr b="0">
                        <a:solidFill>
                          <a:schemeClr val="tx1"/>
                        </a:solidFill>
                      </a:endParaRPr>
                    </a:p>
                  </a:txBody>
                  <a:tcPr marL="133350" marR="133350" marT="28575" marB="285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9bf231b03134551"/>
          <a:srcRect xmlns:a="http://schemas.openxmlformats.org/drawingml/2006/main" l="5771" t="42556" r="34545" b="7444"/>
          <a:stretch xmlns:a="http://schemas.openxmlformats.org/drawingml/2006/main"/>
        </p:blipFill>
        <p:spPr>
          <a:xfrm xmlns:a="http://schemas.openxmlformats.org/drawingml/2006/main">
            <a:off x="426720" y="2593848"/>
            <a:ext cx="5465445" cy="2577084"/>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df028e93c674098"/>
          <a:srcRect xmlns:a="http://schemas.openxmlformats.org/drawingml/2006/main" l="5771" t="42837" r="55494" b="40028"/>
          <a:stretch xmlns:a="http://schemas.openxmlformats.org/drawingml/2006/main"/>
        </p:blipFill>
        <p:spPr>
          <a:xfrm xmlns:a="http://schemas.openxmlformats.org/drawingml/2006/main">
            <a:off x="7380548" y="2362200"/>
            <a:ext cx="2983980" cy="7429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C606ED7F-E224-41F1-848F-12D6CDF3DF6B}"/>
              </a:ext>
            </a:extLst>
          </p:cNvPr>
          <p:cNvSpPr>
            <a:spLocks xmlns:a="http://schemas.openxmlformats.org/drawingml/2006/main" noGrp="1"/>
          </p:cNvSpPr>
          <p:nvPr/>
        </p:nvSpPr>
        <p:spPr>
          <a:xfrm xmlns:a="http://schemas.openxmlformats.org/drawingml/2006/main">
            <a:off x="6219825" y="3181350"/>
            <a:ext cx="5305425" cy="247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defRPr sz="1350" b="1">
                <a:solidFill>
                  <a:srgbClr val="171717"/>
                </a:solidFill>
                <a:latin typeface="맑은 고딕"/>
                <a:ea typeface="맑은 고딕"/>
                <a:cs typeface="맑은 고딕"/>
              </a:defRPr>
            </a:pPr>
            <a:r>
              <a:rPr sz="1350" b="1">
                <a:solidFill>
                  <a:srgbClr val="171717"/>
                </a:solidFill>
                <a:latin typeface="맑은 고딕"/>
                <a:ea typeface="맑은 고딕"/>
                <a:cs typeface="맑은 고딕"/>
              </a:rPr>
              <a:t>내려받은 CSV · 168행 중 4행, 주요 5열</a:t>
            </a:r>
          </a:p>
        </p:txBody>
      </p:sp>
      <p:graphicFrame>
        <p:nvGraphicFramePr>
          <p:cNvPr id="31" name=""/>
          <p:cNvGraphicFramePr/>
          <p:nvPr/>
        </p:nvGraphicFramePr>
        <p:xfrm>
          <a:off xmlns:a="http://schemas.openxmlformats.org/drawingml/2006/main" x="6200775" y="3505200"/>
          <a:ext xmlns:a="http://schemas.openxmlformats.org/drawingml/2006/main" cx="5334000" cy="1724025"/>
        </p:xfrm>
        <a:graphic xmlns:a="http://schemas.openxmlformats.org/drawingml/2006/main">
          <a:graphicData uri="http://schemas.openxmlformats.org/drawingml/2006/table">
            <a:tbl>
              <a:tblPr/>
              <a:tblGrid>
                <a:gridCol w="1219200"/>
                <a:gridCol w="1057275"/>
                <a:gridCol w="828675"/>
                <a:gridCol w="1028700"/>
                <a:gridCol w="1200150"/>
              </a:tblGrid>
              <a:tr h="344805">
                <a:tc>
                  <a:txBody>
                    <a:bodyPr/>
                    <a:lstStyle/>
                    <a:p>
                      <a:pPr algn="l"/>
                      <a:r>
                        <a:rPr sz="1200" b="1">
                          <a:solidFill>
                            <a:srgbClr val="171717"/>
                          </a:solidFill>
                          <a:latin typeface="맑은 고딕"/>
                          <a:ea typeface="맑은 고딕"/>
                          <a:cs typeface="맑은 고딕"/>
                        </a:rPr>
                        <a:t>관광지</a:t>
                      </a:r>
                    </a:p>
                  </a:txBody>
                  <a:tcPr marL="47625" marR="47625" marT="38100" marB="38100" anchor="ctr">
                    <a:solidFill>
                      <a:srgbClr val="F1F0EC"/>
                    </a:solidFill>
                  </a:tcPr>
                </a:tc>
                <a:tc>
                  <a:txBody>
                    <a:bodyPr/>
                    <a:lstStyle/>
                    <a:p>
                      <a:pPr algn="l"/>
                      <a:r>
                        <a:rPr sz="1200" b="1">
                          <a:solidFill>
                            <a:srgbClr val="171717"/>
                          </a:solidFill>
                          <a:latin typeface="맑은 고딕"/>
                          <a:ea typeface="맑은 고딕"/>
                          <a:cs typeface="맑은 고딕"/>
                        </a:rPr>
                        <a:t>항목명</a:t>
                      </a:r>
                    </a:p>
                  </a:txBody>
                  <a:tcPr marL="47625" marR="47625" marT="38100" marB="38100" anchor="ctr">
                    <a:solidFill>
                      <a:srgbClr val="F1F0EC"/>
                    </a:solidFill>
                  </a:tcPr>
                </a:tc>
                <a:tc>
                  <a:txBody>
                    <a:bodyPr/>
                    <a:lstStyle/>
                    <a:p>
                      <a:pPr algn="l"/>
                      <a:r>
                        <a:rPr sz="1200" b="1">
                          <a:solidFill>
                            <a:srgbClr val="171717"/>
                          </a:solidFill>
                          <a:latin typeface="맑은 고딕"/>
                          <a:ea typeface="맑은 고딕"/>
                          <a:cs typeface="맑은 고딕"/>
                        </a:rPr>
                        <a:t>상태</a:t>
                      </a:r>
                    </a:p>
                  </a:txBody>
                  <a:tcPr marL="47625" marR="47625" marT="38100" marB="38100" anchor="ctr">
                    <a:solidFill>
                      <a:srgbClr val="F1F0EC"/>
                    </a:solidFill>
                  </a:tcPr>
                </a:tc>
                <a:tc>
                  <a:txBody>
                    <a:bodyPr/>
                    <a:lstStyle/>
                    <a:p>
                      <a:pPr algn="l"/>
                      <a:r>
                        <a:rPr sz="1200" b="1">
                          <a:solidFill>
                            <a:srgbClr val="171717"/>
                          </a:solidFill>
                          <a:latin typeface="맑은 고딕"/>
                          <a:ea typeface="맑은 고딕"/>
                          <a:cs typeface="맑은 고딕"/>
                        </a:rPr>
                        <a:t>출처</a:t>
                      </a:r>
                    </a:p>
                  </a:txBody>
                  <a:tcPr marL="47625" marR="47625" marT="38100" marB="38100" anchor="ctr">
                    <a:solidFill>
                      <a:srgbClr val="F1F0EC"/>
                    </a:solidFill>
                  </a:tcPr>
                </a:tc>
                <a:tc>
                  <a:txBody>
                    <a:bodyPr/>
                    <a:lstStyle/>
                    <a:p>
                      <a:pPr algn="l"/>
                      <a:r>
                        <a:rPr sz="1200" b="1">
                          <a:solidFill>
                            <a:srgbClr val="171717"/>
                          </a:solidFill>
                          <a:latin typeface="맑은 고딕"/>
                          <a:ea typeface="맑은 고딕"/>
                          <a:cs typeface="맑은 고딕"/>
                        </a:rPr>
                        <a:t>확인일</a:t>
                      </a:r>
                    </a:p>
                  </a:txBody>
                  <a:tcPr marL="47625" marR="47625" marT="38100" marB="38100" anchor="ctr">
                    <a:solidFill>
                      <a:srgbClr val="F1F0EC"/>
                    </a:solidFill>
                  </a:tcPr>
                </a:tc>
              </a:tr>
              <a:tr h="344805">
                <a:tc>
                  <a:txBody>
                    <a:bodyPr/>
                    <a:lstStyle/>
                    <a:p>
                      <a:pPr algn="l"/>
                      <a:r>
                        <a:rPr sz="1200" b="0">
                          <a:solidFill>
                            <a:srgbClr val="171717"/>
                          </a:solidFill>
                          <a:latin typeface="맑은 고딕"/>
                          <a:ea typeface="맑은 고딕"/>
                          <a:cs typeface="맑은 고딕"/>
                        </a:rPr>
                        <a:t>공주 고마나루</a:t>
                      </a:r>
                    </a:p>
                  </a:txBody>
                  <a:tcPr marL="47625" marR="47625" marT="38100" marB="38100" anchor="ctr"/>
                </a:tc>
                <a:tc>
                  <a:txBody>
                    <a:bodyPr/>
                    <a:lstStyle/>
                    <a:p>
                      <a:pPr algn="l"/>
                      <a:r>
                        <a:rPr sz="1200" b="0">
                          <a:solidFill>
                            <a:srgbClr val="171717"/>
                          </a:solidFill>
                          <a:latin typeface="맑은 고딕"/>
                          <a:ea typeface="맑은 고딕"/>
                          <a:cs typeface="맑은 고딕"/>
                        </a:rPr>
                        <a:t>출입통로</a:t>
                      </a:r>
                    </a:p>
                  </a:txBody>
                  <a:tcPr marL="47625" marR="47625" marT="38100" marB="38100" anchor="ctr"/>
                </a:tc>
                <a:tc>
                  <a:txBody>
                    <a:bodyPr/>
                    <a:lstStyle/>
                    <a:p>
                      <a:pPr algn="l"/>
                      <a:r>
                        <a:rPr sz="1200" b="0">
                          <a:solidFill>
                            <a:srgbClr val="171717"/>
                          </a:solidFill>
                          <a:latin typeface="맑은 고딕"/>
                          <a:ea typeface="맑은 고딕"/>
                          <a:cs typeface="맑은 고딕"/>
                        </a:rPr>
                        <a:t>정보 없음</a:t>
                      </a:r>
                    </a:p>
                  </a:txBody>
                  <a:tcPr marL="47625" marR="47625" marT="38100" marB="38100" anchor="ctr"/>
                </a:tc>
                <a:tc>
                  <a:txBody>
                    <a:bodyPr/>
                    <a:lstStyle/>
                    <a:p>
                      <a:pPr algn="l"/>
                      <a:r>
                        <a:rPr sz="1200" b="0">
                          <a:solidFill>
                            <a:srgbClr val="171717"/>
                          </a:solidFill>
                          <a:latin typeface="맑은 고딕"/>
                          <a:ea typeface="맑은 고딕"/>
                          <a:cs typeface="맑은 고딕"/>
                        </a:rPr>
                        <a:t>kto_with</a:t>
                      </a:r>
                    </a:p>
                  </a:txBody>
                  <a:tcPr marL="47625" marR="47625" marT="38100" marB="38100" anchor="ctr"/>
                </a:tc>
                <a:tc>
                  <a:txBody>
                    <a:bodyPr/>
                    <a:lstStyle/>
                    <a:p>
                      <a:pPr algn="l"/>
                      <a:r>
                        <a:rPr sz="1200" b="0">
                          <a:solidFill>
                            <a:srgbClr val="171717"/>
                          </a:solidFill>
                          <a:latin typeface="맑은 고딕"/>
                          <a:ea typeface="맑은 고딕"/>
                          <a:cs typeface="맑은 고딕"/>
                        </a:rPr>
                        <a:t>2025-10-29</a:t>
                      </a:r>
                    </a:p>
                  </a:txBody>
                  <a:tcPr marL="47625" marR="47625" marT="38100" marB="38100" anchor="ctr"/>
                </a:tc>
              </a:tr>
              <a:tr h="344805">
                <a:tc>
                  <a:txBody>
                    <a:bodyPr/>
                    <a:lstStyle/>
                    <a:p>
                      <a:pPr algn="l"/>
                      <a:r>
                        <a:rPr sz="1200" b="0">
                          <a:solidFill>
                            <a:srgbClr val="171717"/>
                          </a:solidFill>
                          <a:latin typeface="맑은 고딕"/>
                          <a:ea typeface="맑은 고딕"/>
                          <a:cs typeface="맑은 고딕"/>
                        </a:rPr>
                        <a:t>공주 고마나루</a:t>
                      </a:r>
                    </a:p>
                  </a:txBody>
                  <a:tcPr marL="47625" marR="47625" marT="38100" marB="38100" anchor="ctr"/>
                </a:tc>
                <a:tc>
                  <a:txBody>
                    <a:bodyPr/>
                    <a:lstStyle/>
                    <a:p>
                      <a:pPr algn="l"/>
                      <a:r>
                        <a:rPr sz="1200" b="0">
                          <a:solidFill>
                            <a:srgbClr val="171717"/>
                          </a:solidFill>
                          <a:latin typeface="맑은 고딕"/>
                          <a:ea typeface="맑은 고딕"/>
                          <a:cs typeface="맑은 고딕"/>
                        </a:rPr>
                        <a:t>보조견 동반</a:t>
                      </a:r>
                    </a:p>
                  </a:txBody>
                  <a:tcPr marL="47625" marR="47625" marT="38100" marB="38100" anchor="ctr"/>
                </a:tc>
                <a:tc>
                  <a:txBody>
                    <a:bodyPr/>
                    <a:lstStyle/>
                    <a:p>
                      <a:pPr algn="l"/>
                      <a:r>
                        <a:rPr sz="1200" b="0">
                          <a:solidFill>
                            <a:srgbClr val="171717"/>
                          </a:solidFill>
                          <a:latin typeface="맑은 고딕"/>
                          <a:ea typeface="맑은 고딕"/>
                          <a:cs typeface="맑은 고딕"/>
                        </a:rPr>
                        <a:t>정보 없음</a:t>
                      </a:r>
                    </a:p>
                  </a:txBody>
                  <a:tcPr marL="47625" marR="47625" marT="38100" marB="38100" anchor="ctr"/>
                </a:tc>
                <a:tc>
                  <a:txBody>
                    <a:bodyPr/>
                    <a:lstStyle/>
                    <a:p>
                      <a:pPr algn="l"/>
                      <a:r>
                        <a:rPr sz="1200" b="0">
                          <a:solidFill>
                            <a:srgbClr val="171717"/>
                          </a:solidFill>
                          <a:latin typeface="맑은 고딕"/>
                          <a:ea typeface="맑은 고딕"/>
                          <a:cs typeface="맑은 고딕"/>
                        </a:rPr>
                        <a:t>kto_with</a:t>
                      </a:r>
                    </a:p>
                  </a:txBody>
                  <a:tcPr marL="47625" marR="47625" marT="38100" marB="38100" anchor="ctr"/>
                </a:tc>
                <a:tc>
                  <a:txBody>
                    <a:bodyPr/>
                    <a:lstStyle/>
                    <a:p>
                      <a:pPr algn="l"/>
                      <a:r>
                        <a:rPr sz="1200" b="0">
                          <a:solidFill>
                            <a:srgbClr val="171717"/>
                          </a:solidFill>
                          <a:latin typeface="맑은 고딕"/>
                          <a:ea typeface="맑은 고딕"/>
                          <a:cs typeface="맑은 고딕"/>
                        </a:rPr>
                        <a:t>2025-10-29</a:t>
                      </a:r>
                    </a:p>
                  </a:txBody>
                  <a:tcPr marL="47625" marR="47625" marT="38100" marB="38100" anchor="ctr"/>
                </a:tc>
              </a:tr>
              <a:tr h="344805">
                <a:tc>
                  <a:txBody>
                    <a:bodyPr/>
                    <a:lstStyle/>
                    <a:p>
                      <a:pPr algn="l"/>
                      <a:r>
                        <a:rPr sz="1200" b="0">
                          <a:solidFill>
                            <a:srgbClr val="171717"/>
                          </a:solidFill>
                          <a:latin typeface="맑은 고딕"/>
                          <a:ea typeface="맑은 고딕"/>
                          <a:cs typeface="맑은 고딕"/>
                        </a:rPr>
                        <a:t>부소산성</a:t>
                      </a:r>
                    </a:p>
                  </a:txBody>
                  <a:tcPr marL="47625" marR="47625" marT="38100" marB="38100" anchor="ctr"/>
                </a:tc>
                <a:tc>
                  <a:txBody>
                    <a:bodyPr/>
                    <a:lstStyle/>
                    <a:p>
                      <a:pPr algn="l"/>
                      <a:r>
                        <a:rPr sz="1200" b="0">
                          <a:solidFill>
                            <a:srgbClr val="171717"/>
                          </a:solidFill>
                          <a:latin typeface="맑은 고딕"/>
                          <a:ea typeface="맑은 고딕"/>
                          <a:cs typeface="맑은 고딕"/>
                        </a:rPr>
                        <a:t>점자블록</a:t>
                      </a:r>
                    </a:p>
                  </a:txBody>
                  <a:tcPr marL="47625" marR="47625" marT="38100" marB="38100" anchor="ctr"/>
                </a:tc>
                <a:tc>
                  <a:txBody>
                    <a:bodyPr/>
                    <a:lstStyle/>
                    <a:p>
                      <a:pPr algn="l"/>
                      <a:r>
                        <a:rPr sz="1200" b="0">
                          <a:solidFill>
                            <a:srgbClr val="171717"/>
                          </a:solidFill>
                          <a:latin typeface="맑은 고딕"/>
                          <a:ea typeface="맑은 고딕"/>
                          <a:cs typeface="맑은 고딕"/>
                        </a:rPr>
                        <a:t>이용 불가</a:t>
                      </a:r>
                    </a:p>
                  </a:txBody>
                  <a:tcPr marL="47625" marR="47625" marT="38100" marB="38100" anchor="ctr"/>
                </a:tc>
                <a:tc>
                  <a:txBody>
                    <a:bodyPr/>
                    <a:lstStyle/>
                    <a:p>
                      <a:pPr algn="l"/>
                      <a:r>
                        <a:rPr sz="1200" b="0">
                          <a:solidFill>
                            <a:srgbClr val="171717"/>
                          </a:solidFill>
                          <a:latin typeface="맑은 고딕"/>
                          <a:ea typeface="맑은 고딕"/>
                          <a:cs typeface="맑은 고딕"/>
                        </a:rPr>
                        <a:t>curated</a:t>
                      </a:r>
                    </a:p>
                  </a:txBody>
                  <a:tcPr marL="47625" marR="47625" marT="38100" marB="38100" anchor="ctr"/>
                </a:tc>
                <a:tc>
                  <a:txBody>
                    <a:bodyPr/>
                    <a:lstStyle/>
                    <a:p>
                      <a:pPr algn="l"/>
                      <a:r>
                        <a:rPr sz="1200" b="0">
                          <a:solidFill>
                            <a:srgbClr val="171717"/>
                          </a:solidFill>
                          <a:latin typeface="맑은 고딕"/>
                          <a:ea typeface="맑은 고딕"/>
                          <a:cs typeface="맑은 고딕"/>
                        </a:rPr>
                        <a:t>2026-09-02</a:t>
                      </a:r>
                    </a:p>
                  </a:txBody>
                  <a:tcPr marL="47625" marR="47625" marT="38100" marB="38100" anchor="ctr"/>
                </a:tc>
              </a:tr>
              <a:tr h="344805">
                <a:tc>
                  <a:txBody>
                    <a:bodyPr/>
                    <a:lstStyle/>
                    <a:p>
                      <a:pPr algn="l"/>
                      <a:r>
                        <a:rPr sz="1200" b="0">
                          <a:solidFill>
                            <a:srgbClr val="171717"/>
                          </a:solidFill>
                          <a:latin typeface="맑은 고딕"/>
                          <a:ea typeface="맑은 고딕"/>
                          <a:cs typeface="맑은 고딕"/>
                        </a:rPr>
                        <a:t>부여 왕릉원</a:t>
                      </a:r>
                    </a:p>
                  </a:txBody>
                  <a:tcPr marL="47625" marR="47625" marT="38100" marB="38100" anchor="ctr"/>
                </a:tc>
                <a:tc>
                  <a:txBody>
                    <a:bodyPr/>
                    <a:lstStyle/>
                    <a:p>
                      <a:pPr algn="l"/>
                      <a:r>
                        <a:rPr sz="1200" b="0">
                          <a:solidFill>
                            <a:srgbClr val="171717"/>
                          </a:solidFill>
                          <a:latin typeface="맑은 고딕"/>
                          <a:ea typeface="맑은 고딕"/>
                          <a:cs typeface="맑은 고딕"/>
                        </a:rPr>
                        <a:t>점자블록</a:t>
                      </a:r>
                    </a:p>
                  </a:txBody>
                  <a:tcPr marL="47625" marR="47625" marT="38100" marB="38100" anchor="ctr"/>
                </a:tc>
                <a:tc>
                  <a:txBody>
                    <a:bodyPr/>
                    <a:lstStyle/>
                    <a:p>
                      <a:pPr algn="l"/>
                      <a:r>
                        <a:rPr sz="1200" b="0">
                          <a:solidFill>
                            <a:srgbClr val="171717"/>
                          </a:solidFill>
                          <a:latin typeface="맑은 고딕"/>
                          <a:ea typeface="맑은 고딕"/>
                          <a:cs typeface="맑은 고딕"/>
                        </a:rPr>
                        <a:t>이용 불가</a:t>
                      </a:r>
                    </a:p>
                  </a:txBody>
                  <a:tcPr marL="47625" marR="47625" marT="38100" marB="38100" anchor="ctr"/>
                </a:tc>
                <a:tc>
                  <a:txBody>
                    <a:bodyPr/>
                    <a:lstStyle/>
                    <a:p>
                      <a:pPr algn="l"/>
                      <a:r>
                        <a:rPr sz="1200" b="0">
                          <a:solidFill>
                            <a:srgbClr val="171717"/>
                          </a:solidFill>
                          <a:latin typeface="맑은 고딕"/>
                          <a:ea typeface="맑은 고딕"/>
                          <a:cs typeface="맑은 고딕"/>
                        </a:rPr>
                        <a:t>curated</a:t>
                      </a:r>
                    </a:p>
                  </a:txBody>
                  <a:tcPr marL="47625" marR="47625" marT="38100" marB="38100" anchor="ctr"/>
                </a:tc>
                <a:tc>
                  <a:txBody>
                    <a:bodyPr/>
                    <a:lstStyle/>
                    <a:p>
                      <a:pPr algn="l"/>
                      <a:r>
                        <a:rPr sz="1200" b="0">
                          <a:solidFill>
                            <a:srgbClr val="171717"/>
                          </a:solidFill>
                          <a:latin typeface="맑은 고딕"/>
                          <a:ea typeface="맑은 고딕"/>
                          <a:cs typeface="맑은 고딕"/>
                        </a:rPr>
                        <a:t>2026-09-18</a:t>
                      </a:r>
                    </a:p>
                  </a:txBody>
                  <a:tcPr marL="47625" marR="47625" marT="38100" marB="38100" anchor="ctr"/>
                </a:tc>
              </a:tr>
            </a:tbl>
          </a:graphicData>
        </a:graphic>
      </p:graphicFrame>
    </p:spTree>
    <p:extLst>
      <p:ext uri="{BB962C8B-B14F-4D97-AF65-F5344CB8AC3E}">
        <p14:creationId xmlns:p14="http://schemas.microsoft.com/office/powerpoint/2010/main" val="67194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79A70C5F-D426-4A1C-AD8A-27C94D07C0AF}"/>
              </a:ext>
            </a:extLst>
          </p:cNvPr>
          <p:cNvSpPr>
            <a:spLocks xmlns:a="http://schemas.openxmlformats.org/drawingml/2006/main" noGrp="1"/>
          </p:cNvSpPr>
          <p:nvPr/>
        </p:nvSpPr>
        <p:spPr>
          <a:xfrm xmlns:a="http://schemas.openxmlformats.org/drawingml/2006/main">
            <a:off x="174567" y="1101012"/>
            <a:ext cx="4770658" cy="307777"/>
          </a:xfrm>
          <a:prstGeom xmlns:a="http://schemas.openxmlformats.org/drawingml/2006/main" prst="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한국관광공사 </a:t>
            </a:r>
            <a:r>
              <a:rPr sz="1400" b="1">
                <a:solidFill>
                  <a:schemeClr val="bg1"/>
                </a:solidFill>
              </a:rPr>
              <a:t>OpenAPI </a:t>
            </a:r>
            <a:r>
              <a:rPr sz="1400" b="1">
                <a:solidFill>
                  <a:schemeClr val="bg1"/>
                </a:solidFill>
              </a:rPr>
              <a:t>리스트</a:t>
            </a:r>
            <a:endParaRPr sz="1400" b="1">
              <a:solidFill>
                <a:schemeClr val="bg1"/>
              </a:solidFill>
            </a:endParaRPr>
          </a:p>
        </p:txBody>
      </p:sp>
      <p:graphicFrame>
        <p:nvGraphicFramePr>
          <p:cNvPr id="6" name="표 6"/>
          <p:cNvGraphicFramePr/>
          <p:nvPr/>
        </p:nvGraphicFramePr>
        <p:xfrm>
          <a:off xmlns:a="http://schemas.openxmlformats.org/drawingml/2006/main" x="174566" y="1646098"/>
          <a:ext xmlns:a="http://schemas.openxmlformats.org/drawingml/2006/main" cx="11628657" cy="3789680"/>
        </p:xfrm>
        <a:graphic xmlns:a="http://schemas.openxmlformats.org/drawingml/2006/main">
          <a:graphicData uri="http://schemas.openxmlformats.org/drawingml/2006/table">
            <a:tbl>
              <a:tblPr firstRow="1" bandRow="1">
                <a:tableStyleId>{5C22544A-7EE6-4342-B048-85BDC9FD1C3A}</a:tableStyleId>
              </a:tblPr>
              <a:tblGrid>
                <a:gridCol w="821150"/>
                <a:gridCol w="1816388"/>
                <a:gridCol w="8991119"/>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63" b="1">
                          <a:solidFill>
                            <a:srgbClr val="171717"/>
                          </a:solidFill>
                          <a:latin typeface="맑은 고딕"/>
                          <a:ea typeface="맑은 고딕"/>
                          <a:cs typeface="맑은 고딕"/>
                        </a:rPr>
                        <a:t>국문 무장애여행 정보 (KorWithService2)</a:t>
                      </a: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접근로·출입통로 등의 원문을 조건별 판정과 갭 리포트에 사용합니다.</a:t>
                      </a: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2</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국문 관광정보 / 관광사진갤러리</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관광지 소개·주소·분류와 사진을 안내에 사용하고 출처를 표시합니다.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3</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 오디오 가이드 (Odii)</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관광지에 맞는 백제 해설을 연결하고, 오디오와 대본을 제공합니다.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4</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 집중률 / 관광 빅데이터</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30일 예측 혼잡도와 공주·부여 외지인 방문자 일평균을 기준일과 함께 제공합니다.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5</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관광지별 연관관광지</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관련 관광지 목록을 보여주며, 접근성을 확인한 대안 관광지와 구분합니다.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222294703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2834006E-972D-4F65-B22A-F8F3E3AE2348}"/>
              </a:ext>
            </a:extLst>
          </p:cNvPr>
          <p:cNvSpPr>
            <a:spLocks xmlns:a="http://schemas.openxmlformats.org/drawingml/2006/main" noGrp="1"/>
          </p:cNvSpPr>
          <p:nvPr/>
        </p:nvSpPr>
        <p:spPr>
          <a:xfrm xmlns:a="http://schemas.openxmlformats.org/drawingml/2006/main">
            <a:off x="174567" y="1101012"/>
            <a:ext cx="3893580" cy="307777"/>
          </a:xfrm>
          <a:prstGeom xmlns:a="http://schemas.openxmlformats.org/drawingml/2006/main" prst="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기타 </a:t>
            </a:r>
            <a:r>
              <a:rPr sz="1400" b="1">
                <a:solidFill>
                  <a:schemeClr val="bg1"/>
                </a:solidFill>
              </a:rPr>
              <a:t>API, </a:t>
            </a:r>
            <a:r>
              <a:rPr sz="1400" b="1">
                <a:solidFill>
                  <a:schemeClr val="bg1"/>
                </a:solidFill>
              </a:rPr>
              <a:t>파일데이터</a:t>
            </a:r>
            <a:endParaRPr sz="1400" b="1">
              <a:solidFill>
                <a:schemeClr val="bg1"/>
              </a:solidFill>
            </a:endParaRPr>
          </a:p>
        </p:txBody>
      </p:sp>
      <p:graphicFrame>
        <p:nvGraphicFramePr>
          <p:cNvPr id="9" name="표 6"/>
          <p:cNvGraphicFramePr/>
          <p:nvPr/>
        </p:nvGraphicFramePr>
        <p:xfrm>
          <a:off xmlns:a="http://schemas.openxmlformats.org/drawingml/2006/main" x="174566" y="1646098"/>
          <a:ext xmlns:a="http://schemas.openxmlformats.org/drawingml/2006/main" cx="11628657" cy="2265680"/>
        </p:xfrm>
        <a:graphic xmlns:a="http://schemas.openxmlformats.org/drawingml/2006/main">
          <a:graphicData uri="http://schemas.openxmlformats.org/drawingml/2006/table">
            <a:tbl>
              <a:tblPr firstRow="1" bandRow="1">
                <a:tableStyleId>{5C22544A-7EE6-4342-B048-85BDC9FD1C3A}</a:tableStyleId>
              </a:tblPr>
              <a:tblGrid>
                <a:gridCol w="821150"/>
                <a:gridCol w="1816388"/>
                <a:gridCol w="8991119"/>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63" b="1">
                          <a:solidFill>
                            <a:srgbClr val="171717"/>
                          </a:solidFill>
                          <a:latin typeface="맑은 고딕"/>
                          <a:ea typeface="맑은 고딕"/>
                          <a:cs typeface="맑은 고딕"/>
                        </a:rPr>
                        <a:t>기상청 기상특보·단기예보 OpenAPI</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725" b="0">
                          <a:solidFill>
                            <a:srgbClr val="171717"/>
                          </a:solidFill>
                          <a:latin typeface="맑은 고딕"/>
                          <a:ea typeface="맑은 고딕"/>
                          <a:cs typeface="맑은 고딕"/>
                        </a:rPr>
                        <a:t>공주·부여의 발효 특보와 당일 예보를 관광지 안내에 반영합니다.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2</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관광지·지역기관의 공식 공개자료</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공주시·부여군과 시설 운영기관 자료로 관람 동선·편의시설·연락처를 보완합니다.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3</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데이터명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63" b="1">
                          <a:solidFill>
                            <a:srgbClr val="171717"/>
                          </a:solidFill>
                          <a:latin typeface="맑은 고딕"/>
                          <a:ea typeface="맑은 고딕"/>
                          <a:cs typeface="맑은 고딕"/>
                        </a:rPr>
                        <a:t>네이버 지도 JavaScript API</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725" b="0">
                          <a:solidFill>
                            <a:srgbClr val="171717"/>
                          </a:solidFill>
                          <a:latin typeface="맑은 고딕"/>
                          <a:ea typeface="맑은 고딕"/>
                          <a:cs typeface="맑은 고딕"/>
                        </a:rPr>
                        <a:t>관광지와 주변 시설의 위치를 표시하며, 지도와 별도로 목록을 제공합니다.</a:t>
                      </a:r>
                      <a:endParaRPr b="0">
                        <a:solidFill>
                          <a:schemeClr val="tx1"/>
                        </a:solidFill>
                      </a:endParaRPr>
                    </a:p>
                  </a:txBody>
                  <a:tcPr marL="123825" marR="123825"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17735648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2"/>
          <p:cNvGraphicFramePr/>
          <p:nvPr/>
        </p:nvGraphicFramePr>
        <p:xfrm>
          <a:off xmlns:a="http://schemas.openxmlformats.org/drawingml/2006/main" x="287250" y="1218429"/>
          <a:ext xmlns:a="http://schemas.openxmlformats.org/drawingml/2006/main" cx="11649825" cy="5074306"/>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2466075">
                <a:tc>
                  <a:txBody>
                    <a:bodyPr/>
                    <a:lstStyle/>
                    <a:p>
                      <a:pPr algn="ctr">
                        <a:buNone/>
                      </a:pPr>
                      <a:r>
                        <a:rPr b="1">
                          <a:solidFill>
                            <a:schemeClr val="bg1"/>
                          </a:solidFill>
                        </a:rPr>
                        <a:t>차별성</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763" b="1">
                          <a:solidFill>
                            <a:srgbClr val="171717"/>
                          </a:solidFill>
                          <a:latin typeface="맑은 고딕"/>
                          <a:ea typeface="맑은 고딕"/>
                          <a:cs typeface="맑은 고딕"/>
                        </a:rPr>
                        <a:t>같은 장소를 동행 조건별로 확인합니다.</a:t>
                      </a:r>
                    </a:p>
                    <a:p>
                      <a:pPr algn="l">
                        <a:spcAft>
                          <a:spcPts val="0"/>
                        </a:spcAft>
                      </a:pPr>
                      <a:r>
                        <a:rPr sz="1763" b="0">
                          <a:solidFill>
                            <a:srgbClr val="171717"/>
                          </a:solidFill>
                          <a:latin typeface="맑은 고딕"/>
                          <a:ea typeface="맑은 고딕"/>
                          <a:cs typeface="맑은 고딕"/>
                        </a:rPr>
                        <a:t>복수 조건에서도 각각의 판정과 이유를 읽고, 무엇을 더 확인해야 하는지 알 수 있습니다.</a:t>
                      </a:r>
                    </a:p>
                    <a:p>
                      <a:pPr algn="l">
                        <a:spcBef>
                          <a:spcPts val="550"/>
                        </a:spcBef>
                        <a:spcAft>
                          <a:spcPts val="300"/>
                        </a:spcAft>
                      </a:pPr>
                      <a:r>
                        <a:rPr sz="1763" b="1">
                          <a:solidFill>
                            <a:srgbClr val="171717"/>
                          </a:solidFill>
                          <a:latin typeface="맑은 고딕"/>
                          <a:ea typeface="맑은 고딕"/>
                          <a:cs typeface="맑은 고딕"/>
                        </a:rPr>
                        <a:t>판정의 근거와 남은 질문을 함께 보여줍니다.</a:t>
                      </a:r>
                    </a:p>
                    <a:p>
                      <a:pPr algn="l">
                        <a:spcAft>
                          <a:spcPts val="0"/>
                        </a:spcAft>
                      </a:pPr>
                      <a:r>
                        <a:rPr sz="1763" b="0">
                          <a:solidFill>
                            <a:srgbClr val="171717"/>
                          </a:solidFill>
                          <a:latin typeface="맑은 고딕"/>
                          <a:ea typeface="맑은 고딕"/>
                          <a:cs typeface="맑은 고딕"/>
                        </a:rPr>
                        <a:t>원문·출처·확인일을 공개하고, 미확인 정보와 확인된 이용 제한을 구분합니다.</a:t>
                      </a:r>
                    </a:p>
                    <a:p>
                      <a:pPr algn="l">
                        <a:spcBef>
                          <a:spcPts val="550"/>
                        </a:spcBef>
                        <a:spcAft>
                          <a:spcPts val="300"/>
                        </a:spcAft>
                      </a:pPr>
                      <a:r>
                        <a:rPr sz="1763" b="1">
                          <a:solidFill>
                            <a:srgbClr val="171717"/>
                          </a:solidFill>
                          <a:latin typeface="맑은 고딕"/>
                          <a:ea typeface="맑은 고딕"/>
                          <a:cs typeface="맑은 고딕"/>
                        </a:rPr>
                        <a:t>여행 안내에 쓴 정보를 운영 담당자의 확인 목록으로 제공합니다.</a:t>
                      </a:r>
                    </a:p>
                    <a:p>
                      <a:pPr algn="l">
                        <a:spcAft>
                          <a:spcPts val="0"/>
                        </a:spcAft>
                      </a:pPr>
                      <a:r>
                        <a:rPr sz="1763" b="0">
                          <a:solidFill>
                            <a:srgbClr val="171717"/>
                          </a:solidFill>
                          <a:latin typeface="맑은 고딕"/>
                          <a:ea typeface="맑은 고딕"/>
                          <a:cs typeface="맑은 고딕"/>
                        </a:rPr>
                        <a:t>같은 데이터로 관광지별 미확인 항목을 모으고, 출처가 남은 CSV로 내보냅니다.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608231">
                <a:tc>
                  <a:txBody>
                    <a:bodyPr/>
                    <a:lstStyle/>
                    <a:p>
                      <a:pPr algn="ctr">
                        <a:buNone/>
                      </a:pPr>
                      <a:r>
                        <a:rPr b="1">
                          <a:solidFill>
                            <a:schemeClr val="bg1"/>
                          </a:solidFill>
                        </a:rPr>
                        <a:t>발전계획</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algn="l">
                        <a:spcBef>
                          <a:spcPts val="0"/>
                        </a:spcBef>
                        <a:spcAft>
                          <a:spcPts val="300"/>
                        </a:spcAft>
                      </a:pPr>
                      <a:r>
                        <a:rPr sz="1763" b="1">
                          <a:solidFill>
                            <a:srgbClr val="171717"/>
                          </a:solidFill>
                          <a:latin typeface="맑은 고딕"/>
                          <a:ea typeface="맑은 고딕"/>
                          <a:cs typeface="맑은 고딕"/>
                        </a:rPr>
                        <a:t>현장 확인으로 안내를 보완하겠습니다.</a:t>
                      </a:r>
                    </a:p>
                    <a:p>
                      <a:pPr algn="l">
                        <a:spcAft>
                          <a:spcPts val="0"/>
                        </a:spcAft>
                      </a:pPr>
                      <a:r>
                        <a:rPr sz="1763" b="0">
                          <a:solidFill>
                            <a:srgbClr val="171717"/>
                          </a:solidFill>
                          <a:latin typeface="맑은 고딕"/>
                          <a:ea typeface="맑은 고딕"/>
                          <a:cs typeface="맑은 고딕"/>
                        </a:rPr>
                        <a:t>관광약자와 이동 구간을 함께 살펴보고, 접근성 전문가 검토를 거쳐 근거를 보강하겠습니다.</a:t>
                      </a:r>
                    </a:p>
                    <a:p>
                      <a:pPr algn="l">
                        <a:spcBef>
                          <a:spcPts val="600"/>
                        </a:spcBef>
                        <a:spcAft>
                          <a:spcPts val="300"/>
                        </a:spcAft>
                      </a:pPr>
                      <a:r>
                        <a:rPr sz="1763" b="1">
                          <a:solidFill>
                            <a:srgbClr val="171717"/>
                          </a:solidFill>
                          <a:latin typeface="맑은 고딕"/>
                          <a:ea typeface="맑은 고딕"/>
                          <a:cs typeface="맑은 고딕"/>
                        </a:rPr>
                        <a:t>리포트를 정보 수정 업무에 연결하겠습니다.</a:t>
                      </a:r>
                    </a:p>
                    <a:p>
                      <a:pPr algn="l">
                        <a:spcAft>
                          <a:spcPts val="0"/>
                        </a:spcAft>
                      </a:pPr>
                      <a:r>
                        <a:rPr sz="1763" b="0">
                          <a:solidFill>
                            <a:srgbClr val="171717"/>
                          </a:solidFill>
                          <a:latin typeface="맑은 고딕"/>
                          <a:ea typeface="맑은 고딕"/>
                          <a:cs typeface="맑은 고딕"/>
                        </a:rPr>
                        <a:t>관광지별 확인 담당자와 전달 형식을 협의하고, 답변을 받은 항목의 갱신 여부를 추적하겠습니다.</a:t>
                      </a:r>
                    </a:p>
                    <a:p>
                      <a:pPr algn="l">
                        <a:spcBef>
                          <a:spcPts val="600"/>
                        </a:spcBef>
                        <a:spcAft>
                          <a:spcPts val="300"/>
                        </a:spcAft>
                      </a:pPr>
                      <a:r>
                        <a:rPr sz="1763" b="1">
                          <a:solidFill>
                            <a:srgbClr val="171717"/>
                          </a:solidFill>
                          <a:latin typeface="맑은 고딕"/>
                          <a:ea typeface="맑은 고딕"/>
                          <a:cs typeface="맑은 고딕"/>
                        </a:rPr>
                        <a:t>정기 수집을 유지하며 충남 관광지로 넓히겠습니다.</a:t>
                      </a:r>
                    </a:p>
                    <a:p>
                      <a:pPr algn="l">
                        <a:spcAft>
                          <a:spcPts val="0"/>
                        </a:spcAft>
                      </a:pPr>
                      <a:r>
                        <a:rPr sz="1763" b="0">
                          <a:solidFill>
                            <a:srgbClr val="171717"/>
                          </a:solidFill>
                          <a:latin typeface="맑은 고딕"/>
                          <a:ea typeface="맑은 고딕"/>
                          <a:cs typeface="맑은 고딕"/>
                        </a:rPr>
                        <a:t>새 관광지도 출처 확인, 조건별 안내, 갭 리포트를 함께 제공하겠습니다.</a:t>
                      </a:r>
                    </a:p>
                  </a:txBody>
                  <a:tcPr marL="209550" marR="209550" marT="66675" marB="66675"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988568962"/>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2026-09-19T17:25:46.0170000Z</dcterms:created>
  <dcterms:modified xsi:type="dcterms:W3CDTF">2026-09-19T17:25:46.0170000Z</dcterms:modified>
</coreProperties>
</file>